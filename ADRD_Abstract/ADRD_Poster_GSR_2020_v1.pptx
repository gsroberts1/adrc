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>
        <p:scale>
          <a:sx n="50" d="100"/>
          <a:sy n="50" d="100"/>
        </p:scale>
        <p:origin x="510" y="36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298775"/>
            <a:ext cx="24081033" cy="302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100" b="1" dirty="0">
                <a:solidFill>
                  <a:schemeClr val="bg1"/>
                </a:solidFill>
                <a:latin typeface="Arial" charset="0"/>
              </a:rPr>
              <a:t> 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16013" y="3700085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516013" y="6019988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71743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4412343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565485" y="35114643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494617"/>
            <a:ext cx="14791467" cy="1384778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purpose of this project is to develop a 4D flow post-processing analysis tool that includes an interactive visual interface, allowing for quick, easy, and repeatable hemodynamic analysis of large, complex 4D flow datasets.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5685" y="40511820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92488" y="41252046"/>
            <a:ext cx="13997132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42:1458-64.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Johnson, KM. et al.  MRM 2008; 60(6):1329-1336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429" y="6815210"/>
            <a:ext cx="14645842" cy="7571087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 non-invasively acquires time-resolved, 3D velocity </a:t>
            </a:r>
            <a:r>
              <a:rPr lang="en-US" sz="3000">
                <a:latin typeface="Calibri" panose="020F0502020204030204" pitchFamily="34" charset="0"/>
                <a:cs typeface="Calibri" panose="020F0502020204030204" pitchFamily="34" charset="0"/>
              </a:rPr>
              <a:t>maps in-vivo. 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Shows vascular anatomy 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calculations of blood flow parameters.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However, detailed analysis requires long post-processing times.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Goal: Develop a quantitative velocity tool (QVT) that automates 4D flow post-processing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This improves upon an older cranial 4D flow centerline processing scheme (CPS)</a:t>
            </a:r>
            <a:r>
              <a:rPr lang="en-US" sz="3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by: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blood flow parameter calculation prior to vessel selection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Creating an interactive 3D user interface with color-coding of flow parameters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Improving automated segmentation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background phase correction</a:t>
            </a:r>
          </a:p>
          <a:p>
            <a:pPr marL="960616" lvl="2" indent="-514350" algn="l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Reducing memory requirements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Allowing for reloading of pre-processed exams</a:t>
            </a:r>
          </a:p>
          <a:p>
            <a:pPr marL="514350" indent="-514350" algn="l">
              <a:buSzPct val="7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 small in-vivo study will be performed to assess CPS and QVT segmentation performances, interobserver variabilities, number of missed vessels, and total time to process cases.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174" y="15168427"/>
            <a:ext cx="14742352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acquisition;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min., retrospective cardiac gating (20 frames).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Blood flow parameters were automatically calculated across the vascular network and color-coded in the 3D interface (Figure 3).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422698" y="24853503"/>
            <a:ext cx="148933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novel threshold-based vessel segmentation algorithm was developed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565685" y="35798719"/>
            <a:ext cx="1415839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QVT provided improved angiograms, better centerline generation, quick vessel selection, automated background phase correction, easy visualization of quantitative parameters, and less computer memory requirements.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Robust a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tools with high repeatability 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are extremely desirable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high-volume, long-term 4D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studies.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 with a slight improvement for QVT.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Local flow measurements at selected vessel locations were small (&lt;3</a:t>
            </a: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%).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Flow was conserved at vessel junctions, indicating good internal consistency.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Additional users and cases will help further investigate repeatability between tools.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552017" y="34542612"/>
            <a:ext cx="13659761" cy="7905740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42618" y="13258135"/>
            <a:ext cx="5003348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local flow quantification errors were similar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49" y="29298252"/>
            <a:ext cx="1464584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and threshold-based segmentation (QVT) were compared to ground-truth manual segmentation at these vessel locations using correlation plots.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were counted for both tools.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measures were calculated between two observers.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Local flow </a:t>
            </a:r>
            <a:r>
              <a:rPr lang="en-US" sz="3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variations (standard deviation)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along vessel were calculated for both tools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 assess flow consistency.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and TS, SS, SSS junctions was assessed for the QVT only.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301" y="18487098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pPr algn="l"/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post-processing tool with 3D interactive graphical user interface. As the user moves the cursor,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56618" y="11540032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ground-truth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64780" y="28993963"/>
            <a:ext cx="532220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Vessel selection and flow verification times decreased from 15.2 min to 5.0 min (1.17 min and 0.38 min per plane).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greatly reduced.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Saved cases could be loaded into the tool in ~10 seconds.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393777" y="4689079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CAD0120-CBD0-4730-8C98-BCCEAA87DA25}"/>
              </a:ext>
            </a:extLst>
          </p:cNvPr>
          <p:cNvSpPr txBox="1"/>
          <p:nvPr/>
        </p:nvSpPr>
        <p:spPr>
          <a:xfrm>
            <a:off x="10885165" y="25685871"/>
            <a:ext cx="3988956" cy="34161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Figure 2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: Flowchart for threshold-based segmentation. This algorithm iterates through all possible thresholds and calculates L0-norm. The norm is plotted as a function of threshold, and the point of maximum curvature is the final threshold used.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1945A-1C55-40B9-B8FF-C7C13588DD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017" y="25698025"/>
            <a:ext cx="10347074" cy="34039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74686" y="20353581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greatly reduced when compared to old CPS -0.1 [-1.88,1.68] ml/s.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494765" y="13245226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6013764" y="22780457"/>
            <a:ext cx="7094714" cy="5745454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105217" y="22792249"/>
            <a:ext cx="6538032" cy="5733662"/>
            <a:chOff x="22694477" y="22854492"/>
            <a:chExt cx="6538032" cy="5664381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94477" y="26968393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junctions, namely ICA, ACA, MCA junction and SSS, SS, TS junctions. High correlation reflects internal flow consistency of QVT.</a:t>
              </a:r>
              <a:endParaRPr lang="en-US" sz="24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D23B67-E686-4457-857F-697DF45DB777}"/>
              </a:ext>
            </a:extLst>
          </p:cNvPr>
          <p:cNvGrpSpPr/>
          <p:nvPr/>
        </p:nvGrpSpPr>
        <p:grpSpPr>
          <a:xfrm>
            <a:off x="20904016" y="28921955"/>
            <a:ext cx="8739233" cy="6004172"/>
            <a:chOff x="21176231" y="29445054"/>
            <a:chExt cx="8739233" cy="6004172"/>
          </a:xfrm>
        </p:grpSpPr>
        <p:pic>
          <p:nvPicPr>
            <p:cNvPr id="107" name="Picture 10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592510BE-7312-4E2E-ADEB-159A26A879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6" t="577" r="7670" b="-577"/>
            <a:stretch/>
          </p:blipFill>
          <p:spPr>
            <a:xfrm>
              <a:off x="21201810" y="29445054"/>
              <a:ext cx="8713654" cy="5546329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1176231" y="34987777"/>
              <a:ext cx="8739233" cy="46144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</a:t>
              </a:r>
              <a:r>
                <a:rPr lang="en-US" sz="2400" i="1" dirty="0" smtClean="0">
                  <a:latin typeface="Calibri" panose="020F0502020204030204" pitchFamily="34" charset="0"/>
                  <a:cs typeface="Calibri" panose="020F0502020204030204" pitchFamily="34" charset="0"/>
                </a:rPr>
                <a:t>tool with 16 GB machine</a:t>
              </a:r>
              <a:r>
                <a:rPr lang="en-US" sz="2400" b="1" i="1" dirty="0" smtClean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</p:grpSp>
      <p:pic>
        <p:nvPicPr>
          <p:cNvPr id="81" name="Picture 493" descr="UW_logo_justWhite">
            <a:extLst>
              <a:ext uri="{FF2B5EF4-FFF2-40B4-BE49-F238E27FC236}">
                <a16:creationId xmlns:a16="http://schemas.microsoft.com/office/drawing/2014/main" id="{BA6D0595-D639-274A-8993-D10A090C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1930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135357</TotalTime>
  <Words>1032</Words>
  <Application>Microsoft Office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Roberts</cp:lastModifiedBy>
  <cp:revision>1161</cp:revision>
  <cp:lastPrinted>2019-08-21T22:37:20Z</cp:lastPrinted>
  <dcterms:created xsi:type="dcterms:W3CDTF">2006-01-13T03:24:31Z</dcterms:created>
  <dcterms:modified xsi:type="dcterms:W3CDTF">2020-03-02T14:50:36Z</dcterms:modified>
</cp:coreProperties>
</file>