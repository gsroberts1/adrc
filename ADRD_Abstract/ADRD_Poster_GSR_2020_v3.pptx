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8" r:id="rId2"/>
  </p:sldIdLst>
  <p:sldSz cx="30267275" cy="42794238"/>
  <p:notesSz cx="7010400" cy="9296400"/>
  <p:defaultTextStyle>
    <a:defPPr>
      <a:defRPr lang="de-DE"/>
    </a:defPPr>
    <a:lvl1pPr algn="just" rtl="0" fontAlgn="base">
      <a:spcBef>
        <a:spcPct val="10000"/>
      </a:spcBef>
      <a:spcAft>
        <a:spcPct val="10000"/>
      </a:spcAft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1pPr>
    <a:lvl2pPr marL="222655" indent="73582" algn="just" rtl="0" fontAlgn="base">
      <a:spcBef>
        <a:spcPct val="10000"/>
      </a:spcBef>
      <a:spcAft>
        <a:spcPct val="10000"/>
      </a:spcAft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2pPr>
    <a:lvl3pPr marL="446266" indent="148119" algn="just" rtl="0" fontAlgn="base">
      <a:spcBef>
        <a:spcPct val="10000"/>
      </a:spcBef>
      <a:spcAft>
        <a:spcPct val="10000"/>
      </a:spcAft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3pPr>
    <a:lvl4pPr marL="669877" indent="222655" algn="just" rtl="0" fontAlgn="base">
      <a:spcBef>
        <a:spcPct val="10000"/>
      </a:spcBef>
      <a:spcAft>
        <a:spcPct val="10000"/>
      </a:spcAft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4pPr>
    <a:lvl5pPr marL="893488" indent="297192" algn="just" rtl="0" fontAlgn="base">
      <a:spcBef>
        <a:spcPct val="10000"/>
      </a:spcBef>
      <a:spcAft>
        <a:spcPct val="10000"/>
      </a:spcAft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5pPr>
    <a:lvl6pPr marL="1376067" algn="l" defTabSz="550427" rtl="0" eaLnBrk="1" latinLnBrk="0" hangingPunct="1"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6pPr>
    <a:lvl7pPr marL="1651280" algn="l" defTabSz="550427" rtl="0" eaLnBrk="1" latinLnBrk="0" hangingPunct="1"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7pPr>
    <a:lvl8pPr marL="1926494" algn="l" defTabSz="550427" rtl="0" eaLnBrk="1" latinLnBrk="0" hangingPunct="1"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8pPr>
    <a:lvl9pPr marL="2201707" algn="l" defTabSz="550427" rtl="0" eaLnBrk="1" latinLnBrk="0" hangingPunct="1"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602" userDrawn="1">
          <p15:clr>
            <a:srgbClr val="A4A3A4"/>
          </p15:clr>
        </p15:guide>
        <p15:guide id="2" pos="6545" userDrawn="1">
          <p15:clr>
            <a:srgbClr val="A4A3A4"/>
          </p15:clr>
        </p15:guide>
        <p15:guide id="3" orient="horz" pos="13479" userDrawn="1">
          <p15:clr>
            <a:srgbClr val="A4A3A4"/>
          </p15:clr>
        </p15:guide>
        <p15:guide id="4" pos="636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hristopher Francois" initials="CF" lastIdx="2" clrIdx="0"/>
  <p:cmAuthor id="1" name="Grant Roberts" initials="GR" lastIdx="1" clrIdx="1">
    <p:extLst>
      <p:ext uri="{19B8F6BF-5375-455C-9EA6-DF929625EA0E}">
        <p15:presenceInfo xmlns:p15="http://schemas.microsoft.com/office/powerpoint/2012/main" userId="S-1-5-21-429934397-719916749-7473742-8267" providerId="AD"/>
      </p:ext>
    </p:extLst>
  </p:cmAuthor>
  <p:cmAuthor id="2" name="Carson Hoffman" initials="CH" lastIdx="2" clrIdx="2">
    <p:extLst>
      <p:ext uri="{19B8F6BF-5375-455C-9EA6-DF929625EA0E}">
        <p15:presenceInfo xmlns:p15="http://schemas.microsoft.com/office/powerpoint/2012/main" userId="Carson Hoffm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0000"/>
    <a:srgbClr val="FBD2D1"/>
    <a:srgbClr val="FF9F9F"/>
    <a:srgbClr val="EF5F5F"/>
    <a:srgbClr val="CC3300"/>
    <a:srgbClr val="FF8181"/>
    <a:srgbClr val="FF5050"/>
    <a:srgbClr val="F57E7B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4599F94E-CEE6-441E-89CC-EB005ECD8F06}">
      <a14:m xmlns:a14="http://schemas.microsoft.com/office/drawing/2010/main">
        <m:mathPr xmlns:m="http://schemas.openxmlformats.org/officeDocument/2006/math">
          <m:brkBin m:val="after"/>
          <m:brkBinSub m:val="--"/>
        </m:mathPr>
      </a14:m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4" autoAdjust="0"/>
    <p:restoredTop sz="50000" autoAdjust="0"/>
  </p:normalViewPr>
  <p:slideViewPr>
    <p:cSldViewPr snapToObjects="1">
      <p:cViewPr>
        <p:scale>
          <a:sx n="33" d="100"/>
          <a:sy n="33" d="100"/>
        </p:scale>
        <p:origin x="564" y="-264"/>
      </p:cViewPr>
      <p:guideLst>
        <p:guide orient="horz" pos="14602"/>
        <p:guide pos="6545"/>
        <p:guide orient="horz" pos="13479"/>
        <p:guide pos="63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0-03-02T11:24:43.173" idx="2">
    <p:pos x="6866" y="16936"/>
    <p:text>A bit busy here on the flow chart but cool idea. You could keep or remove this if need more space.</p:text>
    <p:extLst>
      <p:ext uri="{C676402C-5697-4E1C-873F-D02D1690AC5C}">
        <p15:threadingInfo xmlns:p15="http://schemas.microsoft.com/office/powerpoint/2012/main" timeZoneBias="36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096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>
            <a:lvl1pPr algn="l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279" y="0"/>
            <a:ext cx="3037840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>
            <a:lvl1pPr algn="r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0221"/>
            <a:ext cx="3038096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b" anchorCtr="0" compatLnSpc="1">
            <a:prstTxWarp prst="textNoShape">
              <a:avLst/>
            </a:prstTxWarp>
          </a:bodyPr>
          <a:lstStyle>
            <a:lvl1pPr algn="l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279" y="8830221"/>
            <a:ext cx="3037840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b" anchorCtr="0" compatLnSpc="1">
            <a:prstTxWarp prst="textNoShape">
              <a:avLst/>
            </a:prstTxWarp>
          </a:bodyPr>
          <a:lstStyle>
            <a:lvl1pPr algn="r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fld id="{F301BB9D-AE35-458D-A77C-FBC70C2CA4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1081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096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>
            <a:lvl1pPr algn="l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279" y="0"/>
            <a:ext cx="3037840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>
            <a:lvl1pPr algn="r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73300" y="698500"/>
            <a:ext cx="24638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297" y="4416132"/>
            <a:ext cx="5607807" cy="4182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Textmasterformate durch Klicken bearbeiten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</a:p>
          <a:p>
            <a:pPr lvl="3"/>
            <a:r>
              <a:rPr lang="en-US" noProof="0"/>
              <a:t>Vierte Ebene</a:t>
            </a:r>
          </a:p>
          <a:p>
            <a:pPr lvl="4"/>
            <a:r>
              <a:rPr lang="en-US" noProof="0"/>
              <a:t>Fünfte Ebene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0221"/>
            <a:ext cx="3038096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b" anchorCtr="0" compatLnSpc="1">
            <a:prstTxWarp prst="textNoShape">
              <a:avLst/>
            </a:prstTxWarp>
          </a:bodyPr>
          <a:lstStyle>
            <a:lvl1pPr algn="l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279" y="8830221"/>
            <a:ext cx="3037840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b" anchorCtr="0" compatLnSpc="1">
            <a:prstTxWarp prst="textNoShape">
              <a:avLst/>
            </a:prstTxWarp>
          </a:bodyPr>
          <a:lstStyle>
            <a:lvl1pPr algn="r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fld id="{2853EC76-F560-4EC2-8FC4-BEB8E0128D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140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588" kern="1200">
        <a:solidFill>
          <a:schemeClr val="tx1"/>
        </a:solidFill>
        <a:latin typeface="Arial" charset="0"/>
        <a:ea typeface="+mn-ea"/>
        <a:cs typeface="+mn-cs"/>
      </a:defRPr>
    </a:lvl1pPr>
    <a:lvl2pPr marL="222655" algn="l" rtl="0" eaLnBrk="0" fontAlgn="base" hangingPunct="0">
      <a:spcBef>
        <a:spcPct val="30000"/>
      </a:spcBef>
      <a:spcAft>
        <a:spcPct val="0"/>
      </a:spcAft>
      <a:defRPr sz="588" kern="1200">
        <a:solidFill>
          <a:schemeClr val="tx1"/>
        </a:solidFill>
        <a:latin typeface="Arial" charset="0"/>
        <a:ea typeface="+mn-ea"/>
        <a:cs typeface="+mn-cs"/>
      </a:defRPr>
    </a:lvl2pPr>
    <a:lvl3pPr marL="446266" algn="l" rtl="0" eaLnBrk="0" fontAlgn="base" hangingPunct="0">
      <a:spcBef>
        <a:spcPct val="30000"/>
      </a:spcBef>
      <a:spcAft>
        <a:spcPct val="0"/>
      </a:spcAft>
      <a:defRPr sz="588" kern="1200">
        <a:solidFill>
          <a:schemeClr val="tx1"/>
        </a:solidFill>
        <a:latin typeface="Arial" charset="0"/>
        <a:ea typeface="+mn-ea"/>
        <a:cs typeface="+mn-cs"/>
      </a:defRPr>
    </a:lvl3pPr>
    <a:lvl4pPr marL="669877" algn="l" rtl="0" eaLnBrk="0" fontAlgn="base" hangingPunct="0">
      <a:spcBef>
        <a:spcPct val="30000"/>
      </a:spcBef>
      <a:spcAft>
        <a:spcPct val="0"/>
      </a:spcAft>
      <a:defRPr sz="588" kern="1200">
        <a:solidFill>
          <a:schemeClr val="tx1"/>
        </a:solidFill>
        <a:latin typeface="Arial" charset="0"/>
        <a:ea typeface="+mn-ea"/>
        <a:cs typeface="+mn-cs"/>
      </a:defRPr>
    </a:lvl4pPr>
    <a:lvl5pPr marL="893488" algn="l" rtl="0" eaLnBrk="0" fontAlgn="base" hangingPunct="0">
      <a:spcBef>
        <a:spcPct val="30000"/>
      </a:spcBef>
      <a:spcAft>
        <a:spcPct val="0"/>
      </a:spcAft>
      <a:defRPr sz="588" kern="1200">
        <a:solidFill>
          <a:schemeClr val="tx1"/>
        </a:solidFill>
        <a:latin typeface="Arial" charset="0"/>
        <a:ea typeface="+mn-ea"/>
        <a:cs typeface="+mn-cs"/>
      </a:defRPr>
    </a:lvl5pPr>
    <a:lvl6pPr marL="1118020" algn="l" defTabSz="447208" rtl="0" eaLnBrk="1" latinLnBrk="0" hangingPunct="1">
      <a:defRPr sz="588" kern="1200">
        <a:solidFill>
          <a:schemeClr val="tx1"/>
        </a:solidFill>
        <a:latin typeface="+mn-lt"/>
        <a:ea typeface="+mn-ea"/>
        <a:cs typeface="+mn-cs"/>
      </a:defRPr>
    </a:lvl6pPr>
    <a:lvl7pPr marL="1341624" algn="l" defTabSz="447208" rtl="0" eaLnBrk="1" latinLnBrk="0" hangingPunct="1">
      <a:defRPr sz="588" kern="1200">
        <a:solidFill>
          <a:schemeClr val="tx1"/>
        </a:solidFill>
        <a:latin typeface="+mn-lt"/>
        <a:ea typeface="+mn-ea"/>
        <a:cs typeface="+mn-cs"/>
      </a:defRPr>
    </a:lvl7pPr>
    <a:lvl8pPr marL="1565228" algn="l" defTabSz="447208" rtl="0" eaLnBrk="1" latinLnBrk="0" hangingPunct="1">
      <a:defRPr sz="588" kern="1200">
        <a:solidFill>
          <a:schemeClr val="tx1"/>
        </a:solidFill>
        <a:latin typeface="+mn-lt"/>
        <a:ea typeface="+mn-ea"/>
        <a:cs typeface="+mn-cs"/>
      </a:defRPr>
    </a:lvl8pPr>
    <a:lvl9pPr marL="1788832" algn="l" defTabSz="447208" rtl="0" eaLnBrk="1" latinLnBrk="0" hangingPunct="1">
      <a:defRPr sz="58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72551E-1CAC-4AF7-90DA-482FA83708A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73300" y="698500"/>
            <a:ext cx="2463800" cy="3486150"/>
          </a:xfrm>
          <a:ln/>
        </p:spPr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433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490" y="13294261"/>
            <a:ext cx="25726307" cy="9172407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39878" y="24249770"/>
            <a:ext cx="21187531" cy="10936924"/>
          </a:xfrm>
          <a:prstGeom prst="rect">
            <a:avLst/>
          </a:prstGeom>
        </p:spPr>
        <p:txBody>
          <a:bodyPr lIns="68412" tIns="34205" rIns="68412" bIns="34205"/>
          <a:lstStyle>
            <a:lvl1pPr marL="0" indent="0" algn="ctr">
              <a:buNone/>
              <a:defRPr/>
            </a:lvl1pPr>
            <a:lvl2pPr marL="111280" indent="0" algn="ctr">
              <a:buNone/>
              <a:defRPr/>
            </a:lvl2pPr>
            <a:lvl3pPr marL="222558" indent="0" algn="ctr">
              <a:buNone/>
              <a:defRPr/>
            </a:lvl3pPr>
            <a:lvl4pPr marL="333838" indent="0" algn="ctr">
              <a:buNone/>
              <a:defRPr/>
            </a:lvl4pPr>
            <a:lvl5pPr marL="445119" indent="0" algn="ctr">
              <a:buNone/>
              <a:defRPr/>
            </a:lvl5pPr>
            <a:lvl6pPr marL="556398" indent="0" algn="ctr">
              <a:buNone/>
              <a:defRPr/>
            </a:lvl6pPr>
            <a:lvl7pPr marL="667677" indent="0" algn="ctr">
              <a:buNone/>
              <a:defRPr/>
            </a:lvl7pPr>
            <a:lvl8pPr marL="778957" indent="0" algn="ctr">
              <a:buNone/>
              <a:defRPr/>
            </a:lvl8pPr>
            <a:lvl9pPr marL="89023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1" y="1713444"/>
            <a:ext cx="27241425" cy="7132373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2931" y="9985020"/>
            <a:ext cx="27241425" cy="28243144"/>
          </a:xfrm>
          <a:prstGeom prst="rect">
            <a:avLst/>
          </a:prstGeom>
        </p:spPr>
        <p:txBody>
          <a:bodyPr lIns="68412" tIns="34205" rIns="68412" bIns="34205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911" y="27498651"/>
            <a:ext cx="25727402" cy="8500648"/>
          </a:xfrm>
          <a:prstGeom prst="rect">
            <a:avLst/>
          </a:prstGeom>
        </p:spPr>
        <p:txBody>
          <a:bodyPr lIns="68412" tIns="34205" rIns="68412" bIns="34205" anchor="t"/>
          <a:lstStyle>
            <a:lvl1pPr algn="l">
              <a:defRPr sz="976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0911" y="18137404"/>
            <a:ext cx="25727402" cy="9361240"/>
          </a:xfrm>
          <a:prstGeom prst="rect">
            <a:avLst/>
          </a:prstGeom>
        </p:spPr>
        <p:txBody>
          <a:bodyPr lIns="68412" tIns="34205" rIns="68412" bIns="34205" anchor="b"/>
          <a:lstStyle>
            <a:lvl1pPr marL="0" indent="0">
              <a:buNone/>
              <a:defRPr sz="488"/>
            </a:lvl1pPr>
            <a:lvl2pPr marL="111280" indent="0">
              <a:buNone/>
              <a:defRPr sz="455"/>
            </a:lvl2pPr>
            <a:lvl3pPr marL="222558" indent="0">
              <a:buNone/>
              <a:defRPr sz="390"/>
            </a:lvl3pPr>
            <a:lvl4pPr marL="333838" indent="0">
              <a:buNone/>
              <a:defRPr sz="358"/>
            </a:lvl4pPr>
            <a:lvl5pPr marL="445119" indent="0">
              <a:buNone/>
              <a:defRPr sz="358"/>
            </a:lvl5pPr>
            <a:lvl6pPr marL="556398" indent="0">
              <a:buNone/>
              <a:defRPr sz="358"/>
            </a:lvl6pPr>
            <a:lvl7pPr marL="667677" indent="0">
              <a:buNone/>
              <a:defRPr sz="358"/>
            </a:lvl7pPr>
            <a:lvl8pPr marL="778957" indent="0">
              <a:buNone/>
              <a:defRPr sz="358"/>
            </a:lvl8pPr>
            <a:lvl9pPr marL="890237" indent="0">
              <a:buNone/>
              <a:defRPr sz="35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1" y="1713444"/>
            <a:ext cx="27241425" cy="7132373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12931" y="9985020"/>
            <a:ext cx="13568163" cy="28243144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684"/>
            </a:lvl1pPr>
            <a:lvl2pPr>
              <a:defRPr sz="587"/>
            </a:lvl2pPr>
            <a:lvl3pPr>
              <a:defRPr sz="488"/>
            </a:lvl3pPr>
            <a:lvl4pPr>
              <a:defRPr sz="455"/>
            </a:lvl4pPr>
            <a:lvl5pPr>
              <a:defRPr sz="455"/>
            </a:lvl5pPr>
            <a:lvl6pPr>
              <a:defRPr sz="455"/>
            </a:lvl6pPr>
            <a:lvl7pPr>
              <a:defRPr sz="455"/>
            </a:lvl7pPr>
            <a:lvl8pPr>
              <a:defRPr sz="455"/>
            </a:lvl8pPr>
            <a:lvl9pPr>
              <a:defRPr sz="4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86198" y="9985020"/>
            <a:ext cx="13568163" cy="28243144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684"/>
            </a:lvl1pPr>
            <a:lvl2pPr>
              <a:defRPr sz="587"/>
            </a:lvl2pPr>
            <a:lvl3pPr>
              <a:defRPr sz="488"/>
            </a:lvl3pPr>
            <a:lvl4pPr>
              <a:defRPr sz="455"/>
            </a:lvl4pPr>
            <a:lvl5pPr>
              <a:defRPr sz="455"/>
            </a:lvl5pPr>
            <a:lvl6pPr>
              <a:defRPr sz="455"/>
            </a:lvl6pPr>
            <a:lvl7pPr>
              <a:defRPr sz="455"/>
            </a:lvl7pPr>
            <a:lvl8pPr>
              <a:defRPr sz="455"/>
            </a:lvl8pPr>
            <a:lvl9pPr>
              <a:defRPr sz="4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1" y="1713444"/>
            <a:ext cx="27241425" cy="7132373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2931" y="9579491"/>
            <a:ext cx="13373300" cy="3991839"/>
          </a:xfrm>
          <a:prstGeom prst="rect">
            <a:avLst/>
          </a:prstGeom>
        </p:spPr>
        <p:txBody>
          <a:bodyPr lIns="68412" tIns="34205" rIns="68412" bIns="34205" anchor="b"/>
          <a:lstStyle>
            <a:lvl1pPr marL="0" indent="0">
              <a:buNone/>
              <a:defRPr sz="587" b="1"/>
            </a:lvl1pPr>
            <a:lvl2pPr marL="111280" indent="0">
              <a:buNone/>
              <a:defRPr sz="488" b="1"/>
            </a:lvl2pPr>
            <a:lvl3pPr marL="222558" indent="0">
              <a:buNone/>
              <a:defRPr sz="455" b="1"/>
            </a:lvl3pPr>
            <a:lvl4pPr marL="333838" indent="0">
              <a:buNone/>
              <a:defRPr sz="390" b="1"/>
            </a:lvl4pPr>
            <a:lvl5pPr marL="445119" indent="0">
              <a:buNone/>
              <a:defRPr sz="390" b="1"/>
            </a:lvl5pPr>
            <a:lvl6pPr marL="556398" indent="0">
              <a:buNone/>
              <a:defRPr sz="390" b="1"/>
            </a:lvl6pPr>
            <a:lvl7pPr marL="667677" indent="0">
              <a:buNone/>
              <a:defRPr sz="390" b="1"/>
            </a:lvl7pPr>
            <a:lvl8pPr marL="778957" indent="0">
              <a:buNone/>
              <a:defRPr sz="390" b="1"/>
            </a:lvl8pPr>
            <a:lvl9pPr marL="890237" indent="0">
              <a:buNone/>
              <a:defRPr sz="3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2931" y="13571325"/>
            <a:ext cx="13373300" cy="24656837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587"/>
            </a:lvl1pPr>
            <a:lvl2pPr>
              <a:defRPr sz="488"/>
            </a:lvl2pPr>
            <a:lvl3pPr>
              <a:defRPr sz="455"/>
            </a:lvl3pPr>
            <a:lvl4pPr>
              <a:defRPr sz="390"/>
            </a:lvl4pPr>
            <a:lvl5pPr>
              <a:defRPr sz="390"/>
            </a:lvl5pPr>
            <a:lvl6pPr>
              <a:defRPr sz="390"/>
            </a:lvl6pPr>
            <a:lvl7pPr>
              <a:defRPr sz="390"/>
            </a:lvl7pPr>
            <a:lvl8pPr>
              <a:defRPr sz="390"/>
            </a:lvl8pPr>
            <a:lvl9pPr>
              <a:defRPr sz="3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75579" y="9579491"/>
            <a:ext cx="13378775" cy="3991839"/>
          </a:xfrm>
          <a:prstGeom prst="rect">
            <a:avLst/>
          </a:prstGeom>
        </p:spPr>
        <p:txBody>
          <a:bodyPr lIns="68412" tIns="34205" rIns="68412" bIns="34205" anchor="b"/>
          <a:lstStyle>
            <a:lvl1pPr marL="0" indent="0">
              <a:buNone/>
              <a:defRPr sz="587" b="1"/>
            </a:lvl1pPr>
            <a:lvl2pPr marL="111280" indent="0">
              <a:buNone/>
              <a:defRPr sz="488" b="1"/>
            </a:lvl2pPr>
            <a:lvl3pPr marL="222558" indent="0">
              <a:buNone/>
              <a:defRPr sz="455" b="1"/>
            </a:lvl3pPr>
            <a:lvl4pPr marL="333838" indent="0">
              <a:buNone/>
              <a:defRPr sz="390" b="1"/>
            </a:lvl4pPr>
            <a:lvl5pPr marL="445119" indent="0">
              <a:buNone/>
              <a:defRPr sz="390" b="1"/>
            </a:lvl5pPr>
            <a:lvl6pPr marL="556398" indent="0">
              <a:buNone/>
              <a:defRPr sz="390" b="1"/>
            </a:lvl6pPr>
            <a:lvl7pPr marL="667677" indent="0">
              <a:buNone/>
              <a:defRPr sz="390" b="1"/>
            </a:lvl7pPr>
            <a:lvl8pPr marL="778957" indent="0">
              <a:buNone/>
              <a:defRPr sz="390" b="1"/>
            </a:lvl8pPr>
            <a:lvl9pPr marL="890237" indent="0">
              <a:buNone/>
              <a:defRPr sz="3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75579" y="13571325"/>
            <a:ext cx="13378775" cy="24656837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587"/>
            </a:lvl1pPr>
            <a:lvl2pPr>
              <a:defRPr sz="488"/>
            </a:lvl2pPr>
            <a:lvl3pPr>
              <a:defRPr sz="455"/>
            </a:lvl3pPr>
            <a:lvl4pPr>
              <a:defRPr sz="390"/>
            </a:lvl4pPr>
            <a:lvl5pPr>
              <a:defRPr sz="390"/>
            </a:lvl5pPr>
            <a:lvl6pPr>
              <a:defRPr sz="390"/>
            </a:lvl6pPr>
            <a:lvl7pPr>
              <a:defRPr sz="390"/>
            </a:lvl7pPr>
            <a:lvl8pPr>
              <a:defRPr sz="390"/>
            </a:lvl8pPr>
            <a:lvl9pPr>
              <a:defRPr sz="3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1" y="1713444"/>
            <a:ext cx="27241425" cy="7132373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3" y="1704157"/>
            <a:ext cx="9957725" cy="7251557"/>
          </a:xfrm>
          <a:prstGeom prst="rect">
            <a:avLst/>
          </a:prstGeom>
        </p:spPr>
        <p:txBody>
          <a:bodyPr lIns="68412" tIns="34205" rIns="68412" bIns="34205" anchor="b"/>
          <a:lstStyle>
            <a:lvl1pPr algn="l">
              <a:defRPr sz="48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4109" y="1704170"/>
            <a:ext cx="16920247" cy="36524004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781"/>
            </a:lvl1pPr>
            <a:lvl2pPr>
              <a:defRPr sz="684"/>
            </a:lvl2pPr>
            <a:lvl3pPr>
              <a:defRPr sz="587"/>
            </a:lvl3pPr>
            <a:lvl4pPr>
              <a:defRPr sz="488"/>
            </a:lvl4pPr>
            <a:lvl5pPr>
              <a:defRPr sz="488"/>
            </a:lvl5pPr>
            <a:lvl6pPr>
              <a:defRPr sz="488"/>
            </a:lvl6pPr>
            <a:lvl7pPr>
              <a:defRPr sz="488"/>
            </a:lvl7pPr>
            <a:lvl8pPr>
              <a:defRPr sz="488"/>
            </a:lvl8pPr>
            <a:lvl9pPr>
              <a:defRPr sz="4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2933" y="8955715"/>
            <a:ext cx="9957725" cy="29272448"/>
          </a:xfrm>
          <a:prstGeom prst="rect">
            <a:avLst/>
          </a:prstGeom>
        </p:spPr>
        <p:txBody>
          <a:bodyPr lIns="68412" tIns="34205" rIns="68412" bIns="34205"/>
          <a:lstStyle>
            <a:lvl1pPr marL="0" indent="0">
              <a:buNone/>
              <a:defRPr sz="358"/>
            </a:lvl1pPr>
            <a:lvl2pPr marL="111280" indent="0">
              <a:buNone/>
              <a:defRPr sz="292"/>
            </a:lvl2pPr>
            <a:lvl3pPr marL="222558" indent="0">
              <a:buNone/>
              <a:defRPr sz="260"/>
            </a:lvl3pPr>
            <a:lvl4pPr marL="333838" indent="0">
              <a:buNone/>
              <a:defRPr sz="227"/>
            </a:lvl4pPr>
            <a:lvl5pPr marL="445119" indent="0">
              <a:buNone/>
              <a:defRPr sz="227"/>
            </a:lvl5pPr>
            <a:lvl6pPr marL="556398" indent="0">
              <a:buNone/>
              <a:defRPr sz="227"/>
            </a:lvl6pPr>
            <a:lvl7pPr marL="667677" indent="0">
              <a:buNone/>
              <a:defRPr sz="227"/>
            </a:lvl7pPr>
            <a:lvl8pPr marL="778957" indent="0">
              <a:buNone/>
              <a:defRPr sz="227"/>
            </a:lvl8pPr>
            <a:lvl9pPr marL="890237" indent="0">
              <a:buNone/>
              <a:defRPr sz="2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2387" y="29956596"/>
            <a:ext cx="18160583" cy="3535231"/>
          </a:xfrm>
          <a:prstGeom prst="rect">
            <a:avLst/>
          </a:prstGeom>
        </p:spPr>
        <p:txBody>
          <a:bodyPr lIns="68412" tIns="34205" rIns="68412" bIns="34205" anchor="b"/>
          <a:lstStyle>
            <a:lvl1pPr algn="l">
              <a:defRPr sz="48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32387" y="3823135"/>
            <a:ext cx="18160583" cy="25676854"/>
          </a:xfrm>
          <a:prstGeom prst="rect">
            <a:avLst/>
          </a:prstGeom>
        </p:spPr>
        <p:txBody>
          <a:bodyPr lIns="68412" tIns="34205" rIns="68412" bIns="34205"/>
          <a:lstStyle>
            <a:lvl1pPr marL="0" indent="0">
              <a:buNone/>
              <a:defRPr sz="781"/>
            </a:lvl1pPr>
            <a:lvl2pPr marL="111280" indent="0">
              <a:buNone/>
              <a:defRPr sz="684"/>
            </a:lvl2pPr>
            <a:lvl3pPr marL="222558" indent="0">
              <a:buNone/>
              <a:defRPr sz="587"/>
            </a:lvl3pPr>
            <a:lvl4pPr marL="333838" indent="0">
              <a:buNone/>
              <a:defRPr sz="488"/>
            </a:lvl4pPr>
            <a:lvl5pPr marL="445119" indent="0">
              <a:buNone/>
              <a:defRPr sz="488"/>
            </a:lvl5pPr>
            <a:lvl6pPr marL="556398" indent="0">
              <a:buNone/>
              <a:defRPr sz="488"/>
            </a:lvl6pPr>
            <a:lvl7pPr marL="667677" indent="0">
              <a:buNone/>
              <a:defRPr sz="488"/>
            </a:lvl7pPr>
            <a:lvl8pPr marL="778957" indent="0">
              <a:buNone/>
              <a:defRPr sz="488"/>
            </a:lvl8pPr>
            <a:lvl9pPr marL="890237" indent="0">
              <a:buNone/>
              <a:defRPr sz="488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2387" y="33491823"/>
            <a:ext cx="18160583" cy="5022690"/>
          </a:xfrm>
          <a:prstGeom prst="rect">
            <a:avLst/>
          </a:prstGeom>
        </p:spPr>
        <p:txBody>
          <a:bodyPr lIns="68412" tIns="34205" rIns="68412" bIns="34205"/>
          <a:lstStyle>
            <a:lvl1pPr marL="0" indent="0">
              <a:buNone/>
              <a:defRPr sz="358"/>
            </a:lvl1pPr>
            <a:lvl2pPr marL="111280" indent="0">
              <a:buNone/>
              <a:defRPr sz="292"/>
            </a:lvl2pPr>
            <a:lvl3pPr marL="222558" indent="0">
              <a:buNone/>
              <a:defRPr sz="260"/>
            </a:lvl3pPr>
            <a:lvl4pPr marL="333838" indent="0">
              <a:buNone/>
              <a:defRPr sz="227"/>
            </a:lvl4pPr>
            <a:lvl5pPr marL="445119" indent="0">
              <a:buNone/>
              <a:defRPr sz="227"/>
            </a:lvl5pPr>
            <a:lvl6pPr marL="556398" indent="0">
              <a:buNone/>
              <a:defRPr sz="227"/>
            </a:lvl6pPr>
            <a:lvl7pPr marL="667677" indent="0">
              <a:buNone/>
              <a:defRPr sz="227"/>
            </a:lvl7pPr>
            <a:lvl8pPr marL="778957" indent="0">
              <a:buNone/>
              <a:defRPr sz="227"/>
            </a:lvl8pPr>
            <a:lvl9pPr marL="890237" indent="0">
              <a:buNone/>
              <a:defRPr sz="2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1" y="1713444"/>
            <a:ext cx="27241425" cy="7132373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12931" y="9985020"/>
            <a:ext cx="27241425" cy="28243144"/>
          </a:xfrm>
          <a:prstGeom prst="rect">
            <a:avLst/>
          </a:prstGeom>
        </p:spPr>
        <p:txBody>
          <a:bodyPr vert="eaVert" lIns="68412" tIns="34205" rIns="68412" bIns="34205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44003" y="1713446"/>
            <a:ext cx="6810355" cy="36514714"/>
          </a:xfrm>
          <a:prstGeom prst="rect">
            <a:avLst/>
          </a:prstGeom>
        </p:spPr>
        <p:txBody>
          <a:bodyPr vert="eaVert"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12932" y="1713446"/>
            <a:ext cx="20325973" cy="36514714"/>
          </a:xfrm>
          <a:prstGeom prst="rect">
            <a:avLst/>
          </a:prstGeom>
        </p:spPr>
        <p:txBody>
          <a:bodyPr vert="eaVert" lIns="68412" tIns="34205" rIns="68412" bIns="34205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64417" rtl="0" eaLnBrk="0" fontAlgn="base" hangingPunct="0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+mj-lt"/>
          <a:ea typeface="+mj-ea"/>
          <a:cs typeface="+mj-cs"/>
        </a:defRPr>
      </a:lvl1pPr>
      <a:lvl2pPr algn="ctr" defTabSz="264417" rtl="0" eaLnBrk="0" fontAlgn="base" hangingPunct="0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2pPr>
      <a:lvl3pPr algn="ctr" defTabSz="264417" rtl="0" eaLnBrk="0" fontAlgn="base" hangingPunct="0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3pPr>
      <a:lvl4pPr algn="ctr" defTabSz="264417" rtl="0" eaLnBrk="0" fontAlgn="base" hangingPunct="0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4pPr>
      <a:lvl5pPr algn="ctr" defTabSz="264417" rtl="0" eaLnBrk="0" fontAlgn="base" hangingPunct="0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5pPr>
      <a:lvl6pPr marL="111280" algn="ctr" defTabSz="265062" rtl="0" fontAlgn="base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6pPr>
      <a:lvl7pPr marL="222558" algn="ctr" defTabSz="265062" rtl="0" fontAlgn="base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7pPr>
      <a:lvl8pPr marL="333838" algn="ctr" defTabSz="265062" rtl="0" fontAlgn="base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8pPr>
      <a:lvl9pPr marL="445119" algn="ctr" defTabSz="265062" rtl="0" fontAlgn="base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9pPr>
    </p:titleStyle>
    <p:bodyStyle>
      <a:lvl1pPr marL="99394" indent="-99394" algn="l" defTabSz="264417" rtl="0" eaLnBrk="0" fontAlgn="base" hangingPunct="0">
        <a:spcBef>
          <a:spcPct val="20000"/>
        </a:spcBef>
        <a:spcAft>
          <a:spcPct val="0"/>
        </a:spcAft>
        <a:buChar char="•"/>
        <a:defRPr sz="944">
          <a:solidFill>
            <a:schemeClr val="tx1"/>
          </a:solidFill>
          <a:latin typeface="+mn-lt"/>
          <a:ea typeface="+mn-ea"/>
          <a:cs typeface="+mn-cs"/>
        </a:defRPr>
      </a:lvl1pPr>
      <a:lvl2pPr marL="213530" indent="-82274" algn="l" defTabSz="264417" rtl="0" eaLnBrk="0" fontAlgn="base" hangingPunct="0">
        <a:spcBef>
          <a:spcPct val="20000"/>
        </a:spcBef>
        <a:spcAft>
          <a:spcPct val="0"/>
        </a:spcAft>
        <a:buChar char="–"/>
        <a:defRPr sz="813">
          <a:solidFill>
            <a:schemeClr val="tx1"/>
          </a:solidFill>
          <a:latin typeface="+mn-lt"/>
        </a:defRPr>
      </a:lvl2pPr>
      <a:lvl3pPr marL="330520" indent="-65153" algn="l" defTabSz="264417" rtl="0" eaLnBrk="0" fontAlgn="base" hangingPunct="0">
        <a:spcBef>
          <a:spcPct val="20000"/>
        </a:spcBef>
        <a:spcAft>
          <a:spcPct val="0"/>
        </a:spcAft>
        <a:buChar char="•"/>
        <a:defRPr sz="651">
          <a:solidFill>
            <a:schemeClr val="tx1"/>
          </a:solidFill>
          <a:latin typeface="+mn-lt"/>
        </a:defRPr>
      </a:lvl3pPr>
      <a:lvl4pPr marL="461776" indent="-65153" algn="l" defTabSz="264417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594937" indent="-65153" algn="l" defTabSz="264417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706703" indent="-65685" algn="l" defTabSz="265062" rtl="0" fontAlgn="base">
        <a:spcBef>
          <a:spcPct val="20000"/>
        </a:spcBef>
        <a:spcAft>
          <a:spcPct val="0"/>
        </a:spcAft>
        <a:buChar char="»"/>
        <a:defRPr sz="553">
          <a:solidFill>
            <a:schemeClr val="tx1"/>
          </a:solidFill>
          <a:latin typeface="+mn-lt"/>
        </a:defRPr>
      </a:lvl6pPr>
      <a:lvl7pPr marL="817982" indent="-65685" algn="l" defTabSz="265062" rtl="0" fontAlgn="base">
        <a:spcBef>
          <a:spcPct val="20000"/>
        </a:spcBef>
        <a:spcAft>
          <a:spcPct val="0"/>
        </a:spcAft>
        <a:buChar char="»"/>
        <a:defRPr sz="553">
          <a:solidFill>
            <a:schemeClr val="tx1"/>
          </a:solidFill>
          <a:latin typeface="+mn-lt"/>
        </a:defRPr>
      </a:lvl7pPr>
      <a:lvl8pPr marL="929264" indent="-65685" algn="l" defTabSz="265062" rtl="0" fontAlgn="base">
        <a:spcBef>
          <a:spcPct val="20000"/>
        </a:spcBef>
        <a:spcAft>
          <a:spcPct val="0"/>
        </a:spcAft>
        <a:buChar char="»"/>
        <a:defRPr sz="553">
          <a:solidFill>
            <a:schemeClr val="tx1"/>
          </a:solidFill>
          <a:latin typeface="+mn-lt"/>
        </a:defRPr>
      </a:lvl8pPr>
      <a:lvl9pPr marL="1040542" indent="-65685" algn="l" defTabSz="265062" rtl="0" fontAlgn="base">
        <a:spcBef>
          <a:spcPct val="20000"/>
        </a:spcBef>
        <a:spcAft>
          <a:spcPct val="0"/>
        </a:spcAft>
        <a:buChar char="»"/>
        <a:defRPr sz="553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1pPr>
      <a:lvl2pPr marL="111280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2pPr>
      <a:lvl3pPr marL="222558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3pPr>
      <a:lvl4pPr marL="333838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4pPr>
      <a:lvl5pPr marL="445119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5pPr>
      <a:lvl6pPr marL="556398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6pPr>
      <a:lvl7pPr marL="667677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7pPr>
      <a:lvl8pPr marL="778957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8pPr>
      <a:lvl9pPr marL="890237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JP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JP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comments" Target="../comments/comment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jpe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9" name="Picture 485" descr="BannerBla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717"/>
            <a:ext cx="30333152" cy="3493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Text Box 67"/>
          <p:cNvSpPr txBox="1">
            <a:spLocks noChangeArrowheads="1"/>
          </p:cNvSpPr>
          <p:nvPr/>
        </p:nvSpPr>
        <p:spPr bwMode="auto">
          <a:xfrm>
            <a:off x="2968334" y="298775"/>
            <a:ext cx="24081033" cy="302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square" lIns="24406" tIns="12203" rIns="24406" bIns="12203">
            <a:spAutoFit/>
          </a:bodyPr>
          <a:lstStyle/>
          <a:p>
            <a:pPr algn="ctr">
              <a:spcBef>
                <a:spcPts val="65"/>
              </a:spcBef>
              <a:spcAft>
                <a:spcPts val="0"/>
              </a:spcAft>
              <a:defRPr/>
            </a:pPr>
            <a:r>
              <a:rPr lang="en-US" altLang="en-US" sz="5800" b="1" dirty="0">
                <a:solidFill>
                  <a:schemeClr val="bg1"/>
                </a:solidFill>
                <a:latin typeface="Arial" charset="0"/>
              </a:rPr>
              <a:t>Automated Cranial 4D Flow MRI Analysis</a:t>
            </a:r>
          </a:p>
          <a:p>
            <a:pPr algn="ctr">
              <a:spcBef>
                <a:spcPts val="65"/>
              </a:spcBef>
              <a:spcAft>
                <a:spcPts val="0"/>
              </a:spcAft>
              <a:defRPr/>
            </a:pPr>
            <a:r>
              <a:rPr lang="en-US" altLang="en-US" sz="1100" b="1" dirty="0">
                <a:solidFill>
                  <a:schemeClr val="bg1"/>
                </a:solidFill>
                <a:latin typeface="Arial" charset="0"/>
              </a:rPr>
              <a:t>  </a:t>
            </a:r>
          </a:p>
          <a:p>
            <a:pPr algn="ctr">
              <a:spcBef>
                <a:spcPts val="65"/>
              </a:spcBef>
              <a:spcAft>
                <a:spcPts val="0"/>
              </a:spcAft>
              <a:defRPr/>
            </a:pP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Carson Hoffman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1</a:t>
            </a: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, Grant Roberts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1</a:t>
            </a: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, Sara Berman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3</a:t>
            </a: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, Laura Eisenmenger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2</a:t>
            </a: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, and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Oliver Wieben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1,2</a:t>
            </a:r>
          </a:p>
          <a:p>
            <a:pPr algn="ctr">
              <a:spcBef>
                <a:spcPts val="65"/>
              </a:spcBef>
              <a:spcAft>
                <a:spcPts val="0"/>
              </a:spcAft>
              <a:defRPr/>
            </a:pPr>
            <a:endParaRPr lang="en-US" altLang="en-US" sz="1600" b="1" baseline="30000" dirty="0">
              <a:solidFill>
                <a:schemeClr val="bg1"/>
              </a:solidFill>
              <a:latin typeface="Arial" charset="0"/>
            </a:endParaRPr>
          </a:p>
          <a:p>
            <a:pPr algn="ctr">
              <a:lnSpc>
                <a:spcPct val="80000"/>
              </a:lnSpc>
              <a:spcBef>
                <a:spcPts val="369"/>
              </a:spcBef>
              <a:spcAft>
                <a:spcPts val="369"/>
              </a:spcAft>
              <a:defRPr/>
            </a:pPr>
            <a:r>
              <a:rPr lang="en-US" altLang="en-US" sz="3600" dirty="0">
                <a:solidFill>
                  <a:schemeClr val="bg1"/>
                </a:solidFill>
                <a:latin typeface="Arial" charset="0"/>
              </a:rPr>
              <a:t>Departments of </a:t>
            </a:r>
            <a:r>
              <a:rPr lang="en-US" altLang="en-US" sz="3600" baseline="30000" dirty="0">
                <a:solidFill>
                  <a:schemeClr val="bg1"/>
                </a:solidFill>
                <a:latin typeface="Arial" charset="0"/>
              </a:rPr>
              <a:t>1</a:t>
            </a:r>
            <a:r>
              <a:rPr lang="en-US" altLang="en-US" sz="3600" dirty="0">
                <a:solidFill>
                  <a:schemeClr val="bg1"/>
                </a:solidFill>
                <a:latin typeface="Arial" charset="0"/>
              </a:rPr>
              <a:t>Medical Physics and </a:t>
            </a:r>
            <a:r>
              <a:rPr lang="en-US" altLang="en-US" sz="3600" baseline="30000" dirty="0">
                <a:solidFill>
                  <a:schemeClr val="bg1"/>
                </a:solidFill>
                <a:latin typeface="Arial" charset="0"/>
              </a:rPr>
              <a:t>2</a:t>
            </a:r>
            <a:r>
              <a:rPr lang="en-US" altLang="en-US" sz="3600" dirty="0">
                <a:solidFill>
                  <a:schemeClr val="bg1"/>
                </a:solidFill>
                <a:latin typeface="Arial" charset="0"/>
              </a:rPr>
              <a:t>Radiology, University of Wisconsin – Madison</a:t>
            </a:r>
          </a:p>
          <a:p>
            <a:pPr algn="ctr">
              <a:lnSpc>
                <a:spcPct val="80000"/>
              </a:lnSpc>
              <a:spcBef>
                <a:spcPts val="369"/>
              </a:spcBef>
              <a:spcAft>
                <a:spcPts val="369"/>
              </a:spcAft>
              <a:defRPr/>
            </a:pPr>
            <a:r>
              <a:rPr lang="en-US" sz="3600" baseline="30000" dirty="0">
                <a:solidFill>
                  <a:schemeClr val="bg1"/>
                </a:solidFill>
                <a:latin typeface="Arial" charset="0"/>
              </a:rPr>
              <a:t>3</a:t>
            </a:r>
            <a:r>
              <a:rPr lang="en-US" sz="3600" dirty="0">
                <a:solidFill>
                  <a:schemeClr val="bg1"/>
                </a:solidFill>
                <a:latin typeface="Arial" charset="0"/>
              </a:rPr>
              <a:t>Alzheimer’s Disease Research Center, </a:t>
            </a:r>
            <a:r>
              <a:rPr lang="en-US" altLang="en-US" sz="3600" dirty="0">
                <a:solidFill>
                  <a:schemeClr val="bg1"/>
                </a:solidFill>
                <a:latin typeface="Arial" charset="0"/>
              </a:rPr>
              <a:t>University of Wisconsin – Madison</a:t>
            </a:r>
          </a:p>
        </p:txBody>
      </p:sp>
      <p:pic>
        <p:nvPicPr>
          <p:cNvPr id="73" name="Picture 493" descr="UW_logo_justWhit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8174" y="317445"/>
            <a:ext cx="2719734" cy="2836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" name="Rectangle 86"/>
          <p:cNvSpPr>
            <a:spLocks noChangeArrowheads="1"/>
          </p:cNvSpPr>
          <p:nvPr/>
        </p:nvSpPr>
        <p:spPr bwMode="auto">
          <a:xfrm>
            <a:off x="516013" y="3700085"/>
            <a:ext cx="14633949" cy="685800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Synopsis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47" name="Rectangle 86"/>
          <p:cNvSpPr>
            <a:spLocks noChangeArrowheads="1"/>
          </p:cNvSpPr>
          <p:nvPr/>
        </p:nvSpPr>
        <p:spPr bwMode="auto">
          <a:xfrm>
            <a:off x="516013" y="6019988"/>
            <a:ext cx="14617624" cy="687499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Background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48" name="Rectangle 86"/>
          <p:cNvSpPr>
            <a:spLocks noChangeArrowheads="1"/>
          </p:cNvSpPr>
          <p:nvPr/>
        </p:nvSpPr>
        <p:spPr bwMode="auto">
          <a:xfrm>
            <a:off x="15574686" y="3717431"/>
            <a:ext cx="14401800" cy="685800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Results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49" name="Rectangle 86"/>
          <p:cNvSpPr>
            <a:spLocks noChangeArrowheads="1"/>
          </p:cNvSpPr>
          <p:nvPr/>
        </p:nvSpPr>
        <p:spPr bwMode="auto">
          <a:xfrm>
            <a:off x="498174" y="14948980"/>
            <a:ext cx="14949246" cy="687499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Methods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52" name="Rectangle 86"/>
          <p:cNvSpPr>
            <a:spLocks noChangeArrowheads="1"/>
          </p:cNvSpPr>
          <p:nvPr/>
        </p:nvSpPr>
        <p:spPr bwMode="auto">
          <a:xfrm>
            <a:off x="15565485" y="35114643"/>
            <a:ext cx="14401800" cy="687499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Discussion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94683" y="4367227"/>
            <a:ext cx="14791467" cy="1661777"/>
          </a:xfrm>
          <a:prstGeom prst="rect">
            <a:avLst/>
          </a:prstGeom>
          <a:noFill/>
        </p:spPr>
        <p:txBody>
          <a:bodyPr wrap="square" lIns="91226" tIns="45613" rIns="91226" bIns="45613" rtlCol="0">
            <a:spAutoFit/>
          </a:bodyPr>
          <a:lstStyle/>
          <a:p>
            <a:pPr algn="l"/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To develop a cranial 4D flow post-processing analysis tool that includes: </a:t>
            </a:r>
          </a:p>
          <a:p>
            <a:pPr marL="903466" lvl="2" indent="-457200" algn="l">
              <a:buFont typeface="Courier New" panose="02070309020205020404" pitchFamily="49" charset="0"/>
              <a:buChar char="o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An interactive visual interface</a:t>
            </a:r>
          </a:p>
          <a:p>
            <a:pPr marL="903466" lvl="2" indent="-457200" algn="l">
              <a:buFont typeface="Courier New" panose="02070309020205020404" pitchFamily="49" charset="0"/>
              <a:buChar char="o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Quick and robust hemodynamic analysis </a:t>
            </a:r>
          </a:p>
        </p:txBody>
      </p:sp>
      <p:sp>
        <p:nvSpPr>
          <p:cNvPr id="24" name="Rectangle 86">
            <a:extLst>
              <a:ext uri="{FF2B5EF4-FFF2-40B4-BE49-F238E27FC236}">
                <a16:creationId xmlns:a16="http://schemas.microsoft.com/office/drawing/2014/main" id="{081A5B49-55D6-4A97-9EAB-3CC9A0B0F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65685" y="40191207"/>
            <a:ext cx="14401800" cy="687499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References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8B5B2C-64B3-438C-95E1-C17EC28996E9}"/>
              </a:ext>
            </a:extLst>
          </p:cNvPr>
          <p:cNvSpPr/>
          <p:nvPr/>
        </p:nvSpPr>
        <p:spPr>
          <a:xfrm>
            <a:off x="15592488" y="40983295"/>
            <a:ext cx="13997132" cy="124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[1] </a:t>
            </a:r>
            <a:r>
              <a:rPr 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Schrauben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, E. et al.  JMRI 2015; 42:1458-64.</a:t>
            </a:r>
          </a:p>
          <a:p>
            <a:pPr algn="l"/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[2] 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T. et al.  AJNR 2008; 26:743-749 </a:t>
            </a:r>
          </a:p>
          <a:p>
            <a:pPr algn="l"/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[3]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Johnson, KM. et al.  MRM 2008; 60(6):1329-1336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9148" y="6710594"/>
            <a:ext cx="15145631" cy="8248196"/>
          </a:xfrm>
          <a:prstGeom prst="rect">
            <a:avLst/>
          </a:prstGeom>
          <a:noFill/>
        </p:spPr>
        <p:txBody>
          <a:bodyPr wrap="square" lIns="91226" tIns="45613" rIns="91226" bIns="45613" rtlCol="0">
            <a:spAutoFit/>
          </a:bodyPr>
          <a:lstStyle/>
          <a:p>
            <a:pPr marL="457200" indent="-457200" algn="l">
              <a:spcBef>
                <a:spcPts val="170"/>
              </a:spcBef>
              <a:spcAft>
                <a:spcPts val="17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4D flow MRI: acquires in-vivo time-resolved 3D velocity maps </a:t>
            </a:r>
          </a:p>
          <a:p>
            <a:pPr marL="903466" lvl="2" indent="-457200" algn="l">
              <a:spcBef>
                <a:spcPts val="170"/>
              </a:spcBef>
              <a:spcAft>
                <a:spcPts val="17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Allows for qualitative and quantitative analysis</a:t>
            </a:r>
          </a:p>
          <a:p>
            <a:pPr marL="903466" lvl="2" indent="-457200" algn="l">
              <a:spcBef>
                <a:spcPts val="170"/>
              </a:spcBef>
              <a:spcAft>
                <a:spcPts val="17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Post-processing can be time consuming</a:t>
            </a:r>
          </a:p>
          <a:p>
            <a:pPr marL="457200" indent="-457200" algn="l">
              <a:spcBef>
                <a:spcPts val="170"/>
              </a:spcBef>
              <a:spcAft>
                <a:spcPts val="17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 previously-established cranial 4D flow centerline processing scheme (CPS)</a:t>
            </a:r>
            <a:r>
              <a:rPr lang="en-US" sz="3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1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allowed:</a:t>
            </a:r>
          </a:p>
          <a:p>
            <a:pPr marL="903466" lvl="2" indent="-457200" algn="l">
              <a:spcBef>
                <a:spcPts val="170"/>
              </a:spcBef>
              <a:spcAft>
                <a:spcPts val="17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Repeatable quantitative analysis </a:t>
            </a:r>
          </a:p>
          <a:p>
            <a:pPr marL="903466" lvl="2" indent="-457200" algn="l">
              <a:spcBef>
                <a:spcPts val="170"/>
              </a:spcBef>
              <a:spcAft>
                <a:spcPts val="17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Automated segmentation </a:t>
            </a:r>
          </a:p>
          <a:p>
            <a:pPr marL="903466" lvl="2" indent="-457200" algn="l">
              <a:spcBef>
                <a:spcPts val="170"/>
              </a:spcBef>
              <a:spcAft>
                <a:spcPts val="17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Quick post processing times (~15 min)</a:t>
            </a:r>
          </a:p>
          <a:p>
            <a:pPr marL="903466" lvl="2" indent="-457200" algn="l">
              <a:spcBef>
                <a:spcPts val="170"/>
              </a:spcBef>
              <a:spcAft>
                <a:spcPts val="17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Analysis of +1000 cranial cases</a:t>
            </a:r>
          </a:p>
          <a:p>
            <a:pPr marL="514350" indent="-514350" algn="l">
              <a:spcBef>
                <a:spcPts val="170"/>
              </a:spcBef>
              <a:spcAft>
                <a:spcPts val="17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Purpose: Develop a quantitative velocity tool (QVT) that improves 4D flow post-processing:</a:t>
            </a:r>
          </a:p>
          <a:p>
            <a:pPr marL="960616" lvl="2" indent="-514350" algn="l">
              <a:spcBef>
                <a:spcPts val="170"/>
              </a:spcBef>
              <a:spcAft>
                <a:spcPts val="170"/>
              </a:spcAft>
              <a:buSzPct val="70000"/>
              <a:buFont typeface="+mj-lt"/>
              <a:buAutoNum type="arabicPeriod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Fully automated quantitative flow computations for all vessels (~3000 locations)</a:t>
            </a:r>
          </a:p>
          <a:p>
            <a:pPr marL="1184227" lvl="3" indent="-514350" algn="l">
              <a:spcBef>
                <a:spcPts val="170"/>
              </a:spcBef>
              <a:spcAft>
                <a:spcPts val="170"/>
              </a:spcAft>
              <a:buSzPct val="70000"/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Anatomical: vessel segmentation</a:t>
            </a:r>
          </a:p>
          <a:p>
            <a:pPr marL="1184227" lvl="3" indent="-514350" algn="l">
              <a:spcBef>
                <a:spcPts val="170"/>
              </a:spcBef>
              <a:spcAft>
                <a:spcPts val="170"/>
              </a:spcAft>
              <a:buSzPct val="70000"/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Functional: blood velocity, flow, </a:t>
            </a:r>
            <a:r>
              <a:rPr lang="en-US" sz="3000" dirty="0" err="1">
                <a:latin typeface="Calibri" panose="020F0502020204030204" pitchFamily="34" charset="0"/>
                <a:cs typeface="Calibri" panose="020F0502020204030204" pitchFamily="34" charset="0"/>
              </a:rPr>
              <a:t>pulsatility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 index, etc. </a:t>
            </a:r>
          </a:p>
          <a:p>
            <a:pPr marL="960616" lvl="2" indent="-514350" algn="l">
              <a:spcBef>
                <a:spcPts val="170"/>
              </a:spcBef>
              <a:spcAft>
                <a:spcPts val="170"/>
              </a:spcAft>
              <a:buSzPct val="70000"/>
              <a:buFont typeface="+mj-lt"/>
              <a:buAutoNum type="arabicPeriod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Interactive 3D user interface </a:t>
            </a:r>
          </a:p>
          <a:p>
            <a:pPr marL="1184227" lvl="3" indent="-514350" algn="l">
              <a:spcBef>
                <a:spcPts val="170"/>
              </a:spcBef>
              <a:spcAft>
                <a:spcPts val="170"/>
              </a:spcAft>
              <a:buSzPct val="70000"/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Visualization of color-coded flow parameters</a:t>
            </a:r>
          </a:p>
          <a:p>
            <a:pPr marL="1184227" lvl="3" indent="-514350" algn="l">
              <a:spcBef>
                <a:spcPts val="170"/>
              </a:spcBef>
              <a:spcAft>
                <a:spcPts val="170"/>
              </a:spcAft>
              <a:buSzPct val="70000"/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Easy vessel selection</a:t>
            </a:r>
          </a:p>
          <a:p>
            <a:pPr marL="960616" lvl="2" indent="-514350" algn="l">
              <a:spcBef>
                <a:spcPts val="170"/>
              </a:spcBef>
              <a:spcAft>
                <a:spcPts val="170"/>
              </a:spcAft>
              <a:buSzPct val="70000"/>
              <a:buFont typeface="+mj-lt"/>
              <a:buAutoNum type="arabicPeriod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Reduce memory requirements and post-processing times (~5 min)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3681" y="15636479"/>
            <a:ext cx="14729956" cy="3139105"/>
          </a:xfrm>
          <a:prstGeom prst="rect">
            <a:avLst/>
          </a:prstGeom>
          <a:noFill/>
        </p:spPr>
        <p:txBody>
          <a:bodyPr wrap="square" lIns="91226" tIns="45613" rIns="91226" bIns="45613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An in-vivo study will be performed to assess 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CPS and QVT segmentation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 performances, 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interobserver variabilities, vessel selection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post processing times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3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 4D flow brain scans </a:t>
            </a:r>
            <a:r>
              <a:rPr 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were acquired on healthy volunteers.</a:t>
            </a:r>
          </a:p>
          <a:p>
            <a:pPr marL="903466" lvl="2" indent="-457200" algn="l">
              <a:buSzPct val="70000"/>
              <a:buFont typeface="Courier New" panose="02070309020205020404" pitchFamily="49" charset="0"/>
              <a:buChar char="o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PC-VIPR</a:t>
            </a:r>
            <a:r>
              <a:rPr lang="en-US" sz="3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2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acquisition: field strength = 3T; volume = 22 cm</a:t>
            </a:r>
            <a:r>
              <a:rPr lang="en-US" sz="3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; spatial res. = 0.69 mm</a:t>
            </a:r>
            <a:r>
              <a:rPr lang="en-US" sz="3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; V</a:t>
            </a:r>
            <a:r>
              <a:rPr lang="en-US" sz="3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ENC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 = 80 cm/s; scan time = 7 min.; retrospective cardiac gating (20 frames).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The QVT graphical interface (Figure 1) was developed in MATLAB18b (</a:t>
            </a:r>
            <a:r>
              <a:rPr lang="en-US" sz="3000" dirty="0" err="1">
                <a:latin typeface="Calibri" panose="020F0502020204030204" pitchFamily="34" charset="0"/>
                <a:cs typeface="Calibri" panose="020F0502020204030204" pitchFamily="34" charset="0"/>
              </a:rPr>
              <a:t>Mathworks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, MA).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F77D846-209E-4A89-9169-28106A94B2F9}"/>
              </a:ext>
            </a:extLst>
          </p:cNvPr>
          <p:cNvSpPr/>
          <p:nvPr/>
        </p:nvSpPr>
        <p:spPr>
          <a:xfrm>
            <a:off x="15543273" y="35854869"/>
            <a:ext cx="1415839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QVT provided improved angiograms, smoother centerlines, quick vessel selection, easy visualization, and less computer memory requirements.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Robust analysis tools with high repeatability are extremely desirable for high-volume, long-term 4D flow studies.</a:t>
            </a:r>
          </a:p>
          <a:p>
            <a:pPr marL="903466" lvl="2" indent="-457200" algn="l"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Both tools showed high user repeatability with an improvement for QVT. </a:t>
            </a:r>
          </a:p>
          <a:p>
            <a:pPr marL="903466" lvl="2" indent="-457200" algn="l"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Local flow measurements at selected vessel locations were small (&lt;3%).</a:t>
            </a:r>
          </a:p>
          <a:p>
            <a:pPr marL="903466" lvl="2" indent="-457200" algn="l"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Flow was conserved at vessel junctions, indicating good internal consistency.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Additional users and cases will help further investigate repeatability between tools.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96C062E-F8E5-4B26-9749-276F8BB3FF0C}"/>
              </a:ext>
            </a:extLst>
          </p:cNvPr>
          <p:cNvGrpSpPr/>
          <p:nvPr/>
        </p:nvGrpSpPr>
        <p:grpSpPr>
          <a:xfrm>
            <a:off x="807426" y="34926126"/>
            <a:ext cx="13534123" cy="7522225"/>
            <a:chOff x="18038672" y="4714144"/>
            <a:chExt cx="11732703" cy="8137601"/>
          </a:xfrm>
        </p:grpSpPr>
        <p:grpSp>
          <p:nvGrpSpPr>
            <p:cNvPr id="46" name="Group 45"/>
            <p:cNvGrpSpPr/>
            <p:nvPr/>
          </p:nvGrpSpPr>
          <p:grpSpPr>
            <a:xfrm>
              <a:off x="18055137" y="4714144"/>
              <a:ext cx="11716238" cy="7648453"/>
              <a:chOff x="0" y="0"/>
              <a:chExt cx="5703888" cy="3436303"/>
            </a:xfrm>
          </p:grpSpPr>
          <p:pic>
            <p:nvPicPr>
              <p:cNvPr id="50" name="Picture 49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2851150" cy="1718945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  <p:pic>
            <p:nvPicPr>
              <p:cNvPr id="51" name="Picture 50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52738" y="0"/>
                <a:ext cx="2851150" cy="1717040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  <p:pic>
            <p:nvPicPr>
              <p:cNvPr id="53" name="Picture 52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" y="1719263"/>
                <a:ext cx="2890999" cy="1717040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  <p:pic>
            <p:nvPicPr>
              <p:cNvPr id="54" name="Picture 53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52738" y="1714500"/>
                <a:ext cx="2851150" cy="1721485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16431EE-3171-4F5C-A3D1-B27402BA3267}"/>
                </a:ext>
              </a:extLst>
            </p:cNvPr>
            <p:cNvSpPr/>
            <p:nvPr/>
          </p:nvSpPr>
          <p:spPr>
            <a:xfrm>
              <a:off x="18038672" y="12376540"/>
              <a:ext cx="11732702" cy="475205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l"/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3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: Quantitative parameters (area, flow, velocity) color-coded on automatically-generated centerlines.</a:t>
              </a: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86F8932B-E273-4034-9E93-2AB5F676C301}"/>
              </a:ext>
            </a:extLst>
          </p:cNvPr>
          <p:cNvSpPr/>
          <p:nvPr/>
        </p:nvSpPr>
        <p:spPr>
          <a:xfrm>
            <a:off x="15494885" y="13340343"/>
            <a:ext cx="5003348" cy="683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Examples of segmentation improvements are shown in Figure 5.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Number of missed vessels reduced from 16.2% to 3.8% when analyzed in QVT.</a:t>
            </a:r>
          </a:p>
          <a:p>
            <a:pPr marL="903466" lvl="2" indent="-457200" algn="l"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MCA, PCA, and TS accounted for 25/26 missed vessels. </a:t>
            </a:r>
          </a:p>
          <a:p>
            <a:pPr marL="903466" lvl="2" indent="-457200" algn="l"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Average variance of flow along vessel segments was similar for CPS (2.8±2.6%) and QVT (2.9±2.2%).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1285" y="30248626"/>
            <a:ext cx="14742352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spcBef>
                <a:spcPts val="170"/>
              </a:spcBef>
              <a:spcAft>
                <a:spcPts val="170"/>
              </a:spcAft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Flow analysis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was completed in 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13 locations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: internal carotid arteries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ICA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basilar artery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BA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middle cerebral arteries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MCA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posterior cerebral arteries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PCA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straight sinus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SS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superior sagittal sinus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SSS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and transverse sinuses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TS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457200" indent="-457200" algn="l">
              <a:spcBef>
                <a:spcPts val="170"/>
              </a:spcBef>
              <a:spcAft>
                <a:spcPts val="17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Automated vessel segmentation methods were evaluated against a manual segmentation:</a:t>
            </a:r>
          </a:p>
          <a:p>
            <a:pPr marL="903466" lvl="2" indent="-457200" algn="l">
              <a:spcBef>
                <a:spcPts val="170"/>
              </a:spcBef>
              <a:spcAft>
                <a:spcPts val="170"/>
              </a:spcAft>
              <a:buSzPct val="70000"/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K-means segmentation (CPS) </a:t>
            </a:r>
          </a:p>
          <a:p>
            <a:pPr marL="903466" lvl="2" indent="-457200" algn="l">
              <a:spcBef>
                <a:spcPts val="170"/>
              </a:spcBef>
              <a:spcAft>
                <a:spcPts val="170"/>
              </a:spcAft>
              <a:buSzPct val="70000"/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Threshold-based segmentation (QVT) </a:t>
            </a:r>
          </a:p>
          <a:p>
            <a:pPr marL="457200" indent="-457200" algn="l">
              <a:spcBef>
                <a:spcPts val="170"/>
              </a:spcBef>
              <a:spcAft>
                <a:spcPts val="17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Number of missed (non-selectable) vessels were counted for both tools.</a:t>
            </a:r>
          </a:p>
          <a:p>
            <a:pPr marL="457200" indent="-457200" algn="l">
              <a:spcBef>
                <a:spcPts val="170"/>
              </a:spcBef>
              <a:spcAft>
                <a:spcPts val="170"/>
              </a:spcAft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Intra-observer variability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of flow was calculated between two observers.</a:t>
            </a:r>
          </a:p>
          <a:p>
            <a:pPr marL="457200" indent="-457200" algn="l">
              <a:spcBef>
                <a:spcPts val="170"/>
              </a:spcBef>
              <a:spcAft>
                <a:spcPts val="170"/>
              </a:spcAft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Conservation of flow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at ICA, MCA, ACA and TS, SS, SSS junctions was assessed with QVT.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535301" y="18912843"/>
            <a:ext cx="14742352" cy="6078373"/>
            <a:chOff x="727319" y="19761908"/>
            <a:chExt cx="14742352" cy="6078373"/>
          </a:xfrm>
        </p:grpSpPr>
        <p:grpSp>
          <p:nvGrpSpPr>
            <p:cNvPr id="12" name="Group 11"/>
            <p:cNvGrpSpPr/>
            <p:nvPr/>
          </p:nvGrpSpPr>
          <p:grpSpPr>
            <a:xfrm>
              <a:off x="727319" y="19761908"/>
              <a:ext cx="14742352" cy="6078373"/>
              <a:chOff x="727319" y="19761908"/>
              <a:chExt cx="14742352" cy="6078373"/>
            </a:xfrm>
          </p:grpSpPr>
          <p:grpSp>
            <p:nvGrpSpPr>
              <p:cNvPr id="6" name="Group 5"/>
              <p:cNvGrpSpPr/>
              <p:nvPr/>
            </p:nvGrpSpPr>
            <p:grpSpPr>
              <a:xfrm>
                <a:off x="727319" y="19761908"/>
                <a:ext cx="14742352" cy="6078373"/>
                <a:chOff x="486281" y="17170775"/>
                <a:chExt cx="14742352" cy="6078373"/>
              </a:xfrm>
            </p:grpSpPr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CAD0120-CBD0-4730-8C98-BCCEAA87DA25}"/>
                    </a:ext>
                  </a:extLst>
                </p:cNvPr>
                <p:cNvSpPr txBox="1"/>
                <p:nvPr/>
              </p:nvSpPr>
              <p:spPr>
                <a:xfrm>
                  <a:off x="486281" y="22418367"/>
                  <a:ext cx="14742352" cy="830781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</a:ln>
              </p:spPr>
              <p:txBody>
                <a:bodyPr wrap="square" lIns="91226" tIns="45613" rIns="91226" bIns="45613" rtlCol="0">
                  <a:spAutoFit/>
                </a:bodyPr>
                <a:lstStyle/>
                <a:p>
                  <a:pPr algn="l"/>
                  <a:r>
                    <a:rPr lang="en-US" sz="2400" b="1" i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Figure 1</a:t>
                  </a:r>
                  <a:r>
                    <a:rPr lang="en-US" sz="2400" i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: 4D flow post-processing tool with 3D interactive graphical user interface. As the user moves the cursor, the cross-sectional images and flow waveforms are updated in real-time.</a:t>
                  </a:r>
                  <a:endParaRPr lang="en-US" sz="2400" dirty="0"/>
                </a:p>
              </p:txBody>
            </p:sp>
            <p:pic>
              <p:nvPicPr>
                <p:cNvPr id="43" name="Picture 42"/>
                <p:cNvPicPr/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6281" y="17170775"/>
                  <a:ext cx="14742352" cy="5256076"/>
                </a:xfrm>
                <a:prstGeom prst="rect">
                  <a:avLst/>
                </a:prstGeom>
                <a:ln w="3175">
                  <a:solidFill>
                    <a:schemeClr val="tx1"/>
                  </a:solidFill>
                </a:ln>
              </p:spPr>
            </p:pic>
          </p:grpSp>
          <p:sp>
            <p:nvSpPr>
              <p:cNvPr id="11" name="Flowchart: Connector 10"/>
              <p:cNvSpPr/>
              <p:nvPr/>
            </p:nvSpPr>
            <p:spPr bwMode="auto">
              <a:xfrm flipH="1" flipV="1">
                <a:off x="4800489" y="23804761"/>
                <a:ext cx="144016" cy="153408"/>
              </a:xfrm>
              <a:prstGeom prst="flowChartConnector">
                <a:avLst/>
              </a:prstGeom>
              <a:solidFill>
                <a:srgbClr val="CC0000"/>
              </a:solidFill>
              <a:ln w="3175" cap="flat" cmpd="sng" algn="ctr">
                <a:solidFill>
                  <a:schemeClr val="tx1"/>
                </a:solidFill>
                <a:prstDash val="dashDot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45720" rIns="27432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342900" marR="0" indent="-342900" algn="just" defTabSz="1089025" rtl="0" eaLnBrk="1" fontAlgn="base" latinLnBrk="0" hangingPunct="1">
                  <a:lnSpc>
                    <a:spcPct val="100000"/>
                  </a:lnSpc>
                  <a:spcBef>
                    <a:spcPct val="10000"/>
                  </a:spcBef>
                  <a:spcAft>
                    <a:spcPct val="1000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Palatino" pitchFamily="18" charset="0"/>
                </a:endParaRPr>
              </a:p>
            </p:txBody>
          </p:sp>
        </p:grpSp>
        <p:cxnSp>
          <p:nvCxnSpPr>
            <p:cNvPr id="20" name="Elbow Connector 19"/>
            <p:cNvCxnSpPr/>
            <p:nvPr/>
          </p:nvCxnSpPr>
          <p:spPr bwMode="auto">
            <a:xfrm flipV="1">
              <a:off x="4836493" y="20217705"/>
              <a:ext cx="3708412" cy="3643841"/>
            </a:xfrm>
            <a:prstGeom prst="bentConnector3">
              <a:avLst>
                <a:gd name="adj1" fmla="val 50000"/>
              </a:avLst>
            </a:prstGeom>
            <a:noFill/>
            <a:ln w="3175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86F8932B-E273-4034-9E93-2AB5F676C301}"/>
              </a:ext>
            </a:extLst>
          </p:cNvPr>
          <p:cNvSpPr/>
          <p:nvPr/>
        </p:nvSpPr>
        <p:spPr>
          <a:xfrm>
            <a:off x="15556618" y="11540032"/>
            <a:ext cx="1466181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Regression (Figure 4) for both segmentation methods showed high correlation (R=0.96).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Threshold-based segmentation was more accurate compared to manual segmentation (slope=0.93) than k-means segmentation (slope=0.61). 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6F8932B-E273-4034-9E93-2AB5F676C301}"/>
              </a:ext>
            </a:extLst>
          </p:cNvPr>
          <p:cNvSpPr/>
          <p:nvPr/>
        </p:nvSpPr>
        <p:spPr>
          <a:xfrm>
            <a:off x="15564780" y="28705931"/>
            <a:ext cx="5322206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Angiogram and centerline generation times decreased from 48.6 s to 13.2 s.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Automated data loading and processing increased from 3.4 min to 6 min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Processing times (vessel selection and flow validation) decreased from 15.2 min to 5.0 min (1.17 min and 0.38 min per plane).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Memory requirements were reduced from ~6GB to ~1GB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16393777" y="4619255"/>
            <a:ext cx="12486873" cy="6691017"/>
            <a:chOff x="15366264" y="4627671"/>
            <a:chExt cx="11076167" cy="6691017"/>
          </a:xfrm>
        </p:grpSpPr>
        <p:grpSp>
          <p:nvGrpSpPr>
            <p:cNvPr id="5" name="Group 4"/>
            <p:cNvGrpSpPr/>
            <p:nvPr/>
          </p:nvGrpSpPr>
          <p:grpSpPr>
            <a:xfrm>
              <a:off x="15385665" y="4627671"/>
              <a:ext cx="11056766" cy="5860246"/>
              <a:chOff x="5556573" y="25833457"/>
              <a:chExt cx="4704715" cy="2088202"/>
            </a:xfrm>
          </p:grpSpPr>
          <p:pic>
            <p:nvPicPr>
              <p:cNvPr id="58" name="Picture 57"/>
              <p:cNvPicPr/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23218" y="25833457"/>
                <a:ext cx="2338070" cy="2088202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  <p:pic>
            <p:nvPicPr>
              <p:cNvPr id="60" name="Picture 59"/>
              <p:cNvPicPr/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56573" y="25833457"/>
                <a:ext cx="2358390" cy="2088201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CAD0120-CBD0-4730-8C98-BCCEAA87DA25}"/>
                </a:ext>
              </a:extLst>
            </p:cNvPr>
            <p:cNvSpPr txBox="1"/>
            <p:nvPr/>
          </p:nvSpPr>
          <p:spPr>
            <a:xfrm>
              <a:off x="15366264" y="10487907"/>
              <a:ext cx="11076167" cy="83078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lIns="91226" tIns="45613" rIns="91226" bIns="45613" rtlCol="0">
              <a:spAutoFit/>
            </a:bodyPr>
            <a:lstStyle/>
            <a:p>
              <a:pPr algn="l"/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4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: Linear regression (correlation) plots of k-means-derived (CPS) segmented vessel areas and iterative threshold-based (QVT) areas versus ground-truth manual segmentation.</a:t>
              </a:r>
              <a:endParaRPr lang="en-US" sz="24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C643E4B-2715-4EAF-9BE6-E7B620630456}"/>
              </a:ext>
            </a:extLst>
          </p:cNvPr>
          <p:cNvGrpSpPr/>
          <p:nvPr/>
        </p:nvGrpSpPr>
        <p:grpSpPr>
          <a:xfrm>
            <a:off x="552017" y="26761715"/>
            <a:ext cx="14322104" cy="3416104"/>
            <a:chOff x="552017" y="26874003"/>
            <a:chExt cx="14322104" cy="3416104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CAD0120-CBD0-4730-8C98-BCCEAA87DA25}"/>
                </a:ext>
              </a:extLst>
            </p:cNvPr>
            <p:cNvSpPr txBox="1"/>
            <p:nvPr/>
          </p:nvSpPr>
          <p:spPr>
            <a:xfrm>
              <a:off x="10885165" y="26874003"/>
              <a:ext cx="3988956" cy="3416104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lIns="91226" tIns="45613" rIns="91226" bIns="45613" rtlCol="0">
              <a:spAutoFit/>
            </a:bodyPr>
            <a:lstStyle/>
            <a:p>
              <a:pPr algn="l"/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2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: Flowchart for threshold-based segmentation. This algorithm iterates through all possible thresholds and calculates L0-norm. The norm is plotted as a function of threshold, and the point of maximum curvature is the final threshold used.</a:t>
              </a:r>
              <a:endParaRPr lang="en-US" sz="2400" dirty="0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081945A-1C55-40B9-B8FF-C7C13588DD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52017" y="26886157"/>
              <a:ext cx="10347074" cy="340395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</p:grpSp>
      <p:sp>
        <p:nvSpPr>
          <p:cNvPr id="96" name="Rectangle 95">
            <a:extLst>
              <a:ext uri="{FF2B5EF4-FFF2-40B4-BE49-F238E27FC236}">
                <a16:creationId xmlns:a16="http://schemas.microsoft.com/office/drawing/2014/main" id="{19F5E65A-1425-491F-AA43-8563504265DC}"/>
              </a:ext>
            </a:extLst>
          </p:cNvPr>
          <p:cNvSpPr/>
          <p:nvPr/>
        </p:nvSpPr>
        <p:spPr>
          <a:xfrm>
            <a:off x="15574686" y="20353581"/>
            <a:ext cx="1455791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Bland-Altman analysis of flow quantification between users showed a mean difference and 95% CIs of 0.042 [-0.37, 0.45] ml/s with the QVT (Figure 6).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Bias and CIs are reduced when compared to old CPS -0.1 [-1.88,1.68] ml/s.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Internal consistency of flow was observed at vessel junctions for the QVT (Figure 7).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7EEEC24-81F9-492D-85ED-BF171A3CB75A}"/>
              </a:ext>
            </a:extLst>
          </p:cNvPr>
          <p:cNvGrpSpPr/>
          <p:nvPr/>
        </p:nvGrpSpPr>
        <p:grpSpPr>
          <a:xfrm>
            <a:off x="20494765" y="13317234"/>
            <a:ext cx="9184488" cy="6711733"/>
            <a:chOff x="20315948" y="13609610"/>
            <a:chExt cx="9184488" cy="6711733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7F016737-D700-46C0-9577-A4FB708E71B6}"/>
                </a:ext>
              </a:extLst>
            </p:cNvPr>
            <p:cNvGrpSpPr/>
            <p:nvPr/>
          </p:nvGrpSpPr>
          <p:grpSpPr>
            <a:xfrm>
              <a:off x="20315948" y="13610140"/>
              <a:ext cx="9184488" cy="6711203"/>
              <a:chOff x="20401869" y="13714657"/>
              <a:chExt cx="9184488" cy="6711203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9CAD0120-CBD0-4730-8C98-BCCEAA87DA25}"/>
                  </a:ext>
                </a:extLst>
              </p:cNvPr>
              <p:cNvSpPr txBox="1"/>
              <p:nvPr/>
            </p:nvSpPr>
            <p:spPr>
              <a:xfrm>
                <a:off x="20401869" y="19595079"/>
                <a:ext cx="9174587" cy="8307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txBody>
              <a:bodyPr wrap="square" lIns="91226" tIns="45613" rIns="91226" bIns="45613" rtlCol="0">
                <a:spAutoFit/>
              </a:bodyPr>
              <a:lstStyle/>
              <a:p>
                <a:r>
                  <a:rPr lang="en-US" sz="2400" b="1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Figure 5</a:t>
                </a:r>
                <a:r>
                  <a:rPr lang="en-US" sz="24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Old k-means segmentation and new threshold segmentation in transverse sinus (top) and internal carotid artery (bottom). </a:t>
                </a:r>
                <a:endParaRPr lang="en-US" sz="2400" dirty="0"/>
              </a:p>
            </p:txBody>
          </p: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81EF9B7F-60C0-48F6-884E-E8230D4A19DA}"/>
                  </a:ext>
                </a:extLst>
              </p:cNvPr>
              <p:cNvGrpSpPr/>
              <p:nvPr/>
            </p:nvGrpSpPr>
            <p:grpSpPr>
              <a:xfrm>
                <a:off x="20401869" y="13714657"/>
                <a:ext cx="9184488" cy="5898198"/>
                <a:chOff x="16639103" y="14793653"/>
                <a:chExt cx="9184488" cy="5898198"/>
              </a:xfrm>
            </p:grpSpPr>
            <p:grpSp>
              <p:nvGrpSpPr>
                <p:cNvPr id="35" name="Group 34"/>
                <p:cNvGrpSpPr/>
                <p:nvPr/>
              </p:nvGrpSpPr>
              <p:grpSpPr>
                <a:xfrm rot="16200000">
                  <a:off x="19511648" y="11987551"/>
                  <a:ext cx="3235474" cy="8847677"/>
                  <a:chOff x="26526877" y="10208658"/>
                  <a:chExt cx="3235474" cy="8847677"/>
                </a:xfrm>
              </p:grpSpPr>
              <p:grpSp>
                <p:nvGrpSpPr>
                  <p:cNvPr id="32" name="Group 31"/>
                  <p:cNvGrpSpPr/>
                  <p:nvPr/>
                </p:nvGrpSpPr>
                <p:grpSpPr>
                  <a:xfrm>
                    <a:off x="26526877" y="10622604"/>
                    <a:ext cx="3235474" cy="8433731"/>
                    <a:chOff x="19058353" y="11168163"/>
                    <a:chExt cx="3235474" cy="8433731"/>
                  </a:xfrm>
                </p:grpSpPr>
                <p:grpSp>
                  <p:nvGrpSpPr>
                    <p:cNvPr id="2" name="Group 1"/>
                    <p:cNvGrpSpPr/>
                    <p:nvPr/>
                  </p:nvGrpSpPr>
                  <p:grpSpPr>
                    <a:xfrm rot="5400000">
                      <a:off x="16359196" y="13895459"/>
                      <a:ext cx="8133164" cy="2734849"/>
                      <a:chOff x="448727" y="25437627"/>
                      <a:chExt cx="8989796" cy="3182090"/>
                    </a:xfrm>
                  </p:grpSpPr>
                  <p:pic>
                    <p:nvPicPr>
                      <p:cNvPr id="55" name="Picture 54"/>
                      <p:cNvPicPr/>
                      <p:nvPr/>
                    </p:nvPicPr>
                    <p:blipFill>
                      <a:blip r:embed="rId13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448727" y="25437627"/>
                        <a:ext cx="8989796" cy="1637914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56" name="Picture 55"/>
                      <p:cNvPicPr/>
                      <p:nvPr/>
                    </p:nvPicPr>
                    <p:blipFill>
                      <a:blip r:embed="rId14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457207" y="27046286"/>
                        <a:ext cx="8975542" cy="1573431"/>
                      </a:xfrm>
                      <a:prstGeom prst="rect">
                        <a:avLst/>
                      </a:prstGeom>
                    </p:spPr>
                  </p:pic>
                </p:grpSp>
                <p:sp>
                  <p:nvSpPr>
                    <p:cNvPr id="31" name="TextBox 30"/>
                    <p:cNvSpPr txBox="1"/>
                    <p:nvPr/>
                  </p:nvSpPr>
                  <p:spPr>
                    <a:xfrm rot="5400000">
                      <a:off x="21193225" y="11773446"/>
                      <a:ext cx="1703009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Magnitude</a:t>
                      </a:r>
                    </a:p>
                  </p:txBody>
                </p:sp>
                <p:sp>
                  <p:nvSpPr>
                    <p:cNvPr id="61" name="TextBox 60"/>
                    <p:cNvSpPr txBox="1"/>
                    <p:nvPr/>
                  </p:nvSpPr>
                  <p:spPr>
                    <a:xfrm rot="5400000">
                      <a:off x="21169811" y="13939735"/>
                      <a:ext cx="1753460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Comp. Diff.</a:t>
                      </a:r>
                    </a:p>
                  </p:txBody>
                </p:sp>
                <p:sp>
                  <p:nvSpPr>
                    <p:cNvPr id="63" name="TextBox 62"/>
                    <p:cNvSpPr txBox="1"/>
                    <p:nvPr/>
                  </p:nvSpPr>
                  <p:spPr>
                    <a:xfrm rot="5400000">
                      <a:off x="21347239" y="16146991"/>
                      <a:ext cx="1400734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Velocity</a:t>
                      </a:r>
                    </a:p>
                  </p:txBody>
                </p:sp>
                <p:sp>
                  <p:nvSpPr>
                    <p:cNvPr id="64" name="TextBox 63"/>
                    <p:cNvSpPr txBox="1"/>
                    <p:nvPr/>
                  </p:nvSpPr>
                  <p:spPr>
                    <a:xfrm rot="5400000">
                      <a:off x="20979198" y="18301152"/>
                      <a:ext cx="2109040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Binary Mask</a:t>
                      </a:r>
                    </a:p>
                  </p:txBody>
                </p:sp>
              </p:grpSp>
              <p:sp>
                <p:nvSpPr>
                  <p:cNvPr id="65" name="TextBox 64"/>
                  <p:cNvSpPr txBox="1"/>
                  <p:nvPr/>
                </p:nvSpPr>
                <p:spPr>
                  <a:xfrm>
                    <a:off x="27818013" y="10208658"/>
                    <a:ext cx="1319577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US" sz="2200" b="1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k-means</a:t>
                    </a:r>
                  </a:p>
                </p:txBody>
              </p:sp>
              <p:sp>
                <p:nvSpPr>
                  <p:cNvPr id="66" name="TextBox 65"/>
                  <p:cNvSpPr txBox="1"/>
                  <p:nvPr/>
                </p:nvSpPr>
                <p:spPr>
                  <a:xfrm>
                    <a:off x="26542499" y="10219854"/>
                    <a:ext cx="1476892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:r>
                      <a:rPr lang="en-US" sz="2200" b="1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Threshold </a:t>
                    </a:r>
                  </a:p>
                </p:txBody>
              </p:sp>
            </p:grpSp>
            <p:cxnSp>
              <p:nvCxnSpPr>
                <p:cNvPr id="72" name="Straight Connector 71"/>
                <p:cNvCxnSpPr>
                  <a:cxnSpLocks/>
                </p:cNvCxnSpPr>
                <p:nvPr/>
              </p:nvCxnSpPr>
              <p:spPr bwMode="auto">
                <a:xfrm>
                  <a:off x="16658684" y="16677604"/>
                  <a:ext cx="8607547" cy="14262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pic>
              <p:nvPicPr>
                <p:cNvPr id="16" name="Picture 15" descr="A close up of a speaker&#10;&#10;Description automatically generated">
                  <a:extLst>
                    <a:ext uri="{FF2B5EF4-FFF2-40B4-BE49-F238E27FC236}">
                      <a16:creationId xmlns:a16="http://schemas.microsoft.com/office/drawing/2014/main" id="{5287D46E-FFE7-4052-86A2-0AB28BC4DE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151860" y="19337334"/>
                  <a:ext cx="8114371" cy="1349503"/>
                </a:xfrm>
                <a:prstGeom prst="rect">
                  <a:avLst/>
                </a:prstGeom>
              </p:spPr>
            </p:pic>
            <p:pic>
              <p:nvPicPr>
                <p:cNvPr id="18" name="Picture 17" descr="A close up of a red light&#10;&#10;Description automatically generated">
                  <a:extLst>
                    <a:ext uri="{FF2B5EF4-FFF2-40B4-BE49-F238E27FC236}">
                      <a16:creationId xmlns:a16="http://schemas.microsoft.com/office/drawing/2014/main" id="{94FC84D6-BA8F-45FF-8737-1FDB7A0F6E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156437" y="17992454"/>
                  <a:ext cx="8111665" cy="1380884"/>
                </a:xfrm>
                <a:prstGeom prst="rect">
                  <a:avLst/>
                </a:prstGeom>
              </p:spPr>
            </p:pic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065AA945-1415-4838-BA4C-EB0FBDF704B0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6639103" y="15268209"/>
                  <a:ext cx="9174587" cy="36760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4CBF7C18-353C-4A6D-A5BA-8B5D6B055DF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6652425" y="17994517"/>
                  <a:ext cx="9171166" cy="3486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B9DE2574-C8A8-49B7-808B-BC184274BDB5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6658684" y="19373338"/>
                  <a:ext cx="8630787" cy="0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2F430C88-5321-4051-92D4-63A12E9119F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 flipV="1">
                  <a:off x="25268102" y="14807539"/>
                  <a:ext cx="10972" cy="5879298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42ED7382-70E8-4881-BAD3-B1754B793686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 flipV="1">
                  <a:off x="17147629" y="14807540"/>
                  <a:ext cx="13573" cy="5879297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C691E2E3-125E-40F0-BCBF-A6F980917392}"/>
                    </a:ext>
                  </a:extLst>
                </p:cNvPr>
                <p:cNvSpPr txBox="1"/>
                <p:nvPr/>
              </p:nvSpPr>
              <p:spPr>
                <a:xfrm rot="16200000">
                  <a:off x="16300691" y="19796212"/>
                  <a:ext cx="1349504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sz="22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Threshold </a:t>
                  </a:r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6A766093-AB4B-4DBA-8660-1992E0D6E653}"/>
                    </a:ext>
                  </a:extLst>
                </p:cNvPr>
                <p:cNvSpPr txBox="1"/>
                <p:nvPr/>
              </p:nvSpPr>
              <p:spPr>
                <a:xfrm rot="16200000">
                  <a:off x="16274773" y="18621898"/>
                  <a:ext cx="1319577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22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k-means</a:t>
                  </a: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3E283612-E962-47C0-9E86-518E367011A9}"/>
                    </a:ext>
                  </a:extLst>
                </p:cNvPr>
                <p:cNvSpPr txBox="1"/>
                <p:nvPr/>
              </p:nvSpPr>
              <p:spPr>
                <a:xfrm rot="5400000">
                  <a:off x="24274115" y="16449017"/>
                  <a:ext cx="2532946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6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Transverse Sinus</a:t>
                  </a: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A06B5EA1-8854-4949-A9E0-50651CD65F0C}"/>
                    </a:ext>
                  </a:extLst>
                </p:cNvPr>
                <p:cNvSpPr txBox="1"/>
                <p:nvPr/>
              </p:nvSpPr>
              <p:spPr>
                <a:xfrm rot="5400000">
                  <a:off x="24210157" y="19107739"/>
                  <a:ext cx="2675781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6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Int. Carotid Artery</a:t>
                  </a:r>
                </a:p>
              </p:txBody>
            </p:sp>
          </p:grp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7D17A0B-4969-4365-B280-27E4AECB83D8}"/>
                </a:ext>
              </a:extLst>
            </p:cNvPr>
            <p:cNvSpPr/>
            <p:nvPr/>
          </p:nvSpPr>
          <p:spPr bwMode="auto">
            <a:xfrm>
              <a:off x="20315948" y="13609610"/>
              <a:ext cx="9174587" cy="5879297"/>
            </a:xfrm>
            <a:prstGeom prst="rect">
              <a:avLst/>
            </a:prstGeom>
            <a:noFill/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45720" rIns="27432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342900" marR="0" indent="-342900" algn="just" defTabSz="1089025" rtl="0" eaLnBrk="1" fontAlgn="base" latinLnBrk="0" hangingPunct="1">
                <a:lnSpc>
                  <a:spcPct val="100000"/>
                </a:lnSpc>
                <a:spcBef>
                  <a:spcPct val="10000"/>
                </a:spcBef>
                <a:spcAft>
                  <a:spcPct val="1000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alatino" pitchFamily="18" charset="0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3564772-062B-41E3-A142-623B3DC5E6BF}"/>
              </a:ext>
            </a:extLst>
          </p:cNvPr>
          <p:cNvGrpSpPr/>
          <p:nvPr/>
        </p:nvGrpSpPr>
        <p:grpSpPr>
          <a:xfrm>
            <a:off x="16013764" y="22665923"/>
            <a:ext cx="7094714" cy="5751976"/>
            <a:chOff x="15603024" y="22784979"/>
            <a:chExt cx="7094714" cy="5745454"/>
          </a:xfrm>
        </p:grpSpPr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19541" y="22784979"/>
              <a:ext cx="7078197" cy="4914673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8BC4EE5-6255-4D0B-986B-80979CED97BC}"/>
                </a:ext>
              </a:extLst>
            </p:cNvPr>
            <p:cNvSpPr txBox="1"/>
            <p:nvPr/>
          </p:nvSpPr>
          <p:spPr>
            <a:xfrm>
              <a:off x="15603024" y="27699652"/>
              <a:ext cx="7094714" cy="83078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lIns="91226" tIns="45613" rIns="91226" bIns="45613" rtlCol="0">
              <a:spAutoFit/>
            </a:bodyPr>
            <a:lstStyle/>
            <a:p>
              <a:pPr algn="l"/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6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: Bland-Altman plot of inter-observer repeatability for QVT.</a:t>
              </a:r>
              <a:endParaRPr lang="en-US" sz="2400" dirty="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72FC989-F805-4972-B327-141422FBE0AC}"/>
              </a:ext>
            </a:extLst>
          </p:cNvPr>
          <p:cNvGrpSpPr/>
          <p:nvPr/>
        </p:nvGrpSpPr>
        <p:grpSpPr>
          <a:xfrm>
            <a:off x="23104441" y="22677716"/>
            <a:ext cx="6551829" cy="5740183"/>
            <a:chOff x="22680680" y="22854492"/>
            <a:chExt cx="6551829" cy="5670823"/>
          </a:xfrm>
        </p:grpSpPr>
        <p:pic>
          <p:nvPicPr>
            <p:cNvPr id="94" name="Picture 93" descr="A close up of a map&#10;&#10;Description automatically generated">
              <a:extLst>
                <a:ext uri="{FF2B5EF4-FFF2-40B4-BE49-F238E27FC236}">
                  <a16:creationId xmlns:a16="http://schemas.microsoft.com/office/drawing/2014/main" id="{4182771E-0301-4463-9550-13ABE3D9E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94477" y="22854492"/>
              <a:ext cx="6538032" cy="4123247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409E1E44-9630-43E5-9682-56D88B0DC193}"/>
                </a:ext>
              </a:extLst>
            </p:cNvPr>
            <p:cNvSpPr txBox="1"/>
            <p:nvPr/>
          </p:nvSpPr>
          <p:spPr>
            <a:xfrm>
              <a:off x="22680680" y="26974835"/>
              <a:ext cx="6538031" cy="155048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lIns="91226" tIns="45613" rIns="91226" bIns="45613" rtlCol="0">
              <a:spAutoFit/>
            </a:bodyPr>
            <a:lstStyle/>
            <a:p>
              <a:pPr algn="l"/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7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: Linear regression plot of inlet and outlet flow at vessel junctions (ICA, ACA, MCA and SSS, SS, TS junctions). High correlation reflects good internal flow consistency with the QVT.</a:t>
              </a:r>
              <a:endParaRPr lang="en-US" sz="2400" dirty="0"/>
            </a:p>
          </p:txBody>
        </p:sp>
      </p:grpSp>
      <p:pic>
        <p:nvPicPr>
          <p:cNvPr id="81" name="Picture 493" descr="UW_logo_justWhite">
            <a:extLst>
              <a:ext uri="{FF2B5EF4-FFF2-40B4-BE49-F238E27FC236}">
                <a16:creationId xmlns:a16="http://schemas.microsoft.com/office/drawing/2014/main" id="{BA6D0595-D639-274A-8993-D10A090CB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981930" y="317445"/>
            <a:ext cx="2719734" cy="2836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6C06D54C-1213-49F3-BA1C-9DBD6F2602CE}"/>
              </a:ext>
            </a:extLst>
          </p:cNvPr>
          <p:cNvSpPr txBox="1"/>
          <p:nvPr/>
        </p:nvSpPr>
        <p:spPr>
          <a:xfrm>
            <a:off x="403681" y="25105531"/>
            <a:ext cx="14742352" cy="1569444"/>
          </a:xfrm>
          <a:prstGeom prst="rect">
            <a:avLst/>
          </a:prstGeom>
          <a:noFill/>
        </p:spPr>
        <p:txBody>
          <a:bodyPr wrap="square" lIns="91226" tIns="45613" rIns="91226" bIns="45613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threshold-based vessel segmentation algorithm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was developed (Figure 2)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3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Automated calculations of blood flow parameters were completed across the vascular network and color-coded in the 3D interface (Figure 3).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06B5860-5A89-4FF8-BE67-33A1AE08F8BE}"/>
              </a:ext>
            </a:extLst>
          </p:cNvPr>
          <p:cNvGrpSpPr/>
          <p:nvPr/>
        </p:nvGrpSpPr>
        <p:grpSpPr>
          <a:xfrm>
            <a:off x="20884058" y="29264574"/>
            <a:ext cx="8780356" cy="5480843"/>
            <a:chOff x="20884058" y="29396635"/>
            <a:chExt cx="8780356" cy="5480843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08D340A-9DD7-478B-8175-2AE1D4BEF021}"/>
                </a:ext>
              </a:extLst>
            </p:cNvPr>
            <p:cNvSpPr txBox="1"/>
            <p:nvPr/>
          </p:nvSpPr>
          <p:spPr>
            <a:xfrm>
              <a:off x="20884058" y="34398141"/>
              <a:ext cx="8780356" cy="47933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lIns="91226" tIns="45613" rIns="91226" bIns="45613" rtlCol="0">
              <a:spAutoFit/>
            </a:bodyPr>
            <a:lstStyle/>
            <a:p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8: 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Processing times for new and old tool with 16 GB machine</a:t>
              </a:r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  <a:endParaRPr lang="en-US" sz="2400" dirty="0"/>
            </a:p>
          </p:txBody>
        </p:sp>
        <p:pic>
          <p:nvPicPr>
            <p:cNvPr id="7" name="Picture 6" descr="A screenshot of a video game&#10;&#10;Description automatically generated">
              <a:extLst>
                <a:ext uri="{FF2B5EF4-FFF2-40B4-BE49-F238E27FC236}">
                  <a16:creationId xmlns:a16="http://schemas.microsoft.com/office/drawing/2014/main" id="{0C728E07-C94C-4602-8518-BD3C3A81A2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8" t="287" r="4607" b="2162"/>
            <a:stretch/>
          </p:blipFill>
          <p:spPr>
            <a:xfrm>
              <a:off x="20906000" y="29396635"/>
              <a:ext cx="8758414" cy="5001506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4109340156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tx1"/>
          </a:solidFill>
          <a:prstDash val="dashDot"/>
          <a:round/>
          <a:headEnd type="none" w="med" len="med"/>
          <a:tailEnd type="none" w="med" len="med"/>
        </a:ln>
        <a:effectLst/>
      </a:spPr>
      <a:bodyPr vert="horz" wrap="square" lIns="0" tIns="45720" rIns="274320" bIns="45720" numCol="1" anchor="t" anchorCtr="0" compatLnSpc="1">
        <a:prstTxWarp prst="textNoShape">
          <a:avLst/>
        </a:prstTxWarp>
        <a:spAutoFit/>
      </a:bodyPr>
      <a:lstStyle>
        <a:defPPr marL="342900" marR="0" indent="-342900" algn="just" defTabSz="1089025" rtl="0" eaLnBrk="1" fontAlgn="base" latinLnBrk="0" hangingPunct="1">
          <a:lnSpc>
            <a:spcPct val="100000"/>
          </a:lnSpc>
          <a:spcBef>
            <a:spcPct val="10000"/>
          </a:spcBef>
          <a:spcAft>
            <a:spcPct val="10000"/>
          </a:spcAft>
          <a:buClrTx/>
          <a:buSzTx/>
          <a:buFontTx/>
          <a:buNone/>
          <a:tabLst/>
          <a:defRPr kumimoji="0" lang="de-DE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Palatino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tx1"/>
          </a:solidFill>
          <a:prstDash val="dashDot"/>
          <a:round/>
          <a:headEnd type="none" w="med" len="med"/>
          <a:tailEnd type="none" w="med" len="med"/>
        </a:ln>
        <a:effectLst/>
      </a:spPr>
      <a:bodyPr vert="horz" wrap="square" lIns="0" tIns="45720" rIns="274320" bIns="45720" numCol="1" anchor="t" anchorCtr="0" compatLnSpc="1">
        <a:prstTxWarp prst="textNoShape">
          <a:avLst/>
        </a:prstTxWarp>
        <a:spAutoFit/>
      </a:bodyPr>
      <a:lstStyle>
        <a:defPPr marL="342900" marR="0" indent="-342900" algn="just" defTabSz="1089025" rtl="0" eaLnBrk="1" fontAlgn="base" latinLnBrk="0" hangingPunct="1">
          <a:lnSpc>
            <a:spcPct val="100000"/>
          </a:lnSpc>
          <a:spcBef>
            <a:spcPct val="10000"/>
          </a:spcBef>
          <a:spcAft>
            <a:spcPct val="10000"/>
          </a:spcAft>
          <a:buClrTx/>
          <a:buSzTx/>
          <a:buFontTx/>
          <a:buNone/>
          <a:tabLst/>
          <a:defRPr kumimoji="0" lang="de-DE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Palatino" pitchFamily="18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 err="1" smtClean="0"/>
        </a:defPPr>
      </a:lstStyle>
    </a:tx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Balance</Template>
  <TotalTime>135484</TotalTime>
  <Words>1016</Words>
  <Application>Microsoft Office PowerPoint</Application>
  <PresentationFormat>Custom</PresentationFormat>
  <Paragraphs>85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Courier New</vt:lpstr>
      <vt:lpstr>Helvetica</vt:lpstr>
      <vt:lpstr>Palatino</vt:lpstr>
      <vt:lpstr>Standarddesign</vt:lpstr>
      <vt:lpstr>PowerPoint Presentation</vt:lpstr>
    </vt:vector>
  </TitlesOfParts>
  <Company>UW Madison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Benjamin Titz</dc:creator>
  <cp:lastModifiedBy>Grant Roberts</cp:lastModifiedBy>
  <cp:revision>1177</cp:revision>
  <cp:lastPrinted>2019-08-21T22:37:20Z</cp:lastPrinted>
  <dcterms:created xsi:type="dcterms:W3CDTF">2006-01-13T03:24:31Z</dcterms:created>
  <dcterms:modified xsi:type="dcterms:W3CDTF">2020-03-02T18:20:37Z</dcterms:modified>
</cp:coreProperties>
</file>