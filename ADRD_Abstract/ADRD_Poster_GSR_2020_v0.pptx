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67275" cy="42794238"/>
  <p:notesSz cx="7010400" cy="9296400"/>
  <p:defaultTextStyle>
    <a:defPPr>
      <a:defRPr lang="de-DE"/>
    </a:defPPr>
    <a:lvl1pPr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1pPr>
    <a:lvl2pPr marL="222655" indent="7358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2pPr>
    <a:lvl3pPr marL="446266" indent="148119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3pPr>
    <a:lvl4pPr marL="669877" indent="222655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4pPr>
    <a:lvl5pPr marL="893488" indent="29719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5pPr>
    <a:lvl6pPr marL="137606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6pPr>
    <a:lvl7pPr marL="1651280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7pPr>
    <a:lvl8pPr marL="1926494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8pPr>
    <a:lvl9pPr marL="220170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2" userDrawn="1">
          <p15:clr>
            <a:srgbClr val="A4A3A4"/>
          </p15:clr>
        </p15:guide>
        <p15:guide id="2" pos="6545" userDrawn="1">
          <p15:clr>
            <a:srgbClr val="A4A3A4"/>
          </p15:clr>
        </p15:guide>
        <p15:guide id="3" orient="horz" pos="13479" userDrawn="1">
          <p15:clr>
            <a:srgbClr val="A4A3A4"/>
          </p15:clr>
        </p15:guide>
        <p15:guide id="4" pos="63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er Francois" initials="CF" lastIdx="2" clrIdx="0"/>
  <p:cmAuthor id="1" name="Grant Roberts" initials="GR" lastIdx="1" clrIdx="1">
    <p:extLst>
      <p:ext uri="{19B8F6BF-5375-455C-9EA6-DF929625EA0E}">
        <p15:presenceInfo xmlns:p15="http://schemas.microsoft.com/office/powerpoint/2012/main" userId="S-1-5-21-429934397-719916749-7473742-826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BD2D1"/>
    <a:srgbClr val="FF9F9F"/>
    <a:srgbClr val="EF5F5F"/>
    <a:srgbClr val="CC3300"/>
    <a:srgbClr val="FF8181"/>
    <a:srgbClr val="FF5050"/>
    <a:srgbClr val="F57E7B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after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50000" autoAdjust="0"/>
  </p:normalViewPr>
  <p:slideViewPr>
    <p:cSldViewPr snapToObjects="1">
      <p:cViewPr>
        <p:scale>
          <a:sx n="25" d="100"/>
          <a:sy n="25" d="100"/>
        </p:scale>
        <p:origin x="1260" y="-216"/>
      </p:cViewPr>
      <p:guideLst>
        <p:guide orient="horz" pos="14602"/>
        <p:guide pos="6545"/>
        <p:guide orient="horz" pos="13479"/>
        <p:guide pos="63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F301BB9D-AE35-458D-A77C-FBC70C2CA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3300" y="698500"/>
            <a:ext cx="24638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297" y="4416132"/>
            <a:ext cx="5607807" cy="418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2853EC76-F560-4EC2-8FC4-BEB8E0128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4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1pPr>
    <a:lvl2pPr marL="222655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2pPr>
    <a:lvl3pPr marL="446266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3pPr>
    <a:lvl4pPr marL="669877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4pPr>
    <a:lvl5pPr marL="893488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5pPr>
    <a:lvl6pPr marL="1118020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6pPr>
    <a:lvl7pPr marL="1341624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7pPr>
    <a:lvl8pPr marL="1565228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8pPr>
    <a:lvl9pPr marL="1788832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2551E-1CAC-4AF7-90DA-482FA83708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3300" y="698500"/>
            <a:ext cx="2463800" cy="3486150"/>
          </a:xfrm>
          <a:ln/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490" y="13294261"/>
            <a:ext cx="25726307" cy="9172407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9878" y="24249770"/>
            <a:ext cx="21187531" cy="1093692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 algn="ctr">
              <a:buNone/>
              <a:defRPr/>
            </a:lvl1pPr>
            <a:lvl2pPr marL="111280" indent="0" algn="ctr">
              <a:buNone/>
              <a:defRPr/>
            </a:lvl2pPr>
            <a:lvl3pPr marL="222558" indent="0" algn="ctr">
              <a:buNone/>
              <a:defRPr/>
            </a:lvl3pPr>
            <a:lvl4pPr marL="333838" indent="0" algn="ctr">
              <a:buNone/>
              <a:defRPr/>
            </a:lvl4pPr>
            <a:lvl5pPr marL="445119" indent="0" algn="ctr">
              <a:buNone/>
              <a:defRPr/>
            </a:lvl5pPr>
            <a:lvl6pPr marL="556398" indent="0" algn="ctr">
              <a:buNone/>
              <a:defRPr/>
            </a:lvl6pPr>
            <a:lvl7pPr marL="667677" indent="0" algn="ctr">
              <a:buNone/>
              <a:defRPr/>
            </a:lvl7pPr>
            <a:lvl8pPr marL="778957" indent="0" algn="ctr">
              <a:buNone/>
              <a:defRPr/>
            </a:lvl8pPr>
            <a:lvl9pPr marL="89023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11" y="27498651"/>
            <a:ext cx="25727402" cy="8500648"/>
          </a:xfrm>
          <a:prstGeom prst="rect">
            <a:avLst/>
          </a:prstGeom>
        </p:spPr>
        <p:txBody>
          <a:bodyPr lIns="68412" tIns="34205" rIns="68412" bIns="34205" anchor="t"/>
          <a:lstStyle>
            <a:lvl1pPr algn="l">
              <a:defRPr sz="9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11" y="18137404"/>
            <a:ext cx="25727402" cy="9361240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488"/>
            </a:lvl1pPr>
            <a:lvl2pPr marL="111280" indent="0">
              <a:buNone/>
              <a:defRPr sz="455"/>
            </a:lvl2pPr>
            <a:lvl3pPr marL="222558" indent="0">
              <a:buNone/>
              <a:defRPr sz="390"/>
            </a:lvl3pPr>
            <a:lvl4pPr marL="333838" indent="0">
              <a:buNone/>
              <a:defRPr sz="358"/>
            </a:lvl4pPr>
            <a:lvl5pPr marL="445119" indent="0">
              <a:buNone/>
              <a:defRPr sz="358"/>
            </a:lvl5pPr>
            <a:lvl6pPr marL="556398" indent="0">
              <a:buNone/>
              <a:defRPr sz="358"/>
            </a:lvl6pPr>
            <a:lvl7pPr marL="667677" indent="0">
              <a:buNone/>
              <a:defRPr sz="358"/>
            </a:lvl7pPr>
            <a:lvl8pPr marL="778957" indent="0">
              <a:buNone/>
              <a:defRPr sz="358"/>
            </a:lvl8pPr>
            <a:lvl9pPr marL="890237" indent="0">
              <a:buNone/>
              <a:defRPr sz="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931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86198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931" y="9579491"/>
            <a:ext cx="13373300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931" y="13571325"/>
            <a:ext cx="13373300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579" y="9579491"/>
            <a:ext cx="13378775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579" y="13571325"/>
            <a:ext cx="13378775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3" y="1704157"/>
            <a:ext cx="9957725" cy="7251557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4109" y="1704170"/>
            <a:ext cx="16920247" cy="3652400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781"/>
            </a:lvl1pPr>
            <a:lvl2pPr>
              <a:defRPr sz="684"/>
            </a:lvl2pPr>
            <a:lvl3pPr>
              <a:defRPr sz="587"/>
            </a:lvl3pPr>
            <a:lvl4pPr>
              <a:defRPr sz="488"/>
            </a:lvl4pPr>
            <a:lvl5pPr>
              <a:defRPr sz="488"/>
            </a:lvl5pPr>
            <a:lvl6pPr>
              <a:defRPr sz="488"/>
            </a:lvl6pPr>
            <a:lvl7pPr>
              <a:defRPr sz="488"/>
            </a:lvl7pPr>
            <a:lvl8pPr>
              <a:defRPr sz="488"/>
            </a:lvl8pPr>
            <a:lvl9pPr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933" y="8955715"/>
            <a:ext cx="9957725" cy="29272448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387" y="29956596"/>
            <a:ext cx="18160583" cy="3535231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387" y="3823135"/>
            <a:ext cx="18160583" cy="2567685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781"/>
            </a:lvl1pPr>
            <a:lvl2pPr marL="111280" indent="0">
              <a:buNone/>
              <a:defRPr sz="684"/>
            </a:lvl2pPr>
            <a:lvl3pPr marL="222558" indent="0">
              <a:buNone/>
              <a:defRPr sz="587"/>
            </a:lvl3pPr>
            <a:lvl4pPr marL="333838" indent="0">
              <a:buNone/>
              <a:defRPr sz="488"/>
            </a:lvl4pPr>
            <a:lvl5pPr marL="445119" indent="0">
              <a:buNone/>
              <a:defRPr sz="488"/>
            </a:lvl5pPr>
            <a:lvl6pPr marL="556398" indent="0">
              <a:buNone/>
              <a:defRPr sz="488"/>
            </a:lvl6pPr>
            <a:lvl7pPr marL="667677" indent="0">
              <a:buNone/>
              <a:defRPr sz="488"/>
            </a:lvl7pPr>
            <a:lvl8pPr marL="778957" indent="0">
              <a:buNone/>
              <a:defRPr sz="488"/>
            </a:lvl8pPr>
            <a:lvl9pPr marL="890237" indent="0">
              <a:buNone/>
              <a:defRPr sz="4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387" y="33491823"/>
            <a:ext cx="18160583" cy="5022690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4003" y="1713446"/>
            <a:ext cx="6810355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2" y="1713446"/>
            <a:ext cx="20325973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+mj-lt"/>
          <a:ea typeface="+mj-ea"/>
          <a:cs typeface="+mj-cs"/>
        </a:defRPr>
      </a:lvl1pPr>
      <a:lvl2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2pPr>
      <a:lvl3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3pPr>
      <a:lvl4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4pPr>
      <a:lvl5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5pPr>
      <a:lvl6pPr marL="111280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6pPr>
      <a:lvl7pPr marL="22255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7pPr>
      <a:lvl8pPr marL="33383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8pPr>
      <a:lvl9pPr marL="445119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9pPr>
    </p:titleStyle>
    <p:bodyStyle>
      <a:lvl1pPr marL="99394" indent="-99394" algn="l" defTabSz="264417" rtl="0" eaLnBrk="0" fontAlgn="base" hangingPunct="0">
        <a:spcBef>
          <a:spcPct val="20000"/>
        </a:spcBef>
        <a:spcAft>
          <a:spcPct val="0"/>
        </a:spcAft>
        <a:buChar char="•"/>
        <a:defRPr sz="944">
          <a:solidFill>
            <a:schemeClr val="tx1"/>
          </a:solidFill>
          <a:latin typeface="+mn-lt"/>
          <a:ea typeface="+mn-ea"/>
          <a:cs typeface="+mn-cs"/>
        </a:defRPr>
      </a:lvl1pPr>
      <a:lvl2pPr marL="213530" indent="-82274" algn="l" defTabSz="264417" rtl="0" eaLnBrk="0" fontAlgn="base" hangingPunct="0">
        <a:spcBef>
          <a:spcPct val="20000"/>
        </a:spcBef>
        <a:spcAft>
          <a:spcPct val="0"/>
        </a:spcAft>
        <a:buChar char="–"/>
        <a:defRPr sz="813">
          <a:solidFill>
            <a:schemeClr val="tx1"/>
          </a:solidFill>
          <a:latin typeface="+mn-lt"/>
        </a:defRPr>
      </a:lvl2pPr>
      <a:lvl3pPr marL="330520" indent="-65153" algn="l" defTabSz="264417" rtl="0" eaLnBrk="0" fontAlgn="base" hangingPunct="0">
        <a:spcBef>
          <a:spcPct val="20000"/>
        </a:spcBef>
        <a:spcAft>
          <a:spcPct val="0"/>
        </a:spcAft>
        <a:buChar char="•"/>
        <a:defRPr sz="651">
          <a:solidFill>
            <a:schemeClr val="tx1"/>
          </a:solidFill>
          <a:latin typeface="+mn-lt"/>
        </a:defRPr>
      </a:lvl3pPr>
      <a:lvl4pPr marL="461776" indent="-65153" algn="l" defTabSz="264417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594937" indent="-65153" algn="l" defTabSz="264417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706703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6pPr>
      <a:lvl7pPr marL="81798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7pPr>
      <a:lvl8pPr marL="929264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8pPr>
      <a:lvl9pPr marL="104054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1pPr>
      <a:lvl2pPr marL="11128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2pPr>
      <a:lvl3pPr marL="22255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3pPr>
      <a:lvl4pPr marL="33383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4pPr>
      <a:lvl5pPr marL="445119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5pPr>
      <a:lvl6pPr marL="55639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6pPr>
      <a:lvl7pPr marL="66767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7pPr>
      <a:lvl8pPr marL="77895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8pPr>
      <a:lvl9pPr marL="89023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Picture 485" descr="BannerBla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717"/>
            <a:ext cx="30333152" cy="3493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2968334" y="160357"/>
            <a:ext cx="24081033" cy="315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lIns="24406" tIns="12203" rIns="24406" bIns="12203">
            <a:spAutoFit/>
          </a:bodyPr>
          <a:lstStyle/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5800" b="1" dirty="0">
                <a:solidFill>
                  <a:schemeClr val="bg1"/>
                </a:solidFill>
                <a:latin typeface="Arial" charset="0"/>
              </a:rPr>
              <a:t>Towards Automated Cranial 4D Flow MRI Analysis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1800" b="1" dirty="0">
                <a:solidFill>
                  <a:schemeClr val="bg1"/>
                </a:solidFill>
                <a:latin typeface="Arial" charset="0"/>
              </a:rPr>
              <a:t> 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Carson Hoffman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Grant Roberts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Sara Berman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Laura Eisenmenger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and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Oliver Wieben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1,2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endParaRPr lang="en-US" altLang="en-US" sz="1600" b="1" baseline="30000" dirty="0">
              <a:solidFill>
                <a:schemeClr val="bg1"/>
              </a:solidFill>
              <a:latin typeface="Arial" charset="0"/>
            </a:endParaRP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Departments of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Medical Physics and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Radiology, University of Wisconsin – Madison</a:t>
            </a: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sz="3600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Arial" charset="0"/>
              </a:rPr>
              <a:t>Alzheimer’s Disease Research Center, 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University of Wisconsin – Madison</a:t>
            </a:r>
          </a:p>
        </p:txBody>
      </p:sp>
      <p:pic>
        <p:nvPicPr>
          <p:cNvPr id="73" name="Picture 493" descr="UW_logo_just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174" y="328197"/>
            <a:ext cx="2574123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86"/>
          <p:cNvSpPr>
            <a:spLocks noChangeArrowheads="1"/>
          </p:cNvSpPr>
          <p:nvPr/>
        </p:nvSpPr>
        <p:spPr bwMode="auto">
          <a:xfrm>
            <a:off x="594684" y="3700085"/>
            <a:ext cx="14633949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SYNOPSIS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7" name="Rectangle 86"/>
          <p:cNvSpPr>
            <a:spLocks noChangeArrowheads="1"/>
          </p:cNvSpPr>
          <p:nvPr/>
        </p:nvSpPr>
        <p:spPr bwMode="auto">
          <a:xfrm>
            <a:off x="611009" y="6019988"/>
            <a:ext cx="14617624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BACKGROUND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8" name="Rectangle 86"/>
          <p:cNvSpPr>
            <a:spLocks noChangeArrowheads="1"/>
          </p:cNvSpPr>
          <p:nvPr/>
        </p:nvSpPr>
        <p:spPr bwMode="auto">
          <a:xfrm>
            <a:off x="15574686" y="3717431"/>
            <a:ext cx="14401800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RESULTS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9" name="Rectangle 86"/>
          <p:cNvSpPr>
            <a:spLocks noChangeArrowheads="1"/>
          </p:cNvSpPr>
          <p:nvPr/>
        </p:nvSpPr>
        <p:spPr bwMode="auto">
          <a:xfrm>
            <a:off x="498174" y="14412343"/>
            <a:ext cx="14949246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METHODS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2" name="Rectangle 86"/>
          <p:cNvSpPr>
            <a:spLocks noChangeArrowheads="1"/>
          </p:cNvSpPr>
          <p:nvPr/>
        </p:nvSpPr>
        <p:spPr bwMode="auto">
          <a:xfrm>
            <a:off x="15452822" y="35480671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DISCUSSION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94683" y="4494617"/>
            <a:ext cx="14791467" cy="1384778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purpose of this project is to develop a 4D flow post-processing analysis tool that includes an interactive visual interface, allowing for quick, easy, and repeatable hemodynamic analysis of large, complex 4D flow datasets.</a:t>
            </a:r>
          </a:p>
        </p:txBody>
      </p:sp>
      <p:sp>
        <p:nvSpPr>
          <p:cNvPr id="24" name="Rectangle 86">
            <a:extLst>
              <a:ext uri="{FF2B5EF4-FFF2-40B4-BE49-F238E27FC236}">
                <a16:creationId xmlns:a16="http://schemas.microsoft.com/office/drawing/2014/main" id="{081A5B49-55D6-4A97-9EAB-3CC9A0B0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65685" y="40511820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REFERENCES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B5B2C-64B3-438C-95E1-C17EC28996E9}"/>
              </a:ext>
            </a:extLst>
          </p:cNvPr>
          <p:cNvSpPr/>
          <p:nvPr/>
        </p:nvSpPr>
        <p:spPr>
          <a:xfrm>
            <a:off x="15592488" y="41294613"/>
            <a:ext cx="13997132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Schrauben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E. et al.  JMRI 2015; 42:1458-64</a:t>
            </a:r>
            <a:r>
              <a:rPr lang="en-US" dirty="0"/>
              <a:t>.</a:t>
            </a:r>
          </a:p>
          <a:p>
            <a:pPr algn="l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T. et al.  AJNR 2008; 26:743-749 </a:t>
            </a:r>
          </a:p>
          <a:p>
            <a:pPr algn="l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[3]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Johnson, KM. et al.  MRM 2008; 60(6):1329-1336</a:t>
            </a:r>
          </a:p>
        </p:txBody>
      </p:sp>
      <p:pic>
        <p:nvPicPr>
          <p:cNvPr id="37" name="Picture 493" descr="UW_logo_justWhite">
            <a:extLst>
              <a:ext uri="{FF2B5EF4-FFF2-40B4-BE49-F238E27FC236}">
                <a16:creationId xmlns:a16="http://schemas.microsoft.com/office/drawing/2014/main" id="{53EBF79E-C946-B14F-8ECA-9760597C4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213142" y="328197"/>
            <a:ext cx="2574123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TextBox 39"/>
          <p:cNvSpPr txBox="1"/>
          <p:nvPr/>
        </p:nvSpPr>
        <p:spPr>
          <a:xfrm>
            <a:off x="546429" y="6815210"/>
            <a:ext cx="14645842" cy="7571087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4D flow MRI non-invasively acquires time-resolved, 3D velocity maps in-vivo </a:t>
            </a:r>
          </a:p>
          <a:p>
            <a:pPr marL="903466" lvl="2" indent="-457200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Shows vascular anatomy 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allows for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calculations of blood flow parameters</a:t>
            </a:r>
          </a:p>
          <a:p>
            <a:pPr marL="903466" lvl="2" indent="-457200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However, detailed analysis requires long post-processing times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Goal: Develop a quantitative velocity tool (QVT) that automates 4D flow post-processing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This improves upon an older cranial 4D flow centerline processing scheme (CPS)</a:t>
            </a:r>
            <a:r>
              <a:rPr lang="en-US" sz="30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by: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Automating blood flow parameter calculation prior to vessel selection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Creating an interactive 3D user interface with color-coding of flow parameters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Improving automated segmentation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Automating background phase correction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Reducing memory requirements</a:t>
            </a:r>
          </a:p>
          <a:p>
            <a:pPr marL="960616" lvl="2" indent="-514350"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Allowing for reloading of pre-processed exams</a:t>
            </a:r>
          </a:p>
          <a:p>
            <a:pPr marL="514350" indent="-514350">
              <a:buSzPct val="7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 small in-vivo study will be performed to assess CPS and QVT segmentation performances, interobserver variabilities, number of missed vessels, and total time to process cases.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174" y="15168427"/>
            <a:ext cx="14742352" cy="3139105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4D flow brain scans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acquired on healthy volunteers.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PC-VIPR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acquisition; field strength = 3T; volume = 22 cm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spatial res. = 0.69 mm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V</a:t>
            </a:r>
            <a:r>
              <a:rPr lang="en-US" sz="3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ENC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= 80 cm/s; scan time = 7 min., retrospective cardiac gating (20 frames).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The QVT graphical interface (Figure 1) was developed in MATLAB18b (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Mathworks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MA).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Blood flow parameters were automatically calculated across the vascular network and color-coded in the 3D interface (Figure 3).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422698" y="24853503"/>
            <a:ext cx="148933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novel threshold-based vessel segmentation algorithm was developed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(Figure 2)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77D846-209E-4A89-9169-28106A94B2F9}"/>
              </a:ext>
            </a:extLst>
          </p:cNvPr>
          <p:cNvSpPr/>
          <p:nvPr/>
        </p:nvSpPr>
        <p:spPr>
          <a:xfrm>
            <a:off x="15447420" y="36231059"/>
            <a:ext cx="14391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QVT provided improved angiograms, better centerline generation, quick vessel selection, automated background phase correction, easy visualization of quantitative parameters, and less computer memory requirements.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Analysis tools with high repeatability and robustness are extremely desirable for high volume and for long-term cranial flow studies.</a:t>
            </a:r>
          </a:p>
          <a:p>
            <a:pPr marL="903466" lvl="2" indent="-457200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Both tools showed high user repeatability with a slight improvement for QVT. </a:t>
            </a:r>
          </a:p>
          <a:p>
            <a:pPr marL="903466" lvl="2" indent="-457200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Local flow measurements at selected vessel locations were small (&lt;3%)</a:t>
            </a:r>
            <a:endParaRPr lang="en-US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Additional users and cases will help further investigate repeatability between tools.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6C062E-F8E5-4B26-9749-276F8BB3FF0C}"/>
              </a:ext>
            </a:extLst>
          </p:cNvPr>
          <p:cNvGrpSpPr/>
          <p:nvPr/>
        </p:nvGrpSpPr>
        <p:grpSpPr>
          <a:xfrm>
            <a:off x="673800" y="34542612"/>
            <a:ext cx="13659761" cy="7905740"/>
            <a:chOff x="18038672" y="4714144"/>
            <a:chExt cx="11732703" cy="8137601"/>
          </a:xfrm>
        </p:grpSpPr>
        <p:grpSp>
          <p:nvGrpSpPr>
            <p:cNvPr id="46" name="Group 45"/>
            <p:cNvGrpSpPr/>
            <p:nvPr/>
          </p:nvGrpSpPr>
          <p:grpSpPr>
            <a:xfrm>
              <a:off x="18055137" y="4714144"/>
              <a:ext cx="11716238" cy="7648453"/>
              <a:chOff x="0" y="0"/>
              <a:chExt cx="5703888" cy="3436303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851150" cy="171894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0"/>
                <a:ext cx="2851150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1719263"/>
                <a:ext cx="2890999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1714500"/>
                <a:ext cx="2851150" cy="172148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6431EE-3171-4F5C-A3D1-B27402BA3267}"/>
                </a:ext>
              </a:extLst>
            </p:cNvPr>
            <p:cNvSpPr/>
            <p:nvPr/>
          </p:nvSpPr>
          <p:spPr>
            <a:xfrm>
              <a:off x="18038672" y="12376540"/>
              <a:ext cx="11732702" cy="47520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3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Quantitative parameters (area, flow, velocity) color-coded on automatically-generated centerlines.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04253" y="13216287"/>
            <a:ext cx="5042174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Examples of segmentation improvements are shown in Figure 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reduced from 16.2% to 3.8% when analyzed in QVT.</a:t>
            </a:r>
          </a:p>
          <a:p>
            <a:pPr marL="903466" lvl="2" indent="-457200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MCA, PCA, and TS accounted for 25/26 missed vessels. </a:t>
            </a:r>
          </a:p>
          <a:p>
            <a:pPr marL="903466" lvl="2" indent="-457200"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Average local flow quantification errors were similar was for CPS (2.8±2.6%) and QVT (2.9±2.2%).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49" y="29298252"/>
            <a:ext cx="1464584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Flow analysis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completed in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13 locations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: internal carotid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basilar artery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middle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MCA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posterior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straight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superior sagittal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and transverse sinuses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K-means segmentation (CPS) and threshold-based segmentation (QVT) were compared to ground-truth manual segmentation at these vessel locations using correlation plots.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were counted for both tools.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Intra-observer variability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of flow measures were calculated between 2 observers.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Local flow variations along vessel were calculated for both tools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to assess flow consistency.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Conservation of flow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at ICA, MCA, ACA and TS, SS, SSS junctions was assessed for the QVT only. 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98174" y="18487098"/>
            <a:ext cx="14742352" cy="6078373"/>
            <a:chOff x="727319" y="19761908"/>
            <a:chExt cx="14742352" cy="6078373"/>
          </a:xfrm>
        </p:grpSpPr>
        <p:grpSp>
          <p:nvGrpSpPr>
            <p:cNvPr id="12" name="Group 11"/>
            <p:cNvGrpSpPr/>
            <p:nvPr/>
          </p:nvGrpSpPr>
          <p:grpSpPr>
            <a:xfrm>
              <a:off x="727319" y="19761908"/>
              <a:ext cx="14742352" cy="6078373"/>
              <a:chOff x="727319" y="19761908"/>
              <a:chExt cx="14742352" cy="607837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727319" y="19761908"/>
                <a:ext cx="14742352" cy="6078373"/>
                <a:chOff x="486281" y="17170775"/>
                <a:chExt cx="14742352" cy="6078373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AD0120-CBD0-4730-8C98-BCCEAA87DA25}"/>
                    </a:ext>
                  </a:extLst>
                </p:cNvPr>
                <p:cNvSpPr txBox="1"/>
                <p:nvPr/>
              </p:nvSpPr>
              <p:spPr>
                <a:xfrm>
                  <a:off x="486281" y="22418367"/>
                  <a:ext cx="14742352" cy="830781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txBody>
                <a:bodyPr wrap="square" lIns="91226" tIns="45613" rIns="91226" bIns="45613" rtlCol="0">
                  <a:spAutoFit/>
                </a:bodyPr>
                <a:lstStyle/>
                <a:p>
                  <a:r>
                    <a:rPr lang="en-US" sz="24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Figure 1</a:t>
                  </a:r>
                  <a:r>
                    <a:rPr lang="en-US" sz="2400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 4D flow post processing tool with 3D interactive graphical user interface. As the user moves the cursor in 3D the cross-sectional images and flow waveforms are updated in real-time.</a:t>
                  </a:r>
                  <a:endParaRPr lang="en-US" sz="2400" dirty="0"/>
                </a:p>
              </p:txBody>
            </p:sp>
            <p:pic>
              <p:nvPicPr>
                <p:cNvPr id="43" name="Picture 42"/>
                <p:cNvPicPr/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6281" y="17170775"/>
                  <a:ext cx="14742352" cy="5256076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</p:grpSp>
          <p:sp>
            <p:nvSpPr>
              <p:cNvPr id="11" name="Flowchart: Connector 10"/>
              <p:cNvSpPr/>
              <p:nvPr/>
            </p:nvSpPr>
            <p:spPr bwMode="auto">
              <a:xfrm flipH="1" flipV="1">
                <a:off x="4800489" y="23804761"/>
                <a:ext cx="144016" cy="153408"/>
              </a:xfrm>
              <a:prstGeom prst="flowChartConnector">
                <a:avLst/>
              </a:prstGeom>
              <a:solidFill>
                <a:srgbClr val="CC0000"/>
              </a:solidFill>
              <a:ln w="3175" cap="flat" cmpd="sng" algn="ctr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27432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indent="-342900" algn="just" defTabSz="1089025" rtl="0" eaLnBrk="1" fontAlgn="base" latinLnBrk="0" hangingPunct="1">
                  <a:lnSpc>
                    <a:spcPct val="100000"/>
                  </a:lnSpc>
                  <a:spcBef>
                    <a:spcPct val="10000"/>
                  </a:spcBef>
                  <a:spcAft>
                    <a:spcPct val="1000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Palatino" pitchFamily="18" charset="0"/>
                </a:endParaRPr>
              </a:p>
            </p:txBody>
          </p:sp>
        </p:grpSp>
        <p:cxnSp>
          <p:nvCxnSpPr>
            <p:cNvPr id="20" name="Elbow Connector 19"/>
            <p:cNvCxnSpPr/>
            <p:nvPr/>
          </p:nvCxnSpPr>
          <p:spPr bwMode="auto">
            <a:xfrm flipV="1">
              <a:off x="4836493" y="20217705"/>
              <a:ext cx="3708412" cy="3643841"/>
            </a:xfrm>
            <a:prstGeom prst="bentConnector3">
              <a:avLst>
                <a:gd name="adj1" fmla="val 50000"/>
              </a:avLst>
            </a:prstGeom>
            <a:noFill/>
            <a:ln w="317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12231" y="11577457"/>
            <a:ext cx="14661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Regression (Figure 4) for both segmentation methods showed high correlation (R=0.96).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Threshold-based segmentation was more accurate compared to ground-truth manual segmentation (slope=0.93) than k-means segmentation (slope=0.61).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12231" y="29048586"/>
            <a:ext cx="532220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Angiogram and centerline generation times decreased from 48.6 s to 13.2 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Vessel selection and flow verification times decreased from 15.2 min to 5.0 min (1.17 min and 0.38 min per plane).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Memory requirements were greatly reduced.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Saved cases could be loaded into the tool in ~10 seconds.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6724851" y="4689079"/>
            <a:ext cx="12486873" cy="6691017"/>
            <a:chOff x="15366264" y="4627671"/>
            <a:chExt cx="11076167" cy="6691017"/>
          </a:xfrm>
        </p:grpSpPr>
        <p:grpSp>
          <p:nvGrpSpPr>
            <p:cNvPr id="5" name="Group 4"/>
            <p:cNvGrpSpPr/>
            <p:nvPr/>
          </p:nvGrpSpPr>
          <p:grpSpPr>
            <a:xfrm>
              <a:off x="15385665" y="4627671"/>
              <a:ext cx="11056766" cy="5860246"/>
              <a:chOff x="5556573" y="25833457"/>
              <a:chExt cx="4704715" cy="2088202"/>
            </a:xfrm>
          </p:grpSpPr>
          <p:pic>
            <p:nvPicPr>
              <p:cNvPr id="58" name="Picture 57"/>
              <p:cNvPicPr/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218" y="25833457"/>
                <a:ext cx="2338070" cy="2088202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60" name="Picture 59"/>
              <p:cNvPicPr/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6573" y="25833457"/>
                <a:ext cx="2358390" cy="2088201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5366264" y="10487907"/>
              <a:ext cx="11076167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4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(correlation) plots of k-means-derived (CPS) segmented vessel areas and iterative threshold-based (QVT) areas versus ground-truth manual segmentation.</a:t>
              </a:r>
              <a:endParaRPr lang="en-US" sz="2400" dirty="0"/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9CAD0120-CBD0-4730-8C98-BCCEAA87DA25}"/>
              </a:ext>
            </a:extLst>
          </p:cNvPr>
          <p:cNvSpPr txBox="1"/>
          <p:nvPr/>
        </p:nvSpPr>
        <p:spPr>
          <a:xfrm>
            <a:off x="10933829" y="25685871"/>
            <a:ext cx="3988956" cy="341610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226" tIns="45613" rIns="91226" bIns="45613" rtlCol="0">
            <a:spAutoFit/>
          </a:bodyPr>
          <a:lstStyle/>
          <a:p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Figure 2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: Flowchart for threshold-based segmentation. This algorithm iterates through all possible thresholds and calculates L0-norm. The norm is plotted as a function of threshold, and the point of maximum curvature is the final threshold used.</a:t>
            </a:r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81945A-1C55-40B9-B8FF-C7C13588DD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021" y="25698025"/>
            <a:ext cx="10347074" cy="340395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19F5E65A-1425-491F-AA43-8563504265DC}"/>
              </a:ext>
            </a:extLst>
          </p:cNvPr>
          <p:cNvSpPr/>
          <p:nvPr/>
        </p:nvSpPr>
        <p:spPr>
          <a:xfrm>
            <a:off x="15592488" y="20189919"/>
            <a:ext cx="145579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Bland-Altman analysis of flow quantification between users showed a mean difference and 95% CIs of 0.042 [-0.37, 0.45] ml/s with the QVT (Figure 6).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Bias and CIs are greatly reduced when compared to old CPS -0.1 [-1.88,1.68] ml/s.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Internal consistency of flow was observed at vessel junctions for the QVT (Figure 7).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EEEC24-81F9-492D-85ED-BF171A3CB75A}"/>
              </a:ext>
            </a:extLst>
          </p:cNvPr>
          <p:cNvGrpSpPr/>
          <p:nvPr/>
        </p:nvGrpSpPr>
        <p:grpSpPr>
          <a:xfrm>
            <a:off x="20775028" y="13207504"/>
            <a:ext cx="9184488" cy="6711733"/>
            <a:chOff x="20315948" y="13609610"/>
            <a:chExt cx="9184488" cy="671173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F016737-D700-46C0-9577-A4FB708E71B6}"/>
                </a:ext>
              </a:extLst>
            </p:cNvPr>
            <p:cNvGrpSpPr/>
            <p:nvPr/>
          </p:nvGrpSpPr>
          <p:grpSpPr>
            <a:xfrm>
              <a:off x="20315948" y="13610140"/>
              <a:ext cx="9184488" cy="6711203"/>
              <a:chOff x="20401869" y="13714657"/>
              <a:chExt cx="9184488" cy="671120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CAD0120-CBD0-4730-8C98-BCCEAA87DA25}"/>
                  </a:ext>
                </a:extLst>
              </p:cNvPr>
              <p:cNvSpPr txBox="1"/>
              <p:nvPr/>
            </p:nvSpPr>
            <p:spPr>
              <a:xfrm>
                <a:off x="20401869" y="19595079"/>
                <a:ext cx="9174587" cy="8307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lIns="91226" tIns="45613" rIns="91226" bIns="45613" rtlCol="0">
                <a:spAutoFit/>
              </a:bodyPr>
              <a:lstStyle/>
              <a:p>
                <a:r>
                  <a:rPr lang="en-US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Figure 5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Old k-means segmentation and new threshold segmentation in transverse sinus (top) and internal carotid artery (bottom). </a:t>
                </a:r>
                <a:endParaRPr lang="en-US" sz="2400" dirty="0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1EF9B7F-60C0-48F6-884E-E8230D4A19DA}"/>
                  </a:ext>
                </a:extLst>
              </p:cNvPr>
              <p:cNvGrpSpPr/>
              <p:nvPr/>
            </p:nvGrpSpPr>
            <p:grpSpPr>
              <a:xfrm>
                <a:off x="20401869" y="13714657"/>
                <a:ext cx="9184488" cy="5898198"/>
                <a:chOff x="16639103" y="14793653"/>
                <a:chExt cx="9184488" cy="5898198"/>
              </a:xfrm>
            </p:grpSpPr>
            <p:grpSp>
              <p:nvGrpSpPr>
                <p:cNvPr id="35" name="Group 34"/>
                <p:cNvGrpSpPr/>
                <p:nvPr/>
              </p:nvGrpSpPr>
              <p:grpSpPr>
                <a:xfrm rot="16200000">
                  <a:off x="19511648" y="11987551"/>
                  <a:ext cx="3235474" cy="8847677"/>
                  <a:chOff x="26526877" y="10208658"/>
                  <a:chExt cx="3235474" cy="884767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6526877" y="10622604"/>
                    <a:ext cx="3235474" cy="8433731"/>
                    <a:chOff x="19058353" y="11168163"/>
                    <a:chExt cx="3235474" cy="8433731"/>
                  </a:xfrm>
                </p:grpSpPr>
                <p:grpSp>
                  <p:nvGrpSpPr>
                    <p:cNvPr id="2" name="Group 1"/>
                    <p:cNvGrpSpPr/>
                    <p:nvPr/>
                  </p:nvGrpSpPr>
                  <p:grpSpPr>
                    <a:xfrm rot="5400000">
                      <a:off x="16359196" y="13895459"/>
                      <a:ext cx="8133164" cy="2734849"/>
                      <a:chOff x="448727" y="25437627"/>
                      <a:chExt cx="8989796" cy="3182090"/>
                    </a:xfrm>
                  </p:grpSpPr>
                  <p:pic>
                    <p:nvPicPr>
                      <p:cNvPr id="55" name="Picture 54"/>
                      <p:cNvPicPr/>
                      <p:nvPr/>
                    </p:nvPicPr>
                    <p:blipFill>
                      <a:blip r:embed="rId13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48727" y="25437627"/>
                        <a:ext cx="8989796" cy="16379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6" name="Picture 55"/>
                      <p:cNvPicPr/>
                      <p:nvPr/>
                    </p:nvPicPr>
                    <p:blipFill>
                      <a:blip r:embed="rId14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7207" y="27046286"/>
                        <a:ext cx="8975542" cy="157343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TextBox 30"/>
                    <p:cNvSpPr txBox="1"/>
                    <p:nvPr/>
                  </p:nvSpPr>
                  <p:spPr>
                    <a:xfrm rot="5400000">
                      <a:off x="21193225" y="11773446"/>
                      <a:ext cx="1703009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Magnitude</a:t>
                      </a:r>
                    </a:p>
                  </p:txBody>
                </p:sp>
                <p:sp>
                  <p:nvSpPr>
                    <p:cNvPr id="61" name="TextBox 60"/>
                    <p:cNvSpPr txBox="1"/>
                    <p:nvPr/>
                  </p:nvSpPr>
                  <p:spPr>
                    <a:xfrm rot="5400000">
                      <a:off x="21169811" y="13939735"/>
                      <a:ext cx="175346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Comp. Diff.</a:t>
                      </a:r>
                    </a:p>
                  </p:txBody>
                </p:sp>
                <p:sp>
                  <p:nvSpPr>
                    <p:cNvPr id="63" name="TextBox 62"/>
                    <p:cNvSpPr txBox="1"/>
                    <p:nvPr/>
                  </p:nvSpPr>
                  <p:spPr>
                    <a:xfrm rot="5400000">
                      <a:off x="21347239" y="16146991"/>
                      <a:ext cx="1400734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Velocity</a:t>
                      </a:r>
                    </a:p>
                  </p:txBody>
                </p:sp>
                <p:sp>
                  <p:nvSpPr>
                    <p:cNvPr id="64" name="TextBox 63"/>
                    <p:cNvSpPr txBox="1"/>
                    <p:nvPr/>
                  </p:nvSpPr>
                  <p:spPr>
                    <a:xfrm rot="5400000">
                      <a:off x="20979198" y="18301152"/>
                      <a:ext cx="210904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 Mask</a:t>
                      </a:r>
                    </a:p>
                  </p:txBody>
                </p:sp>
              </p:grp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7818013" y="10208658"/>
                    <a:ext cx="13195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k-means</a:t>
                    </a: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26542499" y="10219854"/>
                    <a:ext cx="147689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Threshold </a:t>
                    </a:r>
                  </a:p>
                </p:txBody>
              </p:sp>
            </p:grpSp>
            <p:cxnSp>
              <p:nvCxnSpPr>
                <p:cNvPr id="72" name="Straight Connector 71"/>
                <p:cNvCxnSpPr>
                  <a:cxnSpLocks/>
                </p:cNvCxnSpPr>
                <p:nvPr/>
              </p:nvCxnSpPr>
              <p:spPr bwMode="auto">
                <a:xfrm>
                  <a:off x="16658684" y="16677604"/>
                  <a:ext cx="8607547" cy="1426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pic>
              <p:nvPicPr>
                <p:cNvPr id="16" name="Picture 15" descr="A close up of a speaker&#10;&#10;Description automatically generated">
                  <a:extLst>
                    <a:ext uri="{FF2B5EF4-FFF2-40B4-BE49-F238E27FC236}">
                      <a16:creationId xmlns:a16="http://schemas.microsoft.com/office/drawing/2014/main" id="{5287D46E-FFE7-4052-86A2-0AB28BC4D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1860" y="19337334"/>
                  <a:ext cx="8114371" cy="1349503"/>
                </a:xfrm>
                <a:prstGeom prst="rect">
                  <a:avLst/>
                </a:prstGeom>
              </p:spPr>
            </p:pic>
            <p:pic>
              <p:nvPicPr>
                <p:cNvPr id="18" name="Picture 17" descr="A close up of a red light&#10;&#10;Description automatically generated">
                  <a:extLst>
                    <a:ext uri="{FF2B5EF4-FFF2-40B4-BE49-F238E27FC236}">
                      <a16:creationId xmlns:a16="http://schemas.microsoft.com/office/drawing/2014/main" id="{94FC84D6-BA8F-45FF-8737-1FDB7A0F6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6437" y="17992454"/>
                  <a:ext cx="8111665" cy="1380884"/>
                </a:xfrm>
                <a:prstGeom prst="rect">
                  <a:avLst/>
                </a:prstGeom>
              </p:spPr>
            </p:pic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65AA945-1415-4838-BA4C-EB0FBDF704B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39103" y="15268209"/>
                  <a:ext cx="9174587" cy="367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CBF7C18-353C-4A6D-A5BA-8B5D6B055D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2425" y="17994517"/>
                  <a:ext cx="9171166" cy="3486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9DE2574-C8A8-49B7-808B-BC184274BDB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8684" y="19373338"/>
                  <a:ext cx="8630787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F430C88-5321-4051-92D4-63A12E9119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268102" y="14807539"/>
                  <a:ext cx="10972" cy="587929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2ED7382-70E8-4881-BAD3-B1754B79368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17147629" y="14807540"/>
                  <a:ext cx="13573" cy="587929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691E2E3-125E-40F0-BCBF-A6F980917392}"/>
                    </a:ext>
                  </a:extLst>
                </p:cNvPr>
                <p:cNvSpPr txBox="1"/>
                <p:nvPr/>
              </p:nvSpPr>
              <p:spPr>
                <a:xfrm rot="16200000">
                  <a:off x="16300691" y="19796212"/>
                  <a:ext cx="134950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Threshold 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A766093-AB4B-4DBA-8660-1992E0D6E653}"/>
                    </a:ext>
                  </a:extLst>
                </p:cNvPr>
                <p:cNvSpPr txBox="1"/>
                <p:nvPr/>
              </p:nvSpPr>
              <p:spPr>
                <a:xfrm rot="16200000">
                  <a:off x="16274773" y="18621898"/>
                  <a:ext cx="131957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k-means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E283612-E962-47C0-9E86-518E367011A9}"/>
                    </a:ext>
                  </a:extLst>
                </p:cNvPr>
                <p:cNvSpPr txBox="1"/>
                <p:nvPr/>
              </p:nvSpPr>
              <p:spPr>
                <a:xfrm rot="5400000">
                  <a:off x="24274115" y="16449017"/>
                  <a:ext cx="2532946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Transverse Sinus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6B5EA1-8854-4949-A9E0-50651CD65F0C}"/>
                    </a:ext>
                  </a:extLst>
                </p:cNvPr>
                <p:cNvSpPr txBox="1"/>
                <p:nvPr/>
              </p:nvSpPr>
              <p:spPr>
                <a:xfrm rot="5400000">
                  <a:off x="24210157" y="19107739"/>
                  <a:ext cx="267578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Int. Carotid Artery</a:t>
                  </a:r>
                </a:p>
              </p:txBody>
            </p:sp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D17A0B-4969-4365-B280-27E4AECB83D8}"/>
                </a:ext>
              </a:extLst>
            </p:cNvPr>
            <p:cNvSpPr/>
            <p:nvPr/>
          </p:nvSpPr>
          <p:spPr bwMode="auto">
            <a:xfrm>
              <a:off x="20315948" y="13609610"/>
              <a:ext cx="9174587" cy="5879297"/>
            </a:xfrm>
            <a:prstGeom prst="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27432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indent="-342900" algn="just" defTabSz="1089025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" pitchFamily="18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3564772-062B-41E3-A142-623B3DC5E6BF}"/>
              </a:ext>
            </a:extLst>
          </p:cNvPr>
          <p:cNvGrpSpPr/>
          <p:nvPr/>
        </p:nvGrpSpPr>
        <p:grpSpPr>
          <a:xfrm>
            <a:off x="15960135" y="22780358"/>
            <a:ext cx="7094714" cy="5745454"/>
            <a:chOff x="15603024" y="22784979"/>
            <a:chExt cx="7094714" cy="574545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9541" y="22784979"/>
              <a:ext cx="7078197" cy="491467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8BC4EE5-6255-4D0B-986B-80979CED97BC}"/>
                </a:ext>
              </a:extLst>
            </p:cNvPr>
            <p:cNvSpPr txBox="1"/>
            <p:nvPr/>
          </p:nvSpPr>
          <p:spPr>
            <a:xfrm>
              <a:off x="15603024" y="27699652"/>
              <a:ext cx="7094714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6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Bland-Altman plot of inter-observer repeatability for QVT.</a:t>
              </a:r>
              <a:endParaRPr lang="en-US" sz="24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2FC989-F805-4972-B327-141422FBE0AC}"/>
              </a:ext>
            </a:extLst>
          </p:cNvPr>
          <p:cNvGrpSpPr/>
          <p:nvPr/>
        </p:nvGrpSpPr>
        <p:grpSpPr>
          <a:xfrm>
            <a:off x="23051588" y="22780358"/>
            <a:ext cx="6538032" cy="5733662"/>
            <a:chOff x="22694477" y="22854492"/>
            <a:chExt cx="6538032" cy="5664381"/>
          </a:xfrm>
        </p:grpSpPr>
        <p:pic>
          <p:nvPicPr>
            <p:cNvPr id="94" name="Picture 93" descr="A close up of a map&#10;&#10;Description automatically generated">
              <a:extLst>
                <a:ext uri="{FF2B5EF4-FFF2-40B4-BE49-F238E27FC236}">
                  <a16:creationId xmlns:a16="http://schemas.microsoft.com/office/drawing/2014/main" id="{4182771E-0301-4463-9550-13ABE3D9E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94477" y="22854492"/>
              <a:ext cx="6538032" cy="412324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09E1E44-9630-43E5-9682-56D88B0DC193}"/>
                </a:ext>
              </a:extLst>
            </p:cNvPr>
            <p:cNvSpPr txBox="1"/>
            <p:nvPr/>
          </p:nvSpPr>
          <p:spPr>
            <a:xfrm>
              <a:off x="22694477" y="26968393"/>
              <a:ext cx="6538031" cy="15504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7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plot of inlet and outlet flow at vessel junctions, namely ICA, ACA, MCA junction and SSS, SS, TS junctions. High correlation reflects internal flow consistency of QVT.</a:t>
              </a:r>
              <a:endParaRPr lang="en-US" sz="24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D23B67-E686-4457-857F-697DF45DB777}"/>
              </a:ext>
            </a:extLst>
          </p:cNvPr>
          <p:cNvGrpSpPr/>
          <p:nvPr/>
        </p:nvGrpSpPr>
        <p:grpSpPr>
          <a:xfrm>
            <a:off x="21176231" y="29085683"/>
            <a:ext cx="8739233" cy="6004172"/>
            <a:chOff x="21176231" y="29445054"/>
            <a:chExt cx="8739233" cy="6004172"/>
          </a:xfrm>
        </p:grpSpPr>
        <p:pic>
          <p:nvPicPr>
            <p:cNvPr id="107" name="Picture 106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592510BE-7312-4E2E-ADEB-159A26A879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26" t="577" r="7670" b="-577"/>
            <a:stretch/>
          </p:blipFill>
          <p:spPr>
            <a:xfrm>
              <a:off x="21201810" y="29445054"/>
              <a:ext cx="8713654" cy="5546329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08D340A-9DD7-478B-8175-2AE1D4BEF021}"/>
                </a:ext>
              </a:extLst>
            </p:cNvPr>
            <p:cNvSpPr txBox="1"/>
            <p:nvPr/>
          </p:nvSpPr>
          <p:spPr>
            <a:xfrm>
              <a:off x="21176231" y="34987777"/>
              <a:ext cx="8739233" cy="46144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8: 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Processing times for new and old tool</a:t>
              </a:r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934015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135294</TotalTime>
  <Words>1030</Words>
  <Application>Microsoft Office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Helvetica</vt:lpstr>
      <vt:lpstr>Palatino</vt:lpstr>
      <vt:lpstr>Standarddesign</vt:lpstr>
      <vt:lpstr>PowerPoint Presentation</vt:lpstr>
    </vt:vector>
  </TitlesOfParts>
  <Company>UW 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Benjamin Titz</dc:creator>
  <cp:lastModifiedBy>Grant Roberts</cp:lastModifiedBy>
  <cp:revision>1154</cp:revision>
  <cp:lastPrinted>2019-08-21T22:37:20Z</cp:lastPrinted>
  <dcterms:created xsi:type="dcterms:W3CDTF">2006-01-13T03:24:31Z</dcterms:created>
  <dcterms:modified xsi:type="dcterms:W3CDTF">2020-03-01T00:44:17Z</dcterms:modified>
</cp:coreProperties>
</file>