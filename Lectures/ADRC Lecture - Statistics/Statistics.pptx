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256" r:id="rId2"/>
    <p:sldId id="320" r:id="rId3"/>
    <p:sldId id="346" r:id="rId4"/>
    <p:sldId id="321" r:id="rId5"/>
    <p:sldId id="267" r:id="rId6"/>
    <p:sldId id="273" r:id="rId7"/>
    <p:sldId id="257" r:id="rId8"/>
    <p:sldId id="274" r:id="rId9"/>
    <p:sldId id="275" r:id="rId10"/>
    <p:sldId id="318" r:id="rId11"/>
    <p:sldId id="319" r:id="rId12"/>
    <p:sldId id="276" r:id="rId13"/>
    <p:sldId id="277" r:id="rId14"/>
    <p:sldId id="292" r:id="rId15"/>
    <p:sldId id="293" r:id="rId16"/>
    <p:sldId id="294" r:id="rId17"/>
    <p:sldId id="295" r:id="rId18"/>
    <p:sldId id="296" r:id="rId19"/>
    <p:sldId id="297" r:id="rId20"/>
    <p:sldId id="298" r:id="rId21"/>
    <p:sldId id="299" r:id="rId22"/>
    <p:sldId id="300" r:id="rId23"/>
    <p:sldId id="301" r:id="rId24"/>
    <p:sldId id="302" r:id="rId25"/>
    <p:sldId id="303" r:id="rId26"/>
    <p:sldId id="335" r:id="rId27"/>
    <p:sldId id="336" r:id="rId28"/>
    <p:sldId id="337" r:id="rId29"/>
    <p:sldId id="338" r:id="rId30"/>
    <p:sldId id="339" r:id="rId31"/>
    <p:sldId id="340" r:id="rId32"/>
    <p:sldId id="341" r:id="rId33"/>
    <p:sldId id="342" r:id="rId34"/>
    <p:sldId id="343" r:id="rId35"/>
    <p:sldId id="344" r:id="rId36"/>
    <p:sldId id="272" r:id="rId37"/>
    <p:sldId id="305" r:id="rId38"/>
    <p:sldId id="306" r:id="rId39"/>
    <p:sldId id="307" r:id="rId40"/>
    <p:sldId id="308" r:id="rId41"/>
    <p:sldId id="309" r:id="rId42"/>
    <p:sldId id="310" r:id="rId43"/>
    <p:sldId id="311" r:id="rId44"/>
    <p:sldId id="312" r:id="rId45"/>
    <p:sldId id="313" r:id="rId46"/>
    <p:sldId id="314" r:id="rId47"/>
    <p:sldId id="315" r:id="rId48"/>
    <p:sldId id="316" r:id="rId49"/>
    <p:sldId id="317" r:id="rId50"/>
    <p:sldId id="322" r:id="rId51"/>
    <p:sldId id="323" r:id="rId52"/>
    <p:sldId id="324" r:id="rId53"/>
    <p:sldId id="325" r:id="rId54"/>
    <p:sldId id="326" r:id="rId55"/>
    <p:sldId id="327" r:id="rId56"/>
    <p:sldId id="328" r:id="rId57"/>
    <p:sldId id="329" r:id="rId58"/>
    <p:sldId id="330" r:id="rId59"/>
    <p:sldId id="331" r:id="rId60"/>
    <p:sldId id="332" r:id="rId61"/>
    <p:sldId id="333" r:id="rId62"/>
    <p:sldId id="334" r:id="rId63"/>
    <p:sldId id="350" r:id="rId64"/>
    <p:sldId id="347" r:id="rId65"/>
    <p:sldId id="348" r:id="rId66"/>
    <p:sldId id="351" r:id="rId67"/>
    <p:sldId id="349"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14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49" autoAdjust="0"/>
    <p:restoredTop sz="76512" autoAdjust="0"/>
  </p:normalViewPr>
  <p:slideViewPr>
    <p:cSldViewPr snapToGrid="0">
      <p:cViewPr varScale="1">
        <p:scale>
          <a:sx n="88" d="100"/>
          <a:sy n="88" d="100"/>
        </p:scale>
        <p:origin x="1398" y="8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7CE00F65-5CCD-4AA3-B5C2-D28600FBA93F}"/>
    <pc:docChg chg="modSld">
      <pc:chgData name="" userId="" providerId="" clId="Web-{7CE00F65-5CCD-4AA3-B5C2-D28600FBA93F}" dt="2018-11-05T19:15:27.121" v="2" actId="20577"/>
      <pc:docMkLst>
        <pc:docMk/>
      </pc:docMkLst>
      <pc:sldChg chg="modSp">
        <pc:chgData name="" userId="" providerId="" clId="Web-{7CE00F65-5CCD-4AA3-B5C2-D28600FBA93F}" dt="2018-11-05T19:15:22.949" v="0" actId="20577"/>
        <pc:sldMkLst>
          <pc:docMk/>
          <pc:sldMk cId="241343072" sldId="347"/>
        </pc:sldMkLst>
        <pc:spChg chg="mod">
          <ac:chgData name="" userId="" providerId="" clId="Web-{7CE00F65-5CCD-4AA3-B5C2-D28600FBA93F}" dt="2018-11-05T19:15:22.949" v="0" actId="20577"/>
          <ac:spMkLst>
            <pc:docMk/>
            <pc:sldMk cId="241343072" sldId="347"/>
            <ac:spMk id="3" creationId="{FA48F28A-40D8-4278-B133-407570DCC4F1}"/>
          </ac:spMkLst>
        </pc:spChg>
      </pc:sldChg>
    </pc:docChg>
  </pc:docChgLst>
  <pc:docChgLst>
    <pc:chgData clId="Web-{E03763BB-8BDC-4E3C-B659-361C60914966}"/>
    <pc:docChg chg="delSld modSld">
      <pc:chgData name="" userId="" providerId="" clId="Web-{E03763BB-8BDC-4E3C-B659-361C60914966}" dt="2018-11-02T20:26:45.358" v="13" actId="20577"/>
      <pc:docMkLst>
        <pc:docMk/>
      </pc:docMkLst>
      <pc:sldChg chg="del">
        <pc:chgData name="" userId="" providerId="" clId="Web-{E03763BB-8BDC-4E3C-B659-361C60914966}" dt="2018-11-02T20:26:26.248" v="0"/>
        <pc:sldMkLst>
          <pc:docMk/>
          <pc:sldMk cId="1954195991" sldId="270"/>
        </pc:sldMkLst>
      </pc:sldChg>
      <pc:sldChg chg="modSp">
        <pc:chgData name="" userId="" providerId="" clId="Web-{E03763BB-8BDC-4E3C-B659-361C60914966}" dt="2018-11-02T20:26:45.123" v="11" actId="20577"/>
        <pc:sldMkLst>
          <pc:docMk/>
          <pc:sldMk cId="4262986162" sldId="292"/>
        </pc:sldMkLst>
        <pc:spChg chg="mod">
          <ac:chgData name="" userId="" providerId="" clId="Web-{E03763BB-8BDC-4E3C-B659-361C60914966}" dt="2018-11-02T20:26:45.123" v="11" actId="20577"/>
          <ac:spMkLst>
            <pc:docMk/>
            <pc:sldMk cId="4262986162" sldId="292"/>
            <ac:spMk id="2" creationId="{D09CA684-78CF-423C-B246-2573E96D5790}"/>
          </ac:spMkLst>
        </pc:spChg>
        <pc:spChg chg="mod">
          <ac:chgData name="" userId="" providerId="" clId="Web-{E03763BB-8BDC-4E3C-B659-361C60914966}" dt="2018-11-02T20:26:35.779" v="8" actId="20577"/>
          <ac:spMkLst>
            <pc:docMk/>
            <pc:sldMk cId="4262986162" sldId="292"/>
            <ac:spMk id="3" creationId="{AAC11617-CEB8-4D64-A9A6-C7E3A936760A}"/>
          </ac:spMkLst>
        </pc:spChg>
      </pc:sldChg>
    </pc:docChg>
  </pc:docChgLst>
  <pc:docChgLst>
    <pc:chgData clId="Web-{4FA9C842-495A-4AA3-A725-54509D3C0D99}"/>
    <pc:docChg chg="modSld">
      <pc:chgData name="" userId="" providerId="" clId="Web-{4FA9C842-495A-4AA3-A725-54509D3C0D99}" dt="2018-11-05T21:45:20.090" v="53" actId="20577"/>
      <pc:docMkLst>
        <pc:docMk/>
      </pc:docMkLst>
      <pc:sldChg chg="addSp modSp">
        <pc:chgData name="" userId="" providerId="" clId="Web-{4FA9C842-495A-4AA3-A725-54509D3C0D99}" dt="2018-11-05T21:45:20.090" v="52" actId="20577"/>
        <pc:sldMkLst>
          <pc:docMk/>
          <pc:sldMk cId="1207660776" sldId="336"/>
        </pc:sldMkLst>
        <pc:spChg chg="add mod">
          <ac:chgData name="" userId="" providerId="" clId="Web-{4FA9C842-495A-4AA3-A725-54509D3C0D99}" dt="2018-11-05T21:45:20.090" v="52" actId="20577"/>
          <ac:spMkLst>
            <pc:docMk/>
            <pc:sldMk cId="1207660776" sldId="336"/>
            <ac:spMk id="3" creationId="{CF03D068-6EF1-44C5-B3FA-0AED071C3F33}"/>
          </ac:spMkLst>
        </pc:spChg>
      </pc:sldChg>
    </pc:docChg>
  </pc:docChgLst>
  <pc:docChgLst>
    <pc:chgData clId="Web-{50014FA5-83D9-4FAE-A4F8-4452BBEC1E3F}"/>
    <pc:docChg chg="addSld modSld">
      <pc:chgData name="" userId="" providerId="" clId="Web-{50014FA5-83D9-4FAE-A4F8-4452BBEC1E3F}" dt="2018-11-05T19:01:54.079" v="146" actId="1076"/>
      <pc:docMkLst>
        <pc:docMk/>
      </pc:docMkLst>
      <pc:sldChg chg="addSp delSp modSp">
        <pc:chgData name="" userId="" providerId="" clId="Web-{50014FA5-83D9-4FAE-A4F8-4452BBEC1E3F}" dt="2018-11-05T18:57:18.722" v="5"/>
        <pc:sldMkLst>
          <pc:docMk/>
          <pc:sldMk cId="2304650236" sldId="334"/>
        </pc:sldMkLst>
        <pc:spChg chg="mod">
          <ac:chgData name="" userId="" providerId="" clId="Web-{50014FA5-83D9-4FAE-A4F8-4452BBEC1E3F}" dt="2018-11-05T18:56:52.065" v="2" actId="20577"/>
          <ac:spMkLst>
            <pc:docMk/>
            <pc:sldMk cId="2304650236" sldId="334"/>
            <ac:spMk id="2" creationId="{E4545867-A2EB-4169-9F62-78338399D811}"/>
          </ac:spMkLst>
        </pc:spChg>
        <pc:picChg chg="add del mod">
          <ac:chgData name="" userId="" providerId="" clId="Web-{50014FA5-83D9-4FAE-A4F8-4452BBEC1E3F}" dt="2018-11-05T18:57:18.722" v="5"/>
          <ac:picMkLst>
            <pc:docMk/>
            <pc:sldMk cId="2304650236" sldId="334"/>
            <ac:picMk id="3" creationId="{AD73019E-D80C-4440-9B69-A0BF81664EE4}"/>
          </ac:picMkLst>
        </pc:picChg>
      </pc:sldChg>
      <pc:sldChg chg="modSp new">
        <pc:chgData name="" userId="" providerId="" clId="Web-{50014FA5-83D9-4FAE-A4F8-4452BBEC1E3F}" dt="2018-11-05T18:57:57.831" v="15" actId="20577"/>
        <pc:sldMkLst>
          <pc:docMk/>
          <pc:sldMk cId="241343072" sldId="347"/>
        </pc:sldMkLst>
        <pc:spChg chg="mod">
          <ac:chgData name="" userId="" providerId="" clId="Web-{50014FA5-83D9-4FAE-A4F8-4452BBEC1E3F}" dt="2018-11-05T18:57:48.878" v="11" actId="20577"/>
          <ac:spMkLst>
            <pc:docMk/>
            <pc:sldMk cId="241343072" sldId="347"/>
            <ac:spMk id="2" creationId="{B4FE2E44-929A-4068-B4E8-90074113E5B9}"/>
          </ac:spMkLst>
        </pc:spChg>
        <pc:spChg chg="mod">
          <ac:chgData name="" userId="" providerId="" clId="Web-{50014FA5-83D9-4FAE-A4F8-4452BBEC1E3F}" dt="2018-11-05T18:57:57.831" v="15" actId="20577"/>
          <ac:spMkLst>
            <pc:docMk/>
            <pc:sldMk cId="241343072" sldId="347"/>
            <ac:spMk id="3" creationId="{FA48F28A-40D8-4278-B133-407570DCC4F1}"/>
          </ac:spMkLst>
        </pc:spChg>
      </pc:sldChg>
      <pc:sldChg chg="modSp add replId">
        <pc:chgData name="" userId="" providerId="" clId="Web-{50014FA5-83D9-4FAE-A4F8-4452BBEC1E3F}" dt="2018-11-05T19:01:29.704" v="136" actId="20577"/>
        <pc:sldMkLst>
          <pc:docMk/>
          <pc:sldMk cId="821613145" sldId="348"/>
        </pc:sldMkLst>
        <pc:spChg chg="mod">
          <ac:chgData name="" userId="" providerId="" clId="Web-{50014FA5-83D9-4FAE-A4F8-4452BBEC1E3F}" dt="2018-11-05T18:58:16.299" v="30" actId="20577"/>
          <ac:spMkLst>
            <pc:docMk/>
            <pc:sldMk cId="821613145" sldId="348"/>
            <ac:spMk id="2" creationId="{B4FE2E44-929A-4068-B4E8-90074113E5B9}"/>
          </ac:spMkLst>
        </pc:spChg>
        <pc:spChg chg="mod">
          <ac:chgData name="" userId="" providerId="" clId="Web-{50014FA5-83D9-4FAE-A4F8-4452BBEC1E3F}" dt="2018-11-05T19:01:29.704" v="136" actId="20577"/>
          <ac:spMkLst>
            <pc:docMk/>
            <pc:sldMk cId="821613145" sldId="348"/>
            <ac:spMk id="3" creationId="{FA48F28A-40D8-4278-B133-407570DCC4F1}"/>
          </ac:spMkLst>
        </pc:spChg>
      </pc:sldChg>
      <pc:sldChg chg="addSp delSp modSp new">
        <pc:chgData name="" userId="" providerId="" clId="Web-{50014FA5-83D9-4FAE-A4F8-4452BBEC1E3F}" dt="2018-11-05T19:01:54.079" v="146" actId="1076"/>
        <pc:sldMkLst>
          <pc:docMk/>
          <pc:sldMk cId="1902275596" sldId="349"/>
        </pc:sldMkLst>
        <pc:spChg chg="mod">
          <ac:chgData name="" userId="" providerId="" clId="Web-{50014FA5-83D9-4FAE-A4F8-4452BBEC1E3F}" dt="2018-11-05T19:01:46.861" v="143" actId="20577"/>
          <ac:spMkLst>
            <pc:docMk/>
            <pc:sldMk cId="1902275596" sldId="349"/>
            <ac:spMk id="2" creationId="{4565A3F1-2B37-415E-B145-0FADF4691DB9}"/>
          </ac:spMkLst>
        </pc:spChg>
        <pc:spChg chg="del">
          <ac:chgData name="" userId="" providerId="" clId="Web-{50014FA5-83D9-4FAE-A4F8-4452BBEC1E3F}" dt="2018-11-05T19:01:51.954" v="145"/>
          <ac:spMkLst>
            <pc:docMk/>
            <pc:sldMk cId="1902275596" sldId="349"/>
            <ac:spMk id="3" creationId="{DBE27D7C-C200-45E3-90E1-D670212F74EA}"/>
          </ac:spMkLst>
        </pc:spChg>
        <pc:picChg chg="add mod ord">
          <ac:chgData name="" userId="" providerId="" clId="Web-{50014FA5-83D9-4FAE-A4F8-4452BBEC1E3F}" dt="2018-11-05T19:01:54.079" v="146" actId="1076"/>
          <ac:picMkLst>
            <pc:docMk/>
            <pc:sldMk cId="1902275596" sldId="349"/>
            <ac:picMk id="6" creationId="{6422900D-DA2E-4B3A-A189-69526661589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39F206-00D4-474C-889A-680E374ACE48}" type="datetimeFigureOut">
              <a:rPr lang="en-US" smtClean="0"/>
              <a:t>12/17/2018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0E9401-9DD2-4E77-A58C-82224445CAD7}" type="slidenum">
              <a:rPr lang="en-US" smtClean="0"/>
              <a:t>‹#›</a:t>
            </a:fld>
            <a:endParaRPr lang="en-US"/>
          </a:p>
        </p:txBody>
      </p:sp>
    </p:spTree>
    <p:extLst>
      <p:ext uri="{BB962C8B-B14F-4D97-AF65-F5344CB8AC3E}">
        <p14:creationId xmlns:p14="http://schemas.microsoft.com/office/powerpoint/2010/main" val="2172741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turn it over now to my colleagues</a:t>
            </a:r>
            <a:r>
              <a:rPr lang="en-US" baseline="0" dirty="0"/>
              <a:t> to share some of their expertise related to steps on the way to a scientifically solid manuscript or grant proposal or conference presentation.</a:t>
            </a:r>
            <a:endParaRPr lang="en-US" dirty="0"/>
          </a:p>
        </p:txBody>
      </p:sp>
      <p:sp>
        <p:nvSpPr>
          <p:cNvPr id="4" name="Slide Number Placeholder 3"/>
          <p:cNvSpPr>
            <a:spLocks noGrp="1"/>
          </p:cNvSpPr>
          <p:nvPr>
            <p:ph type="sldNum" sz="quarter" idx="10"/>
          </p:nvPr>
        </p:nvSpPr>
        <p:spPr/>
        <p:txBody>
          <a:bodyPr/>
          <a:lstStyle/>
          <a:p>
            <a:fld id="{8A0E9401-9DD2-4E77-A58C-82224445CAD7}" type="slidenum">
              <a:rPr lang="en-US" smtClean="0"/>
              <a:t>4</a:t>
            </a:fld>
            <a:endParaRPr lang="en-US"/>
          </a:p>
        </p:txBody>
      </p:sp>
    </p:spTree>
    <p:extLst>
      <p:ext uri="{BB962C8B-B14F-4D97-AF65-F5344CB8AC3E}">
        <p14:creationId xmlns:p14="http://schemas.microsoft.com/office/powerpoint/2010/main" val="35586580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be recapping</a:t>
            </a:r>
            <a:r>
              <a:rPr lang="en-US" baseline="0" dirty="0"/>
              <a:t> Lindsey’s talk on from last Spring on Research Ethics. </a:t>
            </a:r>
            <a:endParaRPr lang="en-US" dirty="0"/>
          </a:p>
        </p:txBody>
      </p:sp>
      <p:sp>
        <p:nvSpPr>
          <p:cNvPr id="4" name="Slide Number Placeholder 3"/>
          <p:cNvSpPr>
            <a:spLocks noGrp="1"/>
          </p:cNvSpPr>
          <p:nvPr>
            <p:ph type="sldNum" sz="quarter" idx="10"/>
          </p:nvPr>
        </p:nvSpPr>
        <p:spPr/>
        <p:txBody>
          <a:bodyPr/>
          <a:lstStyle/>
          <a:p>
            <a:fld id="{8A0E9401-9DD2-4E77-A58C-82224445CAD7}" type="slidenum">
              <a:rPr lang="en-US" smtClean="0"/>
              <a:t>5</a:t>
            </a:fld>
            <a:endParaRPr lang="en-US"/>
          </a:p>
        </p:txBody>
      </p:sp>
    </p:spTree>
    <p:extLst>
      <p:ext uri="{BB962C8B-B14F-4D97-AF65-F5344CB8AC3E}">
        <p14:creationId xmlns:p14="http://schemas.microsoft.com/office/powerpoint/2010/main" val="3293824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I like to think of it as doing good science and avoiding bad science, which often boils down to engaging in good research practices and avoiding bad research practices.</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0E289883-C40F-46F5-823C-4EF68EEA266A}" type="slidenum">
              <a:rPr lang="en-US" smtClean="0"/>
              <a:t>6</a:t>
            </a:fld>
            <a:endParaRPr lang="en-US"/>
          </a:p>
        </p:txBody>
      </p:sp>
    </p:spTree>
    <p:extLst>
      <p:ext uri="{BB962C8B-B14F-4D97-AF65-F5344CB8AC3E}">
        <p14:creationId xmlns:p14="http://schemas.microsoft.com/office/powerpoint/2010/main" val="1344519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 research does not necessarily</a:t>
            </a:r>
            <a:r>
              <a:rPr lang="en-US" baseline="0" dirty="0"/>
              <a:t> </a:t>
            </a:r>
            <a:r>
              <a:rPr lang="en-US" dirty="0"/>
              <a:t>come from bad people</a:t>
            </a:r>
            <a:r>
              <a:rPr lang="en-US" baseline="0" dirty="0"/>
              <a:t>.  We’re not discussing fraud today.</a:t>
            </a:r>
            <a:endParaRPr lang="en-US" dirty="0"/>
          </a:p>
          <a:p>
            <a:endParaRPr lang="en-US" dirty="0"/>
          </a:p>
          <a:p>
            <a:r>
              <a:rPr lang="en-US" dirty="0"/>
              <a:t>Does anyone know who this is?  Its Andrew Wakefield</a:t>
            </a:r>
            <a:r>
              <a:rPr lang="en-US" baseline="0" dirty="0"/>
              <a:t> who claimed to find a link between vaccines and Autism, which led to a lot of wasted research dollars because in reality falsified his data That’s not the kind of ethics or best practices that we are talking about today. </a:t>
            </a:r>
          </a:p>
          <a:p>
            <a:endParaRPr lang="en-US" baseline="0" dirty="0"/>
          </a:p>
          <a:p>
            <a:r>
              <a:rPr lang="en-US" baseline="0" dirty="0"/>
              <a:t>Today we are focusing on what Andrew </a:t>
            </a:r>
            <a:r>
              <a:rPr lang="en-US" baseline="0" dirty="0" err="1"/>
              <a:t>Gelman</a:t>
            </a:r>
            <a:r>
              <a:rPr lang="en-US" baseline="0" dirty="0"/>
              <a:t> calls the garden of forking paths and others refer to as researcher degrees of freedom.  When we do research we have a lot of decisions to make at every step of the way, and how we make those decisions can have a big impact on the quality of the research that we produce. Science is hard and even well-meaning people can develop bad habits or make poor decisions.</a:t>
            </a:r>
          </a:p>
          <a:p>
            <a:endParaRPr lang="en-US" dirty="0"/>
          </a:p>
          <a:p>
            <a:endParaRPr lang="en-US" dirty="0"/>
          </a:p>
        </p:txBody>
      </p:sp>
      <p:sp>
        <p:nvSpPr>
          <p:cNvPr id="4" name="Slide Number Placeholder 3"/>
          <p:cNvSpPr>
            <a:spLocks noGrp="1"/>
          </p:cNvSpPr>
          <p:nvPr>
            <p:ph type="sldNum" sz="quarter" idx="10"/>
          </p:nvPr>
        </p:nvSpPr>
        <p:spPr/>
        <p:txBody>
          <a:bodyPr/>
          <a:lstStyle/>
          <a:p>
            <a:fld id="{0E289883-C40F-46F5-823C-4EF68EEA266A}" type="slidenum">
              <a:rPr lang="en-US" smtClean="0"/>
              <a:t>7</a:t>
            </a:fld>
            <a:endParaRPr lang="en-US"/>
          </a:p>
        </p:txBody>
      </p:sp>
    </p:spTree>
    <p:extLst>
      <p:ext uri="{BB962C8B-B14F-4D97-AF65-F5344CB8AC3E}">
        <p14:creationId xmlns:p14="http://schemas.microsoft.com/office/powerpoint/2010/main" val="2302293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Especially in our situation.</a:t>
            </a:r>
            <a:r>
              <a:rPr lang="en-US" baseline="0" dirty="0"/>
              <a:t> W</a:t>
            </a:r>
            <a:r>
              <a:rPr lang="en-US" dirty="0"/>
              <a:t>e have lots</a:t>
            </a:r>
            <a:r>
              <a:rPr lang="en-US" baseline="0" dirty="0"/>
              <a:t> of data, a large number of potentially interesting relationships and an incentive system that rewards publication which can lead to good intentions going haywire. </a:t>
            </a:r>
          </a:p>
          <a:p>
            <a:endParaRPr lang="en-US" dirty="0"/>
          </a:p>
          <a:p>
            <a:r>
              <a:rPr lang="en-US" baseline="0" dirty="0"/>
              <a:t>Lindsey included this quote in her presentation, &lt;read&gt; but I don’t think we have to stop, we just have to be more careful.</a:t>
            </a:r>
          </a:p>
          <a:p>
            <a:endParaRPr lang="en-US" dirty="0"/>
          </a:p>
        </p:txBody>
      </p:sp>
      <p:sp>
        <p:nvSpPr>
          <p:cNvPr id="4" name="Slide Number Placeholder 3"/>
          <p:cNvSpPr>
            <a:spLocks noGrp="1"/>
          </p:cNvSpPr>
          <p:nvPr>
            <p:ph type="sldNum" sz="quarter" idx="10"/>
          </p:nvPr>
        </p:nvSpPr>
        <p:spPr/>
        <p:txBody>
          <a:bodyPr/>
          <a:lstStyle/>
          <a:p>
            <a:fld id="{0E289883-C40F-46F5-823C-4EF68EEA266A}" type="slidenum">
              <a:rPr lang="en-US" smtClean="0"/>
              <a:t>8</a:t>
            </a:fld>
            <a:endParaRPr lang="en-US"/>
          </a:p>
        </p:txBody>
      </p:sp>
    </p:spTree>
    <p:extLst>
      <p:ext uri="{BB962C8B-B14F-4D97-AF65-F5344CB8AC3E}">
        <p14:creationId xmlns:p14="http://schemas.microsoft.com/office/powerpoint/2010/main" val="1836854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scientific</a:t>
            </a:r>
            <a:r>
              <a:rPr lang="en-US" baseline="0" dirty="0"/>
              <a:t> practices help us produce research that is replicable, reproducible and robust. These terms don’t have hard and fast definitions but I think these are defensible.</a:t>
            </a:r>
          </a:p>
          <a:p>
            <a:endParaRPr lang="en-US" dirty="0"/>
          </a:p>
          <a:p>
            <a:r>
              <a:rPr lang="en-US" dirty="0"/>
              <a:t>Replicability</a:t>
            </a:r>
            <a:r>
              <a:rPr lang="en-US" baseline="0" dirty="0"/>
              <a:t> I think of as internal, that is your lab-mates and even your future self should be able to follow what you did and get the same results. IF a reviewer asks for something you should be able to go back and recreate </a:t>
            </a:r>
            <a:r>
              <a:rPr lang="en-US" baseline="0" dirty="0" err="1"/>
              <a:t>yoru</a:t>
            </a:r>
            <a:r>
              <a:rPr lang="en-US" baseline="0" dirty="0"/>
              <a:t> analyses and your sample.</a:t>
            </a:r>
          </a:p>
          <a:p>
            <a:endParaRPr lang="en-US" baseline="0" dirty="0"/>
          </a:p>
          <a:p>
            <a:r>
              <a:rPr lang="en-US" baseline="0" dirty="0"/>
              <a:t>Reproducibility refers to getting the same results using similar methods. </a:t>
            </a:r>
          </a:p>
          <a:p>
            <a:endParaRPr lang="en-US" baseline="0" dirty="0"/>
          </a:p>
          <a:p>
            <a:r>
              <a:rPr lang="en-US" baseline="0" dirty="0"/>
              <a:t>Robust research is the holy grail, we want our research to eventually lead to real answers.  valid explanations for how people develop AD for example. </a:t>
            </a:r>
          </a:p>
          <a:p>
            <a:endParaRPr lang="en-US" dirty="0"/>
          </a:p>
        </p:txBody>
      </p:sp>
      <p:sp>
        <p:nvSpPr>
          <p:cNvPr id="4" name="Slide Number Placeholder 3"/>
          <p:cNvSpPr>
            <a:spLocks noGrp="1"/>
          </p:cNvSpPr>
          <p:nvPr>
            <p:ph type="sldNum" sz="quarter" idx="10"/>
          </p:nvPr>
        </p:nvSpPr>
        <p:spPr/>
        <p:txBody>
          <a:bodyPr/>
          <a:lstStyle/>
          <a:p>
            <a:fld id="{0E289883-C40F-46F5-823C-4EF68EEA266A}" type="slidenum">
              <a:rPr lang="en-US" smtClean="0"/>
              <a:t>9</a:t>
            </a:fld>
            <a:endParaRPr lang="en-US"/>
          </a:p>
        </p:txBody>
      </p:sp>
    </p:spTree>
    <p:extLst>
      <p:ext uri="{BB962C8B-B14F-4D97-AF65-F5344CB8AC3E}">
        <p14:creationId xmlns:p14="http://schemas.microsoft.com/office/powerpoint/2010/main" val="181799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kind</a:t>
            </a:r>
            <a:r>
              <a:rPr lang="en-US" baseline="0" dirty="0"/>
              <a:t> of research we want to produce. In order to do that we want to avoid some common pitfalls, like </a:t>
            </a:r>
          </a:p>
          <a:p>
            <a:r>
              <a:rPr lang="en-US" baseline="0" dirty="0"/>
              <a:t>p-hacking: p-hacking sometimes refers to writing up just the best results from your analyses instead of writing up all your results.  </a:t>
            </a:r>
            <a:r>
              <a:rPr lang="en-US" baseline="0" dirty="0" err="1"/>
              <a:t>Gelman</a:t>
            </a:r>
            <a:r>
              <a:rPr lang="en-US" baseline="0" dirty="0"/>
              <a:t> &amp; </a:t>
            </a:r>
            <a:r>
              <a:rPr lang="en-US" baseline="0" dirty="0" err="1"/>
              <a:t>Loken</a:t>
            </a:r>
            <a:r>
              <a:rPr lang="en-US" baseline="0" dirty="0"/>
              <a:t> argue that a kind of p-hacking occurs when you have a large set of possible comparisons and you pick your analyses based conditional on your data. When you have a large number of potential comparison its important to think through ahead of time what you want to look at. Otherwise you might introduce bias into your analyses</a:t>
            </a:r>
          </a:p>
          <a:p>
            <a:endParaRPr lang="en-US" baseline="0" dirty="0"/>
          </a:p>
          <a:p>
            <a:r>
              <a:rPr lang="en-US" baseline="0" dirty="0" err="1"/>
              <a:t>HARKing</a:t>
            </a:r>
            <a:r>
              <a:rPr lang="en-US" baseline="0" dirty="0"/>
              <a:t> – is creating or modifying your hypothesis after you see the results</a:t>
            </a:r>
          </a:p>
          <a:p>
            <a:endParaRPr lang="en-US" baseline="0" dirty="0"/>
          </a:p>
          <a:p>
            <a:r>
              <a:rPr lang="en-US" baseline="0" dirty="0"/>
              <a:t>In general we want to avoid analyses that are biased or capitalize on chance if our results are going to be reproducible or robust.</a:t>
            </a:r>
            <a:endParaRPr lang="en-US" dirty="0"/>
          </a:p>
        </p:txBody>
      </p:sp>
      <p:sp>
        <p:nvSpPr>
          <p:cNvPr id="4" name="Slide Number Placeholder 3"/>
          <p:cNvSpPr>
            <a:spLocks noGrp="1"/>
          </p:cNvSpPr>
          <p:nvPr>
            <p:ph type="sldNum" sz="quarter" idx="10"/>
          </p:nvPr>
        </p:nvSpPr>
        <p:spPr/>
        <p:txBody>
          <a:bodyPr/>
          <a:lstStyle/>
          <a:p>
            <a:fld id="{0E289883-C40F-46F5-823C-4EF68EEA266A}" type="slidenum">
              <a:rPr lang="en-US" smtClean="0"/>
              <a:t>10</a:t>
            </a:fld>
            <a:endParaRPr lang="en-US"/>
          </a:p>
        </p:txBody>
      </p:sp>
    </p:spTree>
    <p:extLst>
      <p:ext uri="{BB962C8B-B14F-4D97-AF65-F5344CB8AC3E}">
        <p14:creationId xmlns:p14="http://schemas.microsoft.com/office/powerpoint/2010/main" val="4011005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lang="en-US" dirty="0"/>
              <a:t>What are good research practices?</a:t>
            </a:r>
          </a:p>
          <a:p>
            <a:pPr marL="228600" lvl="0" indent="-228600">
              <a:buAutoNum type="arabicPeriod"/>
            </a:pPr>
            <a:r>
              <a:rPr lang="en-US" dirty="0"/>
              <a:t>Start with a question</a:t>
            </a:r>
            <a:r>
              <a:rPr lang="en-US" baseline="0" dirty="0"/>
              <a:t> – It might seem obvious, but its something that’s actually easy to rush through when you have data in hand. </a:t>
            </a:r>
          </a:p>
          <a:p>
            <a:pPr marL="228600" lvl="0" indent="-228600">
              <a:buAutoNum type="arabicPeriod"/>
            </a:pPr>
            <a:endParaRPr lang="en-US" baseline="0" dirty="0"/>
          </a:p>
          <a:p>
            <a:pPr marL="228600" lvl="0" indent="-228600">
              <a:buAutoNum type="arabicPeriod"/>
            </a:pPr>
            <a:r>
              <a:rPr lang="en-US" baseline="0" dirty="0"/>
              <a:t> An effective research question </a:t>
            </a:r>
            <a:r>
              <a:rPr lang="en-US" sz="1200" kern="1200" dirty="0">
                <a:solidFill>
                  <a:schemeClr val="tx1"/>
                </a:solidFill>
                <a:effectLst/>
                <a:latin typeface="+mn-lt"/>
                <a:ea typeface="+mn-ea"/>
                <a:cs typeface="+mn-cs"/>
              </a:rPr>
              <a:t>is specific enough to generate a testable hypotheses; </a:t>
            </a:r>
            <a:r>
              <a:rPr lang="en-US" sz="1200" kern="1200" dirty="0" err="1">
                <a:solidFill>
                  <a:schemeClr val="tx1"/>
                </a:solidFill>
                <a:effectLst/>
                <a:latin typeface="+mn-lt"/>
                <a:ea typeface="+mn-ea"/>
                <a:cs typeface="+mn-cs"/>
              </a:rPr>
              <a:t>Gelman</a:t>
            </a:r>
            <a:r>
              <a:rPr lang="en-US" sz="1200" kern="1200" baseline="0" dirty="0">
                <a:solidFill>
                  <a:schemeClr val="tx1"/>
                </a:solidFill>
                <a:effectLst/>
                <a:latin typeface="+mn-lt"/>
                <a:ea typeface="+mn-ea"/>
                <a:cs typeface="+mn-cs"/>
              </a:rPr>
              <a:t> &amp; </a:t>
            </a:r>
            <a:r>
              <a:rPr lang="en-US" sz="1200" kern="1200" baseline="0" dirty="0" err="1">
                <a:solidFill>
                  <a:schemeClr val="tx1"/>
                </a:solidFill>
                <a:effectLst/>
                <a:latin typeface="+mn-lt"/>
                <a:ea typeface="+mn-ea"/>
                <a:cs typeface="+mn-cs"/>
              </a:rPr>
              <a:t>Loken</a:t>
            </a:r>
            <a:r>
              <a:rPr lang="en-US" sz="1200" kern="1200" baseline="0" dirty="0">
                <a:solidFill>
                  <a:schemeClr val="tx1"/>
                </a:solidFill>
                <a:effectLst/>
                <a:latin typeface="+mn-lt"/>
                <a:ea typeface="+mn-ea"/>
                <a:cs typeface="+mn-cs"/>
              </a:rPr>
              <a:t> warns against forming research questions that are so broad that any comparison and any result can be justified as supporting your hypothesis.</a:t>
            </a:r>
            <a:endParaRPr lang="en-US" sz="1200" kern="1200" dirty="0">
              <a:solidFill>
                <a:schemeClr val="tx1"/>
              </a:solidFill>
              <a:effectLst/>
              <a:latin typeface="+mn-lt"/>
              <a:ea typeface="+mn-ea"/>
              <a:cs typeface="+mn-cs"/>
            </a:endParaRPr>
          </a:p>
          <a:p>
            <a:pPr marL="228600" lvl="0" indent="-228600">
              <a:buAutoNum type="arabicPeriod"/>
            </a:pPr>
            <a:endParaRPr lang="en-US" sz="1200" kern="1200" dirty="0">
              <a:solidFill>
                <a:schemeClr val="tx1"/>
              </a:solidFill>
              <a:effectLst/>
              <a:latin typeface="+mn-lt"/>
              <a:ea typeface="+mn-ea"/>
              <a:cs typeface="+mn-cs"/>
            </a:endParaRPr>
          </a:p>
          <a:p>
            <a:pPr marL="228600" lvl="0" indent="-228600">
              <a:buAutoNum type="arabicPeriod"/>
            </a:pPr>
            <a:r>
              <a:rPr lang="en-US" sz="1200" kern="1200" dirty="0">
                <a:solidFill>
                  <a:schemeClr val="tx1"/>
                </a:solidFill>
                <a:effectLst/>
                <a:latin typeface="+mn-lt"/>
                <a:ea typeface="+mn-ea"/>
                <a:cs typeface="+mn-cs"/>
              </a:rPr>
              <a:t>You</a:t>
            </a:r>
            <a:r>
              <a:rPr lang="en-US" sz="1200" kern="1200" baseline="0" dirty="0">
                <a:solidFill>
                  <a:schemeClr val="tx1"/>
                </a:solidFill>
                <a:effectLst/>
                <a:latin typeface="+mn-lt"/>
                <a:ea typeface="+mn-ea"/>
                <a:cs typeface="+mn-cs"/>
              </a:rPr>
              <a:t>r question should be </a:t>
            </a:r>
            <a:r>
              <a:rPr lang="en-US" sz="1200" kern="1200" dirty="0">
                <a:solidFill>
                  <a:schemeClr val="tx1"/>
                </a:solidFill>
                <a:effectLst/>
                <a:latin typeface="+mn-lt"/>
                <a:ea typeface="+mn-ea"/>
                <a:cs typeface="+mn-cs"/>
              </a:rPr>
              <a:t>grounded in existing theory or research.</a:t>
            </a:r>
          </a:p>
        </p:txBody>
      </p:sp>
      <p:sp>
        <p:nvSpPr>
          <p:cNvPr id="4" name="Slide Number Placeholder 3"/>
          <p:cNvSpPr>
            <a:spLocks noGrp="1"/>
          </p:cNvSpPr>
          <p:nvPr>
            <p:ph type="sldNum" sz="quarter" idx="10"/>
          </p:nvPr>
        </p:nvSpPr>
        <p:spPr/>
        <p:txBody>
          <a:bodyPr/>
          <a:lstStyle/>
          <a:p>
            <a:fld id="{0E289883-C40F-46F5-823C-4EF68EEA266A}" type="slidenum">
              <a:rPr lang="en-US" smtClean="0"/>
              <a:t>11</a:t>
            </a:fld>
            <a:endParaRPr lang="en-US"/>
          </a:p>
        </p:txBody>
      </p:sp>
    </p:spTree>
    <p:extLst>
      <p:ext uri="{BB962C8B-B14F-4D97-AF65-F5344CB8AC3E}">
        <p14:creationId xmlns:p14="http://schemas.microsoft.com/office/powerpoint/2010/main" val="1051961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0" indent="-228600">
              <a:buAutoNum type="arabicPeriod"/>
            </a:pPr>
            <a:r>
              <a:rPr lang="en-US" dirty="0"/>
              <a:t>Plan ahead, give yourself plenty of time to really think about your approach before you start. What does the</a:t>
            </a:r>
            <a:r>
              <a:rPr lang="en-US" baseline="0" dirty="0"/>
              <a:t> literature say? What is your hypothesis? What is your conceptual model? </a:t>
            </a:r>
            <a:r>
              <a:rPr lang="en-US" dirty="0"/>
              <a:t>Derek</a:t>
            </a:r>
            <a:r>
              <a:rPr lang="en-US" baseline="0" dirty="0"/>
              <a:t> is </a:t>
            </a:r>
            <a:r>
              <a:rPr lang="en-US" dirty="0"/>
              <a:t>going to go through a statistical analysis plan </a:t>
            </a:r>
          </a:p>
          <a:p>
            <a:pPr lvl="0"/>
            <a:r>
              <a:rPr lang="en-US" dirty="0"/>
              <a:t>3. Determine approach</a:t>
            </a:r>
            <a:r>
              <a:rPr lang="en-US" baseline="0" dirty="0"/>
              <a:t> based on your questions, not on your software. Keep it as simple if you can.  We are studying complex processes that require some pretty sophisticated analyses, but they should be used when you need them, not because its sexy.</a:t>
            </a:r>
          </a:p>
          <a:p>
            <a:pPr lvl="0"/>
            <a:r>
              <a:rPr lang="en-US" baseline="0" dirty="0"/>
              <a:t>4. </a:t>
            </a:r>
            <a:r>
              <a:rPr lang="en-US" dirty="0"/>
              <a:t>Discuss your approach/analysis idea with statistician + other scientists you don’t have to do this alone.</a:t>
            </a:r>
          </a:p>
          <a:p>
            <a:pPr lvl="0"/>
            <a:r>
              <a:rPr lang="en-US" dirty="0"/>
              <a:t>5. Know y</a:t>
            </a:r>
            <a:r>
              <a:rPr lang="en-US" baseline="0" dirty="0"/>
              <a:t>our data – this is another practice that seems obvious, but can get short shrift in practice. Know what the values mean, check for errors.  Data cleaning takes a long time and I think is often an overlooked component to good research practices. </a:t>
            </a:r>
          </a:p>
          <a:p>
            <a:pPr lvl="0"/>
            <a:r>
              <a:rPr lang="en-US" baseline="0" dirty="0"/>
              <a:t>6. Also check your assumptions, you’ve chosen your analysis, but is it appropriate for the data you have?</a:t>
            </a:r>
          </a:p>
          <a:p>
            <a:pPr lvl="0"/>
            <a:r>
              <a:rPr lang="en-US" baseline="0" dirty="0"/>
              <a:t>7. Keep track of what you do – replicability - it will make your life easier and it will make it easier to get help if you need it.</a:t>
            </a:r>
          </a:p>
          <a:p>
            <a:pPr lvl="0"/>
            <a:r>
              <a:rPr lang="en-US" baseline="0" dirty="0"/>
              <a:t>8. Revisit your question  - are you still on track, has something changed, is the question and approach still compatible.</a:t>
            </a:r>
            <a:endParaRPr lang="en-US" dirty="0"/>
          </a:p>
          <a:p>
            <a:endParaRPr lang="en-US" dirty="0"/>
          </a:p>
        </p:txBody>
      </p:sp>
      <p:sp>
        <p:nvSpPr>
          <p:cNvPr id="4" name="Slide Number Placeholder 3"/>
          <p:cNvSpPr>
            <a:spLocks noGrp="1"/>
          </p:cNvSpPr>
          <p:nvPr>
            <p:ph type="sldNum" sz="quarter" idx="10"/>
          </p:nvPr>
        </p:nvSpPr>
        <p:spPr/>
        <p:txBody>
          <a:bodyPr/>
          <a:lstStyle/>
          <a:p>
            <a:fld id="{0E289883-C40F-46F5-823C-4EF68EEA266A}" type="slidenum">
              <a:rPr lang="en-US" smtClean="0"/>
              <a:t>12</a:t>
            </a:fld>
            <a:endParaRPr lang="en-US"/>
          </a:p>
        </p:txBody>
      </p:sp>
    </p:spTree>
    <p:extLst>
      <p:ext uri="{BB962C8B-B14F-4D97-AF65-F5344CB8AC3E}">
        <p14:creationId xmlns:p14="http://schemas.microsoft.com/office/powerpoint/2010/main" val="9064699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aware of your sources of errors</a:t>
            </a:r>
            <a:r>
              <a:rPr lang="en-US" baseline="0" dirty="0"/>
              <a:t> and provide assessments of variability.</a:t>
            </a:r>
          </a:p>
          <a:p>
            <a:endParaRPr lang="en-US" baseline="0" dirty="0"/>
          </a:p>
          <a:p>
            <a:r>
              <a:rPr lang="en-US" baseline="0" dirty="0"/>
              <a:t>The bottom line is take your time and don’t rush ahead of yourself.</a:t>
            </a:r>
            <a:endParaRPr lang="en-US" dirty="0"/>
          </a:p>
        </p:txBody>
      </p:sp>
      <p:sp>
        <p:nvSpPr>
          <p:cNvPr id="4" name="Slide Number Placeholder 3"/>
          <p:cNvSpPr>
            <a:spLocks noGrp="1"/>
          </p:cNvSpPr>
          <p:nvPr>
            <p:ph type="sldNum" sz="quarter" idx="10"/>
          </p:nvPr>
        </p:nvSpPr>
        <p:spPr/>
        <p:txBody>
          <a:bodyPr/>
          <a:lstStyle/>
          <a:p>
            <a:fld id="{0E289883-C40F-46F5-823C-4EF68EEA266A}" type="slidenum">
              <a:rPr lang="en-US" smtClean="0"/>
              <a:t>13</a:t>
            </a:fld>
            <a:endParaRPr lang="en-US"/>
          </a:p>
        </p:txBody>
      </p:sp>
    </p:spTree>
    <p:extLst>
      <p:ext uri="{BB962C8B-B14F-4D97-AF65-F5344CB8AC3E}">
        <p14:creationId xmlns:p14="http://schemas.microsoft.com/office/powerpoint/2010/main" val="41078339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 have seen research projects published without significance, won an award without significance </a:t>
            </a:r>
          </a:p>
          <a:p>
            <a:endParaRPr lang="en-US" dirty="0"/>
          </a:p>
        </p:txBody>
      </p:sp>
      <p:sp>
        <p:nvSpPr>
          <p:cNvPr id="4" name="Slide Number Placeholder 3"/>
          <p:cNvSpPr>
            <a:spLocks noGrp="1"/>
          </p:cNvSpPr>
          <p:nvPr>
            <p:ph type="sldNum" sz="quarter" idx="10"/>
          </p:nvPr>
        </p:nvSpPr>
        <p:spPr/>
        <p:txBody>
          <a:bodyPr/>
          <a:lstStyle/>
          <a:p>
            <a:fld id="{BCB41DD7-B89B-4C0E-8CB9-5F1DD658CE68}" type="slidenum">
              <a:rPr lang="en-US" smtClean="0"/>
              <a:t>37</a:t>
            </a:fld>
            <a:endParaRPr lang="en-US"/>
          </a:p>
        </p:txBody>
      </p:sp>
    </p:spTree>
    <p:extLst>
      <p:ext uri="{BB962C8B-B14F-4D97-AF65-F5344CB8AC3E}">
        <p14:creationId xmlns:p14="http://schemas.microsoft.com/office/powerpoint/2010/main" val="21698794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B41DD7-B89B-4C0E-8CB9-5F1DD658CE68}" type="slidenum">
              <a:rPr lang="en-US" smtClean="0"/>
              <a:t>38</a:t>
            </a:fld>
            <a:endParaRPr lang="en-US"/>
          </a:p>
        </p:txBody>
      </p:sp>
    </p:spTree>
    <p:extLst>
      <p:ext uri="{BB962C8B-B14F-4D97-AF65-F5344CB8AC3E}">
        <p14:creationId xmlns:p14="http://schemas.microsoft.com/office/powerpoint/2010/main" val="1963456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Copy or imitate something that appears</a:t>
            </a:r>
            <a:r>
              <a:rPr lang="en-US" sz="1200" kern="1200" baseline="0" dirty="0">
                <a:solidFill>
                  <a:schemeClr val="tx1"/>
                </a:solidFill>
                <a:effectLst/>
                <a:latin typeface="+mn-lt"/>
                <a:ea typeface="+mn-ea"/>
                <a:cs typeface="+mn-cs"/>
              </a:rPr>
              <a:t> to be similar, </a:t>
            </a:r>
            <a:r>
              <a:rPr lang="en-US" sz="1200" kern="1200" dirty="0">
                <a:solidFill>
                  <a:schemeClr val="tx1"/>
                </a:solidFill>
                <a:effectLst/>
                <a:latin typeface="+mn-lt"/>
                <a:ea typeface="+mn-ea"/>
                <a:cs typeface="+mn-cs"/>
              </a:rPr>
              <a:t>without understanding and catching its true spirit </a:t>
            </a:r>
          </a:p>
          <a:p>
            <a:endParaRPr lang="en-US" dirty="0"/>
          </a:p>
        </p:txBody>
      </p:sp>
      <p:sp>
        <p:nvSpPr>
          <p:cNvPr id="4" name="Slide Number Placeholder 3"/>
          <p:cNvSpPr>
            <a:spLocks noGrp="1"/>
          </p:cNvSpPr>
          <p:nvPr>
            <p:ph type="sldNum" sz="quarter" idx="10"/>
          </p:nvPr>
        </p:nvSpPr>
        <p:spPr/>
        <p:txBody>
          <a:bodyPr/>
          <a:lstStyle/>
          <a:p>
            <a:fld id="{BCB41DD7-B89B-4C0E-8CB9-5F1DD658CE68}" type="slidenum">
              <a:rPr lang="en-US" smtClean="0"/>
              <a:t>39</a:t>
            </a:fld>
            <a:endParaRPr lang="en-US"/>
          </a:p>
        </p:txBody>
      </p:sp>
    </p:spTree>
    <p:extLst>
      <p:ext uri="{BB962C8B-B14F-4D97-AF65-F5344CB8AC3E}">
        <p14:creationId xmlns:p14="http://schemas.microsoft.com/office/powerpoint/2010/main" val="8323979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B41DD7-B89B-4C0E-8CB9-5F1DD658CE68}" type="slidenum">
              <a:rPr lang="en-US" smtClean="0"/>
              <a:t>40</a:t>
            </a:fld>
            <a:endParaRPr lang="en-US"/>
          </a:p>
        </p:txBody>
      </p:sp>
    </p:spTree>
    <p:extLst>
      <p:ext uri="{BB962C8B-B14F-4D97-AF65-F5344CB8AC3E}">
        <p14:creationId xmlns:p14="http://schemas.microsoft.com/office/powerpoint/2010/main" val="3330840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B41DD7-B89B-4C0E-8CB9-5F1DD658CE68}" type="slidenum">
              <a:rPr lang="en-US" smtClean="0"/>
              <a:t>41</a:t>
            </a:fld>
            <a:endParaRPr lang="en-US"/>
          </a:p>
        </p:txBody>
      </p:sp>
    </p:spTree>
    <p:extLst>
      <p:ext uri="{BB962C8B-B14F-4D97-AF65-F5344CB8AC3E}">
        <p14:creationId xmlns:p14="http://schemas.microsoft.com/office/powerpoint/2010/main" val="13890815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Understand the data</a:t>
            </a:r>
          </a:p>
          <a:p>
            <a:r>
              <a:rPr lang="en-US" sz="1200" kern="1200" dirty="0">
                <a:solidFill>
                  <a:schemeClr val="tx1"/>
                </a:solidFill>
                <a:effectLst/>
                <a:latin typeface="+mn-lt"/>
                <a:ea typeface="+mn-ea"/>
                <a:cs typeface="+mn-cs"/>
              </a:rPr>
              <a:t>especially the distribution of the outcome </a:t>
            </a:r>
          </a:p>
          <a:p>
            <a:endParaRPr lang="en-US" dirty="0"/>
          </a:p>
        </p:txBody>
      </p:sp>
      <p:sp>
        <p:nvSpPr>
          <p:cNvPr id="4" name="Slide Number Placeholder 3"/>
          <p:cNvSpPr>
            <a:spLocks noGrp="1"/>
          </p:cNvSpPr>
          <p:nvPr>
            <p:ph type="sldNum" sz="quarter" idx="10"/>
          </p:nvPr>
        </p:nvSpPr>
        <p:spPr/>
        <p:txBody>
          <a:bodyPr/>
          <a:lstStyle/>
          <a:p>
            <a:fld id="{BCB41DD7-B89B-4C0E-8CB9-5F1DD658CE68}" type="slidenum">
              <a:rPr lang="en-US" smtClean="0"/>
              <a:t>42</a:t>
            </a:fld>
            <a:endParaRPr lang="en-US"/>
          </a:p>
        </p:txBody>
      </p:sp>
    </p:spTree>
    <p:extLst>
      <p:ext uri="{BB962C8B-B14F-4D97-AF65-F5344CB8AC3E}">
        <p14:creationId xmlns:p14="http://schemas.microsoft.com/office/powerpoint/2010/main" val="19514720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Understand the data</a:t>
            </a:r>
          </a:p>
          <a:p>
            <a:r>
              <a:rPr lang="en-US" sz="1200" kern="1200" dirty="0">
                <a:solidFill>
                  <a:schemeClr val="tx1"/>
                </a:solidFill>
                <a:effectLst/>
                <a:latin typeface="+mn-lt"/>
                <a:ea typeface="+mn-ea"/>
                <a:cs typeface="+mn-cs"/>
              </a:rPr>
              <a:t>especially the distribution of the outcome </a:t>
            </a:r>
          </a:p>
          <a:p>
            <a:endParaRPr lang="en-US" dirty="0"/>
          </a:p>
        </p:txBody>
      </p:sp>
      <p:sp>
        <p:nvSpPr>
          <p:cNvPr id="4" name="Slide Number Placeholder 3"/>
          <p:cNvSpPr>
            <a:spLocks noGrp="1"/>
          </p:cNvSpPr>
          <p:nvPr>
            <p:ph type="sldNum" sz="quarter" idx="10"/>
          </p:nvPr>
        </p:nvSpPr>
        <p:spPr/>
        <p:txBody>
          <a:bodyPr/>
          <a:lstStyle/>
          <a:p>
            <a:fld id="{BCB41DD7-B89B-4C0E-8CB9-5F1DD658CE68}" type="slidenum">
              <a:rPr lang="en-US" smtClean="0"/>
              <a:t>43</a:t>
            </a:fld>
            <a:endParaRPr lang="en-US"/>
          </a:p>
        </p:txBody>
      </p:sp>
    </p:spTree>
    <p:extLst>
      <p:ext uri="{BB962C8B-B14F-4D97-AF65-F5344CB8AC3E}">
        <p14:creationId xmlns:p14="http://schemas.microsoft.com/office/powerpoint/2010/main" val="23384223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Ground foundation for building a skyscraper </a:t>
            </a:r>
          </a:p>
          <a:p>
            <a:endParaRPr lang="en-US" dirty="0"/>
          </a:p>
        </p:txBody>
      </p:sp>
      <p:sp>
        <p:nvSpPr>
          <p:cNvPr id="4" name="Slide Number Placeholder 3"/>
          <p:cNvSpPr>
            <a:spLocks noGrp="1"/>
          </p:cNvSpPr>
          <p:nvPr>
            <p:ph type="sldNum" sz="quarter" idx="10"/>
          </p:nvPr>
        </p:nvSpPr>
        <p:spPr/>
        <p:txBody>
          <a:bodyPr/>
          <a:lstStyle/>
          <a:p>
            <a:fld id="{BCB41DD7-B89B-4C0E-8CB9-5F1DD658CE68}" type="slidenum">
              <a:rPr lang="en-US" smtClean="0"/>
              <a:t>44</a:t>
            </a:fld>
            <a:endParaRPr lang="en-US"/>
          </a:p>
        </p:txBody>
      </p:sp>
    </p:spTree>
    <p:extLst>
      <p:ext uri="{BB962C8B-B14F-4D97-AF65-F5344CB8AC3E}">
        <p14:creationId xmlns:p14="http://schemas.microsoft.com/office/powerpoint/2010/main" val="18606350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B41DD7-B89B-4C0E-8CB9-5F1DD658CE68}" type="slidenum">
              <a:rPr lang="en-US" smtClean="0"/>
              <a:t>45</a:t>
            </a:fld>
            <a:endParaRPr lang="en-US"/>
          </a:p>
        </p:txBody>
      </p:sp>
    </p:spTree>
    <p:extLst>
      <p:ext uri="{BB962C8B-B14F-4D97-AF65-F5344CB8AC3E}">
        <p14:creationId xmlns:p14="http://schemas.microsoft.com/office/powerpoint/2010/main" val="1182746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B41DD7-B89B-4C0E-8CB9-5F1DD658CE68}" type="slidenum">
              <a:rPr lang="en-US" smtClean="0"/>
              <a:t>46</a:t>
            </a:fld>
            <a:endParaRPr lang="en-US"/>
          </a:p>
        </p:txBody>
      </p:sp>
    </p:spTree>
    <p:extLst>
      <p:ext uri="{BB962C8B-B14F-4D97-AF65-F5344CB8AC3E}">
        <p14:creationId xmlns:p14="http://schemas.microsoft.com/office/powerpoint/2010/main" val="24244555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B41DD7-B89B-4C0E-8CB9-5F1DD658CE68}" type="slidenum">
              <a:rPr lang="en-US" smtClean="0"/>
              <a:t>47</a:t>
            </a:fld>
            <a:endParaRPr lang="en-US"/>
          </a:p>
        </p:txBody>
      </p:sp>
    </p:spTree>
    <p:extLst>
      <p:ext uri="{BB962C8B-B14F-4D97-AF65-F5344CB8AC3E}">
        <p14:creationId xmlns:p14="http://schemas.microsoft.com/office/powerpoint/2010/main" val="14477496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B41DD7-B89B-4C0E-8CB9-5F1DD658CE68}" type="slidenum">
              <a:rPr lang="en-US" smtClean="0"/>
              <a:t>48</a:t>
            </a:fld>
            <a:endParaRPr lang="en-US"/>
          </a:p>
        </p:txBody>
      </p:sp>
    </p:spTree>
    <p:extLst>
      <p:ext uri="{BB962C8B-B14F-4D97-AF65-F5344CB8AC3E}">
        <p14:creationId xmlns:p14="http://schemas.microsoft.com/office/powerpoint/2010/main" val="160057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Going back as needed, e.g., rescoring data based on updated scoring algorithm or reviewers’ feedbacks. </a:t>
            </a:r>
          </a:p>
          <a:p>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t>Hopefully</a:t>
            </a:r>
            <a:r>
              <a:rPr lang="en-US" baseline="0"/>
              <a:t> these suggestions can be helpful with your research. </a:t>
            </a:r>
          </a:p>
          <a:p>
            <a:endParaRPr lang="en-US" dirty="0"/>
          </a:p>
        </p:txBody>
      </p:sp>
      <p:sp>
        <p:nvSpPr>
          <p:cNvPr id="4" name="Slide Number Placeholder 3"/>
          <p:cNvSpPr>
            <a:spLocks noGrp="1"/>
          </p:cNvSpPr>
          <p:nvPr>
            <p:ph type="sldNum" sz="quarter" idx="10"/>
          </p:nvPr>
        </p:nvSpPr>
        <p:spPr/>
        <p:txBody>
          <a:bodyPr/>
          <a:lstStyle/>
          <a:p>
            <a:fld id="{BCB41DD7-B89B-4C0E-8CB9-5F1DD658CE68}" type="slidenum">
              <a:rPr lang="en-US" smtClean="0"/>
              <a:t>49</a:t>
            </a:fld>
            <a:endParaRPr lang="en-US"/>
          </a:p>
        </p:txBody>
      </p:sp>
    </p:spTree>
    <p:extLst>
      <p:ext uri="{BB962C8B-B14F-4D97-AF65-F5344CB8AC3E}">
        <p14:creationId xmlns:p14="http://schemas.microsoft.com/office/powerpoint/2010/main" val="2495491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E0F51-FE5D-4810-B936-9272ADB2539E}"/>
              </a:ext>
            </a:extLst>
          </p:cNvPr>
          <p:cNvSpPr>
            <a:spLocks noGrp="1"/>
          </p:cNvSpPr>
          <p:nvPr>
            <p:ph type="ctrTitle"/>
          </p:nvPr>
        </p:nvSpPr>
        <p:spPr>
          <a:xfrm>
            <a:off x="1524000" y="1175657"/>
            <a:ext cx="9144000" cy="2334306"/>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4106FA9-8649-48AB-8306-7F5C804BA5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C252AE1-7F96-467C-8EA2-48EAD2A4305C}"/>
              </a:ext>
            </a:extLst>
          </p:cNvPr>
          <p:cNvSpPr>
            <a:spLocks noGrp="1"/>
          </p:cNvSpPr>
          <p:nvPr>
            <p:ph type="dt" sz="half" idx="10"/>
          </p:nvPr>
        </p:nvSpPr>
        <p:spPr/>
        <p:txBody>
          <a:bodyPr/>
          <a:lstStyle/>
          <a:p>
            <a:r>
              <a:rPr lang="en-US" dirty="0">
                <a:solidFill>
                  <a:schemeClr val="bg1"/>
                </a:solidFill>
              </a:rPr>
              <a:t>11/5/2018</a:t>
            </a:r>
          </a:p>
        </p:txBody>
      </p:sp>
      <p:sp>
        <p:nvSpPr>
          <p:cNvPr id="5" name="Footer Placeholder 4">
            <a:extLst>
              <a:ext uri="{FF2B5EF4-FFF2-40B4-BE49-F238E27FC236}">
                <a16:creationId xmlns:a16="http://schemas.microsoft.com/office/drawing/2014/main" id="{2A41F2C2-B925-4406-8322-EDFC7DF16CE2}"/>
              </a:ext>
            </a:extLst>
          </p:cNvPr>
          <p:cNvSpPr>
            <a:spLocks noGrp="1"/>
          </p:cNvSpPr>
          <p:nvPr>
            <p:ph type="ftr" sz="quarter" idx="11"/>
          </p:nvPr>
        </p:nvSpPr>
        <p:spPr/>
        <p:txBody>
          <a:bodyPr/>
          <a:lstStyle>
            <a:lvl1pPr>
              <a:defRPr>
                <a:solidFill>
                  <a:schemeClr val="bg1"/>
                </a:solidFill>
              </a:defRPr>
            </a:lvl1pPr>
          </a:lstStyle>
          <a:p>
            <a:r>
              <a:rPr lang="en-US" dirty="0"/>
              <a:t>Footer</a:t>
            </a:r>
          </a:p>
        </p:txBody>
      </p:sp>
      <p:sp>
        <p:nvSpPr>
          <p:cNvPr id="6" name="Slide Number Placeholder 5">
            <a:extLst>
              <a:ext uri="{FF2B5EF4-FFF2-40B4-BE49-F238E27FC236}">
                <a16:creationId xmlns:a16="http://schemas.microsoft.com/office/drawing/2014/main" id="{A6CE8CCA-0FC2-4BF7-9AFD-1D695FD855DC}"/>
              </a:ext>
            </a:extLst>
          </p:cNvPr>
          <p:cNvSpPr>
            <a:spLocks noGrp="1"/>
          </p:cNvSpPr>
          <p:nvPr>
            <p:ph type="sldNum" sz="quarter" idx="12"/>
          </p:nvPr>
        </p:nvSpPr>
        <p:spPr/>
        <p:txBody>
          <a:bodyPr/>
          <a:lstStyle/>
          <a:p>
            <a:r>
              <a:rPr lang="en-US" dirty="0">
                <a:solidFill>
                  <a:schemeClr val="bg1"/>
                </a:solidFill>
              </a:rPr>
              <a:t>Footer</a:t>
            </a:r>
            <a:fld id="{DC050CDB-E45F-4F6B-A7B7-B85910A33629}" type="slidenum">
              <a:rPr lang="en-US" smtClean="0"/>
              <a:pPr/>
              <a:t>‹#›</a:t>
            </a:fld>
            <a:endParaRPr lang="en-US" dirty="0"/>
          </a:p>
        </p:txBody>
      </p:sp>
    </p:spTree>
    <p:extLst>
      <p:ext uri="{BB962C8B-B14F-4D97-AF65-F5344CB8AC3E}">
        <p14:creationId xmlns:p14="http://schemas.microsoft.com/office/powerpoint/2010/main" val="4012193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506ED-6375-4CBC-967A-BB82F17A8F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915BA7-68E7-4A5D-BA04-4EEA087AA57B}"/>
              </a:ext>
            </a:extLst>
          </p:cNvPr>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DBE6396-0744-4321-8DA0-EF6DF2BBF867}"/>
              </a:ext>
            </a:extLst>
          </p:cNvPr>
          <p:cNvSpPr>
            <a:spLocks noGrp="1"/>
          </p:cNvSpPr>
          <p:nvPr>
            <p:ph type="dt" sz="half" idx="10"/>
          </p:nvPr>
        </p:nvSpPr>
        <p:spPr/>
        <p:txBody>
          <a:bodyPr/>
          <a:lstStyle>
            <a:lvl1pPr>
              <a:defRPr>
                <a:solidFill>
                  <a:schemeClr val="bg1"/>
                </a:solidFill>
              </a:defRPr>
            </a:lvl1pPr>
          </a:lstStyle>
          <a:p>
            <a:r>
              <a:rPr lang="en-US" dirty="0"/>
              <a:t>11/5/2018</a:t>
            </a:r>
          </a:p>
        </p:txBody>
      </p:sp>
      <p:sp>
        <p:nvSpPr>
          <p:cNvPr id="5" name="Footer Placeholder 4">
            <a:extLst>
              <a:ext uri="{FF2B5EF4-FFF2-40B4-BE49-F238E27FC236}">
                <a16:creationId xmlns:a16="http://schemas.microsoft.com/office/drawing/2014/main" id="{17714E5D-77B7-4867-9A27-91EE2760B046}"/>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784A3D90-67C6-4692-AD9C-1B2B896ACCAD}"/>
              </a:ext>
            </a:extLst>
          </p:cNvPr>
          <p:cNvSpPr>
            <a:spLocks noGrp="1"/>
          </p:cNvSpPr>
          <p:nvPr>
            <p:ph type="sldNum" sz="quarter" idx="12"/>
          </p:nvPr>
        </p:nvSpPr>
        <p:spPr/>
        <p:txBody>
          <a:bodyPr/>
          <a:lstStyle>
            <a:lvl1pPr>
              <a:defRPr>
                <a:solidFill>
                  <a:schemeClr val="bg1"/>
                </a:solidFill>
              </a:defRPr>
            </a:lvl1pPr>
          </a:lstStyle>
          <a:p>
            <a:fld id="{DC050CDB-E45F-4F6B-A7B7-B85910A33629}" type="slidenum">
              <a:rPr lang="en-US" smtClean="0"/>
              <a:pPr/>
              <a:t>‹#›</a:t>
            </a:fld>
            <a:endParaRPr lang="en-US" dirty="0"/>
          </a:p>
        </p:txBody>
      </p:sp>
    </p:spTree>
    <p:extLst>
      <p:ext uri="{BB962C8B-B14F-4D97-AF65-F5344CB8AC3E}">
        <p14:creationId xmlns:p14="http://schemas.microsoft.com/office/powerpoint/2010/main" val="832184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F3350-A634-4BEF-9535-97645EE08B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3FF83C-0D5C-428B-9380-E06A6561B6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69CACC1-A47F-4A54-B8C0-CFE0F404C064}"/>
              </a:ext>
            </a:extLst>
          </p:cNvPr>
          <p:cNvSpPr>
            <a:spLocks noGrp="1"/>
          </p:cNvSpPr>
          <p:nvPr>
            <p:ph type="dt" sz="half" idx="10"/>
          </p:nvPr>
        </p:nvSpPr>
        <p:spPr/>
        <p:txBody>
          <a:bodyPr/>
          <a:lstStyle>
            <a:lvl1pPr>
              <a:defRPr>
                <a:solidFill>
                  <a:schemeClr val="bg1"/>
                </a:solidFill>
              </a:defRPr>
            </a:lvl1pPr>
          </a:lstStyle>
          <a:p>
            <a:r>
              <a:rPr lang="en-US" dirty="0"/>
              <a:t>11/5/2018</a:t>
            </a:r>
          </a:p>
        </p:txBody>
      </p:sp>
      <p:sp>
        <p:nvSpPr>
          <p:cNvPr id="5" name="Footer Placeholder 4">
            <a:extLst>
              <a:ext uri="{FF2B5EF4-FFF2-40B4-BE49-F238E27FC236}">
                <a16:creationId xmlns:a16="http://schemas.microsoft.com/office/drawing/2014/main" id="{7A130190-DC96-4E6D-8165-07C52FC685FB}"/>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AB5B7487-CCB6-48E2-A1B8-E906BE106C93}"/>
              </a:ext>
            </a:extLst>
          </p:cNvPr>
          <p:cNvSpPr>
            <a:spLocks noGrp="1"/>
          </p:cNvSpPr>
          <p:nvPr>
            <p:ph type="sldNum" sz="quarter" idx="12"/>
          </p:nvPr>
        </p:nvSpPr>
        <p:spPr/>
        <p:txBody>
          <a:bodyPr/>
          <a:lstStyle>
            <a:lvl1pPr>
              <a:defRPr>
                <a:solidFill>
                  <a:schemeClr val="bg1"/>
                </a:solidFill>
              </a:defRPr>
            </a:lvl1pPr>
          </a:lstStyle>
          <a:p>
            <a:fld id="{DC050CDB-E45F-4F6B-A7B7-B85910A33629}" type="slidenum">
              <a:rPr lang="en-US" smtClean="0"/>
              <a:pPr/>
              <a:t>‹#›</a:t>
            </a:fld>
            <a:endParaRPr lang="en-US" dirty="0"/>
          </a:p>
        </p:txBody>
      </p:sp>
    </p:spTree>
    <p:extLst>
      <p:ext uri="{BB962C8B-B14F-4D97-AF65-F5344CB8AC3E}">
        <p14:creationId xmlns:p14="http://schemas.microsoft.com/office/powerpoint/2010/main" val="3563279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BA7DF-9C4D-426D-A873-FBFEDCE1EC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2FE3F-5177-45EB-A8EF-1574E9780B20}"/>
              </a:ext>
            </a:extLst>
          </p:cNvPr>
          <p:cNvSpPr>
            <a:spLocks noGrp="1"/>
          </p:cNvSpPr>
          <p:nvPr>
            <p:ph sz="half" idx="1"/>
          </p:nvPr>
        </p:nvSpPr>
        <p:spPr>
          <a:xfrm>
            <a:off x="838200" y="2498409"/>
            <a:ext cx="5181600" cy="367855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3D72FFC-1623-4CD8-B455-A8E6BB5E3503}"/>
              </a:ext>
            </a:extLst>
          </p:cNvPr>
          <p:cNvSpPr>
            <a:spLocks noGrp="1"/>
          </p:cNvSpPr>
          <p:nvPr>
            <p:ph sz="half" idx="2"/>
          </p:nvPr>
        </p:nvSpPr>
        <p:spPr>
          <a:xfrm>
            <a:off x="6172200" y="2498409"/>
            <a:ext cx="5181600" cy="3678554"/>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D0A674E9-D1EE-4A33-B0A9-2FAC490DDCDA}"/>
              </a:ext>
            </a:extLst>
          </p:cNvPr>
          <p:cNvSpPr>
            <a:spLocks noGrp="1"/>
          </p:cNvSpPr>
          <p:nvPr>
            <p:ph type="dt" sz="half" idx="10"/>
          </p:nvPr>
        </p:nvSpPr>
        <p:spPr/>
        <p:txBody>
          <a:bodyPr/>
          <a:lstStyle>
            <a:lvl1pPr>
              <a:defRPr>
                <a:solidFill>
                  <a:schemeClr val="bg1"/>
                </a:solidFill>
              </a:defRPr>
            </a:lvl1pPr>
          </a:lstStyle>
          <a:p>
            <a:r>
              <a:rPr lang="en-US" dirty="0"/>
              <a:t>11/5/2018</a:t>
            </a:r>
          </a:p>
        </p:txBody>
      </p:sp>
      <p:sp>
        <p:nvSpPr>
          <p:cNvPr id="6" name="Footer Placeholder 5">
            <a:extLst>
              <a:ext uri="{FF2B5EF4-FFF2-40B4-BE49-F238E27FC236}">
                <a16:creationId xmlns:a16="http://schemas.microsoft.com/office/drawing/2014/main" id="{8CAA47F1-B227-47F0-9090-F03EA7BCBAEF}"/>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27B8D926-05C1-4B04-A8D8-05AE85BECCF9}"/>
              </a:ext>
            </a:extLst>
          </p:cNvPr>
          <p:cNvSpPr>
            <a:spLocks noGrp="1"/>
          </p:cNvSpPr>
          <p:nvPr>
            <p:ph type="sldNum" sz="quarter" idx="12"/>
          </p:nvPr>
        </p:nvSpPr>
        <p:spPr/>
        <p:txBody>
          <a:bodyPr/>
          <a:lstStyle>
            <a:lvl1pPr>
              <a:defRPr>
                <a:solidFill>
                  <a:schemeClr val="bg1"/>
                </a:solidFill>
              </a:defRPr>
            </a:lvl1pPr>
          </a:lstStyle>
          <a:p>
            <a:fld id="{DC050CDB-E45F-4F6B-A7B7-B85910A33629}" type="slidenum">
              <a:rPr lang="en-US" smtClean="0"/>
              <a:pPr/>
              <a:t>‹#›</a:t>
            </a:fld>
            <a:endParaRPr lang="en-US" dirty="0"/>
          </a:p>
        </p:txBody>
      </p:sp>
    </p:spTree>
    <p:extLst>
      <p:ext uri="{BB962C8B-B14F-4D97-AF65-F5344CB8AC3E}">
        <p14:creationId xmlns:p14="http://schemas.microsoft.com/office/powerpoint/2010/main" val="3786338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AC00D-CC75-4513-9A56-DE666FEA7B5E}"/>
              </a:ext>
            </a:extLst>
          </p:cNvPr>
          <p:cNvSpPr>
            <a:spLocks noGrp="1"/>
          </p:cNvSpPr>
          <p:nvPr>
            <p:ph type="title"/>
          </p:nvPr>
        </p:nvSpPr>
        <p:spPr>
          <a:xfrm>
            <a:off x="838200" y="1179512"/>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73C6BE7-65AA-49B5-ACAD-CA041ACE8CF7}"/>
              </a:ext>
            </a:extLst>
          </p:cNvPr>
          <p:cNvSpPr>
            <a:spLocks noGrp="1"/>
          </p:cNvSpPr>
          <p:nvPr>
            <p:ph type="body" idx="1"/>
          </p:nvPr>
        </p:nvSpPr>
        <p:spPr>
          <a:xfrm>
            <a:off x="838200" y="2505075"/>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51E3FBA0-49D5-49BC-9573-11DCAD0081EB}"/>
              </a:ext>
            </a:extLst>
          </p:cNvPr>
          <p:cNvSpPr>
            <a:spLocks noGrp="1"/>
          </p:cNvSpPr>
          <p:nvPr>
            <p:ph sz="half" idx="2"/>
          </p:nvPr>
        </p:nvSpPr>
        <p:spPr>
          <a:xfrm>
            <a:off x="839788" y="3359019"/>
            <a:ext cx="5157787" cy="28306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8A64BB-7F55-4A8F-B838-0CBAC5855D18}"/>
              </a:ext>
            </a:extLst>
          </p:cNvPr>
          <p:cNvSpPr>
            <a:spLocks noGrp="1"/>
          </p:cNvSpPr>
          <p:nvPr>
            <p:ph type="body" sz="quarter" idx="3"/>
          </p:nvPr>
        </p:nvSpPr>
        <p:spPr>
          <a:xfrm>
            <a:off x="6170612" y="2505075"/>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7ED6FC0-054B-4393-84EB-86B41EAC61FA}"/>
              </a:ext>
            </a:extLst>
          </p:cNvPr>
          <p:cNvSpPr>
            <a:spLocks noGrp="1"/>
          </p:cNvSpPr>
          <p:nvPr>
            <p:ph sz="quarter" idx="4"/>
          </p:nvPr>
        </p:nvSpPr>
        <p:spPr>
          <a:xfrm>
            <a:off x="6172200" y="3359019"/>
            <a:ext cx="5183188" cy="28306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C538C1-9E45-4DD8-B7BA-A9F69717A6DB}"/>
              </a:ext>
            </a:extLst>
          </p:cNvPr>
          <p:cNvSpPr>
            <a:spLocks noGrp="1"/>
          </p:cNvSpPr>
          <p:nvPr>
            <p:ph type="dt" sz="half" idx="10"/>
          </p:nvPr>
        </p:nvSpPr>
        <p:spPr/>
        <p:txBody>
          <a:bodyPr/>
          <a:lstStyle>
            <a:lvl1pPr>
              <a:defRPr>
                <a:solidFill>
                  <a:schemeClr val="bg1"/>
                </a:solidFill>
              </a:defRPr>
            </a:lvl1pPr>
          </a:lstStyle>
          <a:p>
            <a:r>
              <a:rPr lang="en-US" dirty="0"/>
              <a:t>11/5/2018</a:t>
            </a:r>
          </a:p>
        </p:txBody>
      </p:sp>
      <p:sp>
        <p:nvSpPr>
          <p:cNvPr id="8" name="Footer Placeholder 7">
            <a:extLst>
              <a:ext uri="{FF2B5EF4-FFF2-40B4-BE49-F238E27FC236}">
                <a16:creationId xmlns:a16="http://schemas.microsoft.com/office/drawing/2014/main" id="{57120158-B36A-4242-8313-7AE38D3DA2E3}"/>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9" name="Slide Number Placeholder 8">
            <a:extLst>
              <a:ext uri="{FF2B5EF4-FFF2-40B4-BE49-F238E27FC236}">
                <a16:creationId xmlns:a16="http://schemas.microsoft.com/office/drawing/2014/main" id="{346C56F6-DD7D-4BBF-8E41-6F0B44077516}"/>
              </a:ext>
            </a:extLst>
          </p:cNvPr>
          <p:cNvSpPr>
            <a:spLocks noGrp="1"/>
          </p:cNvSpPr>
          <p:nvPr>
            <p:ph type="sldNum" sz="quarter" idx="12"/>
          </p:nvPr>
        </p:nvSpPr>
        <p:spPr/>
        <p:txBody>
          <a:bodyPr/>
          <a:lstStyle>
            <a:lvl1pPr>
              <a:defRPr>
                <a:solidFill>
                  <a:schemeClr val="bg1"/>
                </a:solidFill>
              </a:defRPr>
            </a:lvl1pPr>
          </a:lstStyle>
          <a:p>
            <a:fld id="{DC050CDB-E45F-4F6B-A7B7-B85910A33629}" type="slidenum">
              <a:rPr lang="en-US" smtClean="0"/>
              <a:pPr/>
              <a:t>‹#›</a:t>
            </a:fld>
            <a:endParaRPr lang="en-US" dirty="0"/>
          </a:p>
        </p:txBody>
      </p:sp>
    </p:spTree>
    <p:extLst>
      <p:ext uri="{BB962C8B-B14F-4D97-AF65-F5344CB8AC3E}">
        <p14:creationId xmlns:p14="http://schemas.microsoft.com/office/powerpoint/2010/main" val="3055966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AE872-85DD-4BE5-96CB-D74A0886AD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3646C6-AAD6-4080-9A00-0EBF6287FE76}"/>
              </a:ext>
            </a:extLst>
          </p:cNvPr>
          <p:cNvSpPr>
            <a:spLocks noGrp="1"/>
          </p:cNvSpPr>
          <p:nvPr>
            <p:ph type="dt" sz="half" idx="10"/>
          </p:nvPr>
        </p:nvSpPr>
        <p:spPr/>
        <p:txBody>
          <a:bodyPr/>
          <a:lstStyle>
            <a:lvl1pPr>
              <a:defRPr>
                <a:solidFill>
                  <a:schemeClr val="bg1"/>
                </a:solidFill>
              </a:defRPr>
            </a:lvl1pPr>
          </a:lstStyle>
          <a:p>
            <a:r>
              <a:rPr lang="en-US" dirty="0"/>
              <a:t>11/5/2018</a:t>
            </a:r>
          </a:p>
        </p:txBody>
      </p:sp>
      <p:sp>
        <p:nvSpPr>
          <p:cNvPr id="4" name="Footer Placeholder 3">
            <a:extLst>
              <a:ext uri="{FF2B5EF4-FFF2-40B4-BE49-F238E27FC236}">
                <a16:creationId xmlns:a16="http://schemas.microsoft.com/office/drawing/2014/main" id="{B6C65A99-451A-4987-9CA6-3B2F8985C07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5" name="Slide Number Placeholder 4">
            <a:extLst>
              <a:ext uri="{FF2B5EF4-FFF2-40B4-BE49-F238E27FC236}">
                <a16:creationId xmlns:a16="http://schemas.microsoft.com/office/drawing/2014/main" id="{B212DC96-9115-4FFE-BBFE-01F29F61981D}"/>
              </a:ext>
            </a:extLst>
          </p:cNvPr>
          <p:cNvSpPr>
            <a:spLocks noGrp="1"/>
          </p:cNvSpPr>
          <p:nvPr>
            <p:ph type="sldNum" sz="quarter" idx="12"/>
          </p:nvPr>
        </p:nvSpPr>
        <p:spPr/>
        <p:txBody>
          <a:bodyPr/>
          <a:lstStyle>
            <a:lvl1pPr>
              <a:defRPr>
                <a:solidFill>
                  <a:schemeClr val="bg1"/>
                </a:solidFill>
              </a:defRPr>
            </a:lvl1pPr>
          </a:lstStyle>
          <a:p>
            <a:fld id="{DC050CDB-E45F-4F6B-A7B7-B85910A33629}" type="slidenum">
              <a:rPr lang="en-US" smtClean="0"/>
              <a:pPr/>
              <a:t>‹#›</a:t>
            </a:fld>
            <a:endParaRPr lang="en-US" dirty="0"/>
          </a:p>
        </p:txBody>
      </p:sp>
    </p:spTree>
    <p:extLst>
      <p:ext uri="{BB962C8B-B14F-4D97-AF65-F5344CB8AC3E}">
        <p14:creationId xmlns:p14="http://schemas.microsoft.com/office/powerpoint/2010/main" val="1183241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A7689E-34DE-41B2-8430-5C6ECDFAAB3F}"/>
              </a:ext>
            </a:extLst>
          </p:cNvPr>
          <p:cNvSpPr>
            <a:spLocks noGrp="1"/>
          </p:cNvSpPr>
          <p:nvPr>
            <p:ph type="dt" sz="half" idx="10"/>
          </p:nvPr>
        </p:nvSpPr>
        <p:spPr/>
        <p:txBody>
          <a:bodyPr/>
          <a:lstStyle>
            <a:lvl1pPr>
              <a:defRPr>
                <a:solidFill>
                  <a:schemeClr val="bg1"/>
                </a:solidFill>
              </a:defRPr>
            </a:lvl1pPr>
          </a:lstStyle>
          <a:p>
            <a:r>
              <a:rPr lang="en-US" dirty="0"/>
              <a:t>11/5/2018</a:t>
            </a:r>
          </a:p>
        </p:txBody>
      </p:sp>
      <p:sp>
        <p:nvSpPr>
          <p:cNvPr id="3" name="Footer Placeholder 2">
            <a:extLst>
              <a:ext uri="{FF2B5EF4-FFF2-40B4-BE49-F238E27FC236}">
                <a16:creationId xmlns:a16="http://schemas.microsoft.com/office/drawing/2014/main" id="{7EB3F3D8-8633-49C4-9ABE-3BE8381CFEBC}"/>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8CB7C07B-C6CF-4E1B-950C-24A99F963D50}"/>
              </a:ext>
            </a:extLst>
          </p:cNvPr>
          <p:cNvSpPr>
            <a:spLocks noGrp="1"/>
          </p:cNvSpPr>
          <p:nvPr>
            <p:ph type="sldNum" sz="quarter" idx="12"/>
          </p:nvPr>
        </p:nvSpPr>
        <p:spPr/>
        <p:txBody>
          <a:bodyPr/>
          <a:lstStyle>
            <a:lvl1pPr>
              <a:defRPr>
                <a:solidFill>
                  <a:schemeClr val="bg1"/>
                </a:solidFill>
              </a:defRPr>
            </a:lvl1pPr>
          </a:lstStyle>
          <a:p>
            <a:fld id="{DC050CDB-E45F-4F6B-A7B7-B85910A33629}" type="slidenum">
              <a:rPr lang="en-US" smtClean="0"/>
              <a:pPr/>
              <a:t>‹#›</a:t>
            </a:fld>
            <a:endParaRPr lang="en-US" dirty="0"/>
          </a:p>
        </p:txBody>
      </p:sp>
    </p:spTree>
    <p:extLst>
      <p:ext uri="{BB962C8B-B14F-4D97-AF65-F5344CB8AC3E}">
        <p14:creationId xmlns:p14="http://schemas.microsoft.com/office/powerpoint/2010/main" val="3343325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CBCFF-8BEC-42EF-819C-85276ABC4BC2}"/>
              </a:ext>
            </a:extLst>
          </p:cNvPr>
          <p:cNvSpPr>
            <a:spLocks noGrp="1"/>
          </p:cNvSpPr>
          <p:nvPr>
            <p:ph type="title"/>
          </p:nvPr>
        </p:nvSpPr>
        <p:spPr>
          <a:xfrm>
            <a:off x="839788" y="1184988"/>
            <a:ext cx="393223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6EDB003C-4636-4D2F-8178-4221B1871B02}"/>
              </a:ext>
            </a:extLst>
          </p:cNvPr>
          <p:cNvSpPr>
            <a:spLocks noGrp="1"/>
          </p:cNvSpPr>
          <p:nvPr>
            <p:ph idx="1"/>
          </p:nvPr>
        </p:nvSpPr>
        <p:spPr>
          <a:xfrm>
            <a:off x="5183188" y="1184988"/>
            <a:ext cx="6172200" cy="46760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C7E0BFF-7D18-4F87-A3A6-87419186486A}"/>
              </a:ext>
            </a:extLst>
          </p:cNvPr>
          <p:cNvSpPr>
            <a:spLocks noGrp="1"/>
          </p:cNvSpPr>
          <p:nvPr>
            <p:ph type="body" sz="half" idx="2"/>
          </p:nvPr>
        </p:nvSpPr>
        <p:spPr>
          <a:xfrm>
            <a:off x="839788" y="2785188"/>
            <a:ext cx="3932237" cy="3083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a:extLst>
              <a:ext uri="{FF2B5EF4-FFF2-40B4-BE49-F238E27FC236}">
                <a16:creationId xmlns:a16="http://schemas.microsoft.com/office/drawing/2014/main" id="{5F279E17-336B-49CC-B9B5-D48652B19E1E}"/>
              </a:ext>
            </a:extLst>
          </p:cNvPr>
          <p:cNvSpPr>
            <a:spLocks noGrp="1"/>
          </p:cNvSpPr>
          <p:nvPr>
            <p:ph type="dt" sz="half" idx="10"/>
          </p:nvPr>
        </p:nvSpPr>
        <p:spPr/>
        <p:txBody>
          <a:bodyPr/>
          <a:lstStyle>
            <a:lvl1pPr>
              <a:defRPr>
                <a:solidFill>
                  <a:schemeClr val="bg1"/>
                </a:solidFill>
              </a:defRPr>
            </a:lvl1pPr>
          </a:lstStyle>
          <a:p>
            <a:r>
              <a:rPr lang="en-US" dirty="0"/>
              <a:t>11/5/2018</a:t>
            </a:r>
          </a:p>
        </p:txBody>
      </p:sp>
      <p:sp>
        <p:nvSpPr>
          <p:cNvPr id="6" name="Footer Placeholder 5">
            <a:extLst>
              <a:ext uri="{FF2B5EF4-FFF2-40B4-BE49-F238E27FC236}">
                <a16:creationId xmlns:a16="http://schemas.microsoft.com/office/drawing/2014/main" id="{BCD1E14D-74A0-456F-8060-DCB730DC03C4}"/>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0AD052FF-8CC1-4B39-ABC2-ECF39DB177B1}"/>
              </a:ext>
            </a:extLst>
          </p:cNvPr>
          <p:cNvSpPr>
            <a:spLocks noGrp="1"/>
          </p:cNvSpPr>
          <p:nvPr>
            <p:ph type="sldNum" sz="quarter" idx="12"/>
          </p:nvPr>
        </p:nvSpPr>
        <p:spPr/>
        <p:txBody>
          <a:bodyPr/>
          <a:lstStyle>
            <a:lvl1pPr>
              <a:defRPr>
                <a:solidFill>
                  <a:schemeClr val="bg1"/>
                </a:solidFill>
              </a:defRPr>
            </a:lvl1pPr>
          </a:lstStyle>
          <a:p>
            <a:fld id="{DC050CDB-E45F-4F6B-A7B7-B85910A33629}" type="slidenum">
              <a:rPr lang="en-US" smtClean="0"/>
              <a:pPr/>
              <a:t>‹#›</a:t>
            </a:fld>
            <a:endParaRPr lang="en-US" dirty="0"/>
          </a:p>
        </p:txBody>
      </p:sp>
    </p:spTree>
    <p:extLst>
      <p:ext uri="{BB962C8B-B14F-4D97-AF65-F5344CB8AC3E}">
        <p14:creationId xmlns:p14="http://schemas.microsoft.com/office/powerpoint/2010/main" val="1170730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CE66E-D780-432A-A5A4-D4385DDBC962}"/>
              </a:ext>
            </a:extLst>
          </p:cNvPr>
          <p:cNvSpPr>
            <a:spLocks noGrp="1"/>
          </p:cNvSpPr>
          <p:nvPr>
            <p:ph type="title"/>
          </p:nvPr>
        </p:nvSpPr>
        <p:spPr>
          <a:xfrm>
            <a:off x="839788" y="1166327"/>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0731D9AC-AF3E-4CCB-9FB6-0EB928F087F5}"/>
              </a:ext>
            </a:extLst>
          </p:cNvPr>
          <p:cNvSpPr>
            <a:spLocks noGrp="1"/>
          </p:cNvSpPr>
          <p:nvPr>
            <p:ph type="pic" idx="1"/>
          </p:nvPr>
        </p:nvSpPr>
        <p:spPr>
          <a:xfrm>
            <a:off x="5183188" y="1166327"/>
            <a:ext cx="6172200" cy="469472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6C8951-F358-4F91-A0EE-0560A735FB44}"/>
              </a:ext>
            </a:extLst>
          </p:cNvPr>
          <p:cNvSpPr>
            <a:spLocks noGrp="1"/>
          </p:cNvSpPr>
          <p:nvPr>
            <p:ph type="body" sz="half" idx="2"/>
          </p:nvPr>
        </p:nvSpPr>
        <p:spPr>
          <a:xfrm>
            <a:off x="839788" y="2766528"/>
            <a:ext cx="3932237" cy="31024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a:extLst>
              <a:ext uri="{FF2B5EF4-FFF2-40B4-BE49-F238E27FC236}">
                <a16:creationId xmlns:a16="http://schemas.microsoft.com/office/drawing/2014/main" id="{2F1912F4-D8C1-4CA2-B35D-DF69BDA80E4D}"/>
              </a:ext>
            </a:extLst>
          </p:cNvPr>
          <p:cNvSpPr>
            <a:spLocks noGrp="1"/>
          </p:cNvSpPr>
          <p:nvPr>
            <p:ph type="dt" sz="half" idx="10"/>
          </p:nvPr>
        </p:nvSpPr>
        <p:spPr/>
        <p:txBody>
          <a:bodyPr/>
          <a:lstStyle>
            <a:lvl1pPr>
              <a:defRPr>
                <a:solidFill>
                  <a:schemeClr val="bg1"/>
                </a:solidFill>
              </a:defRPr>
            </a:lvl1pPr>
          </a:lstStyle>
          <a:p>
            <a:r>
              <a:rPr lang="en-US" dirty="0"/>
              <a:t>11/5/2018</a:t>
            </a:r>
          </a:p>
        </p:txBody>
      </p:sp>
      <p:sp>
        <p:nvSpPr>
          <p:cNvPr id="6" name="Footer Placeholder 5">
            <a:extLst>
              <a:ext uri="{FF2B5EF4-FFF2-40B4-BE49-F238E27FC236}">
                <a16:creationId xmlns:a16="http://schemas.microsoft.com/office/drawing/2014/main" id="{54A14012-E7A1-412E-AC57-C346D53B306A}"/>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C4C2774A-1951-4B9F-9295-3F51B1C35FB8}"/>
              </a:ext>
            </a:extLst>
          </p:cNvPr>
          <p:cNvSpPr>
            <a:spLocks noGrp="1"/>
          </p:cNvSpPr>
          <p:nvPr>
            <p:ph type="sldNum" sz="quarter" idx="12"/>
          </p:nvPr>
        </p:nvSpPr>
        <p:spPr/>
        <p:txBody>
          <a:bodyPr/>
          <a:lstStyle>
            <a:lvl1pPr>
              <a:defRPr>
                <a:solidFill>
                  <a:schemeClr val="bg1"/>
                </a:solidFill>
              </a:defRPr>
            </a:lvl1pPr>
          </a:lstStyle>
          <a:p>
            <a:fld id="{DC050CDB-E45F-4F6B-A7B7-B85910A33629}" type="slidenum">
              <a:rPr lang="en-US" smtClean="0"/>
              <a:pPr/>
              <a:t>‹#›</a:t>
            </a:fld>
            <a:endParaRPr lang="en-US" dirty="0"/>
          </a:p>
        </p:txBody>
      </p:sp>
    </p:spTree>
    <p:extLst>
      <p:ext uri="{BB962C8B-B14F-4D97-AF65-F5344CB8AC3E}">
        <p14:creationId xmlns:p14="http://schemas.microsoft.com/office/powerpoint/2010/main" val="1840680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B696E-EE50-4695-AA62-5D3EA19BCBE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A46D9E-4FF4-43A4-B0B6-E463E474FAF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3C1FDE-EF65-470E-B44D-44CBA4F6DDC1}"/>
              </a:ext>
            </a:extLst>
          </p:cNvPr>
          <p:cNvSpPr>
            <a:spLocks noGrp="1"/>
          </p:cNvSpPr>
          <p:nvPr>
            <p:ph type="dt" sz="half" idx="10"/>
          </p:nvPr>
        </p:nvSpPr>
        <p:spPr/>
        <p:txBody>
          <a:bodyPr/>
          <a:lstStyle>
            <a:lvl1pPr>
              <a:defRPr>
                <a:solidFill>
                  <a:schemeClr val="bg1"/>
                </a:solidFill>
              </a:defRPr>
            </a:lvl1pPr>
          </a:lstStyle>
          <a:p>
            <a:r>
              <a:rPr lang="en-US" dirty="0"/>
              <a:t>11/5/2018</a:t>
            </a:r>
          </a:p>
        </p:txBody>
      </p:sp>
      <p:sp>
        <p:nvSpPr>
          <p:cNvPr id="5" name="Footer Placeholder 4">
            <a:extLst>
              <a:ext uri="{FF2B5EF4-FFF2-40B4-BE49-F238E27FC236}">
                <a16:creationId xmlns:a16="http://schemas.microsoft.com/office/drawing/2014/main" id="{BC5F7FBD-B539-4DAF-AE74-E4378E2E641B}"/>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BF38BBAE-7869-40D6-9D39-6E626F5A6921}"/>
              </a:ext>
            </a:extLst>
          </p:cNvPr>
          <p:cNvSpPr>
            <a:spLocks noGrp="1"/>
          </p:cNvSpPr>
          <p:nvPr>
            <p:ph type="sldNum" sz="quarter" idx="12"/>
          </p:nvPr>
        </p:nvSpPr>
        <p:spPr/>
        <p:txBody>
          <a:bodyPr/>
          <a:lstStyle>
            <a:lvl1pPr>
              <a:defRPr>
                <a:solidFill>
                  <a:schemeClr val="bg1"/>
                </a:solidFill>
              </a:defRPr>
            </a:lvl1pPr>
          </a:lstStyle>
          <a:p>
            <a:fld id="{DC050CDB-E45F-4F6B-A7B7-B85910A33629}" type="slidenum">
              <a:rPr lang="en-US" smtClean="0"/>
              <a:pPr/>
              <a:t>‹#›</a:t>
            </a:fld>
            <a:endParaRPr lang="en-US" dirty="0"/>
          </a:p>
        </p:txBody>
      </p:sp>
    </p:spTree>
    <p:extLst>
      <p:ext uri="{BB962C8B-B14F-4D97-AF65-F5344CB8AC3E}">
        <p14:creationId xmlns:p14="http://schemas.microsoft.com/office/powerpoint/2010/main" val="614199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EF858C-5240-4D18-AF9B-776B075AEB44}"/>
              </a:ext>
            </a:extLst>
          </p:cNvPr>
          <p:cNvSpPr>
            <a:spLocks noGrp="1"/>
          </p:cNvSpPr>
          <p:nvPr>
            <p:ph type="title" orient="vert"/>
          </p:nvPr>
        </p:nvSpPr>
        <p:spPr>
          <a:xfrm>
            <a:off x="8724900" y="1166325"/>
            <a:ext cx="2628900" cy="5010637"/>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62AEB123-3874-45F5-84D7-237D05A73DDA}"/>
              </a:ext>
            </a:extLst>
          </p:cNvPr>
          <p:cNvSpPr>
            <a:spLocks noGrp="1"/>
          </p:cNvSpPr>
          <p:nvPr>
            <p:ph type="body" orient="vert" idx="1"/>
          </p:nvPr>
        </p:nvSpPr>
        <p:spPr>
          <a:xfrm>
            <a:off x="838200" y="1166327"/>
            <a:ext cx="7734300" cy="501063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8F5F68-7490-4329-B62F-4648A4C8B7A0}"/>
              </a:ext>
            </a:extLst>
          </p:cNvPr>
          <p:cNvSpPr>
            <a:spLocks noGrp="1"/>
          </p:cNvSpPr>
          <p:nvPr>
            <p:ph type="dt" sz="half" idx="10"/>
          </p:nvPr>
        </p:nvSpPr>
        <p:spPr/>
        <p:txBody>
          <a:bodyPr/>
          <a:lstStyle>
            <a:lvl1pPr>
              <a:defRPr>
                <a:solidFill>
                  <a:schemeClr val="bg1"/>
                </a:solidFill>
              </a:defRPr>
            </a:lvl1pPr>
          </a:lstStyle>
          <a:p>
            <a:r>
              <a:rPr lang="en-US" dirty="0"/>
              <a:t>11/5/2018</a:t>
            </a:r>
          </a:p>
        </p:txBody>
      </p:sp>
      <p:sp>
        <p:nvSpPr>
          <p:cNvPr id="5" name="Footer Placeholder 4">
            <a:extLst>
              <a:ext uri="{FF2B5EF4-FFF2-40B4-BE49-F238E27FC236}">
                <a16:creationId xmlns:a16="http://schemas.microsoft.com/office/drawing/2014/main" id="{18941BF4-BE36-46A6-9C07-0F7D35313142}"/>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111DC71E-5452-4E12-AFC6-8E7D647A1628}"/>
              </a:ext>
            </a:extLst>
          </p:cNvPr>
          <p:cNvSpPr>
            <a:spLocks noGrp="1"/>
          </p:cNvSpPr>
          <p:nvPr>
            <p:ph type="sldNum" sz="quarter" idx="12"/>
          </p:nvPr>
        </p:nvSpPr>
        <p:spPr/>
        <p:txBody>
          <a:bodyPr/>
          <a:lstStyle>
            <a:lvl1pPr>
              <a:defRPr>
                <a:solidFill>
                  <a:schemeClr val="bg1"/>
                </a:solidFill>
              </a:defRPr>
            </a:lvl1pPr>
          </a:lstStyle>
          <a:p>
            <a:fld id="{DC050CDB-E45F-4F6B-A7B7-B85910A33629}" type="slidenum">
              <a:rPr lang="en-US" smtClean="0"/>
              <a:pPr/>
              <a:t>‹#›</a:t>
            </a:fld>
            <a:endParaRPr lang="en-US" dirty="0"/>
          </a:p>
        </p:txBody>
      </p:sp>
    </p:spTree>
    <p:extLst>
      <p:ext uri="{BB962C8B-B14F-4D97-AF65-F5344CB8AC3E}">
        <p14:creationId xmlns:p14="http://schemas.microsoft.com/office/powerpoint/2010/main" val="4045642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A5E5D4-DB9A-4CE4-9C4F-3F090C3CF121}"/>
              </a:ext>
            </a:extLst>
          </p:cNvPr>
          <p:cNvSpPr>
            <a:spLocks noGrp="1"/>
          </p:cNvSpPr>
          <p:nvPr>
            <p:ph type="title"/>
          </p:nvPr>
        </p:nvSpPr>
        <p:spPr>
          <a:xfrm>
            <a:off x="838200" y="117284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7A0843F-D610-4A4F-B8C3-C2E1BD09B78E}"/>
              </a:ext>
            </a:extLst>
          </p:cNvPr>
          <p:cNvSpPr>
            <a:spLocks noGrp="1"/>
          </p:cNvSpPr>
          <p:nvPr>
            <p:ph type="body" idx="1"/>
          </p:nvPr>
        </p:nvSpPr>
        <p:spPr>
          <a:xfrm>
            <a:off x="838200" y="2498410"/>
            <a:ext cx="10515600" cy="385794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B1C1F7-A2FC-402A-84BA-CE6D40F3A6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11/5/2018</a:t>
            </a:r>
          </a:p>
        </p:txBody>
      </p:sp>
      <p:sp>
        <p:nvSpPr>
          <p:cNvPr id="5" name="Footer Placeholder 4">
            <a:extLst>
              <a:ext uri="{FF2B5EF4-FFF2-40B4-BE49-F238E27FC236}">
                <a16:creationId xmlns:a16="http://schemas.microsoft.com/office/drawing/2014/main" id="{BF7E59BD-5E90-4976-B64E-7C0E6B3D59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E7EB38-4D4A-4656-83C7-9A75BE93C9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050CDB-E45F-4F6B-A7B7-B85910A33629}" type="slidenum">
              <a:rPr lang="en-US" smtClean="0"/>
              <a:t>‹#›</a:t>
            </a:fld>
            <a:endParaRPr lang="en-US"/>
          </a:p>
        </p:txBody>
      </p:sp>
      <p:sp>
        <p:nvSpPr>
          <p:cNvPr id="9" name="Rectangle 8">
            <a:extLst>
              <a:ext uri="{FF2B5EF4-FFF2-40B4-BE49-F238E27FC236}">
                <a16:creationId xmlns:a16="http://schemas.microsoft.com/office/drawing/2014/main" id="{1D72B57F-E992-4746-A68A-2186BB5DF44B}"/>
              </a:ext>
            </a:extLst>
          </p:cNvPr>
          <p:cNvSpPr/>
          <p:nvPr userDrawn="1"/>
        </p:nvSpPr>
        <p:spPr>
          <a:xfrm>
            <a:off x="0" y="0"/>
            <a:ext cx="12192000" cy="1172847"/>
          </a:xfrm>
          <a:prstGeom prst="rect">
            <a:avLst/>
          </a:prstGeom>
          <a:solidFill>
            <a:srgbClr val="CE144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8720AC6B-9F29-44D4-AA72-AE32C359C9F7}"/>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95644" y="51279"/>
            <a:ext cx="5800356" cy="1036322"/>
          </a:xfrm>
          <a:prstGeom prst="rect">
            <a:avLst/>
          </a:prstGeom>
        </p:spPr>
      </p:pic>
      <p:sp>
        <p:nvSpPr>
          <p:cNvPr id="12" name="Rectangle 11">
            <a:extLst>
              <a:ext uri="{FF2B5EF4-FFF2-40B4-BE49-F238E27FC236}">
                <a16:creationId xmlns:a16="http://schemas.microsoft.com/office/drawing/2014/main" id="{96F4FFF6-4B25-4777-9858-45740FCC56E5}"/>
              </a:ext>
            </a:extLst>
          </p:cNvPr>
          <p:cNvSpPr/>
          <p:nvPr userDrawn="1"/>
        </p:nvSpPr>
        <p:spPr>
          <a:xfrm>
            <a:off x="0" y="6356350"/>
            <a:ext cx="12192000" cy="501650"/>
          </a:xfrm>
          <a:prstGeom prst="rect">
            <a:avLst/>
          </a:prstGeom>
          <a:solidFill>
            <a:srgbClr val="CE144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1217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hyperlink" Target="https://www.xkcd.com/882/"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s://redcap.ictr.wisc.edu/surveys/?s=NpdS3Ve9gR"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ictr.wisc.edu/consults/biostatistics-2/"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s://idre.ucla.edu/" TargetMode="External"/><Relationship Id="rId2" Type="http://schemas.openxmlformats.org/officeDocument/2006/relationships/hyperlink" Target="https://www.theanalysisfactor.com/" TargetMode="External"/><Relationship Id="rId1" Type="http://schemas.openxmlformats.org/officeDocument/2006/relationships/slideLayout" Target="../slideLayouts/slideLayout2.xml"/><Relationship Id="rId4" Type="http://schemas.openxmlformats.org/officeDocument/2006/relationships/hyperlink" Target="https://newonlinecourses.science.psu.edu/statprogram/"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45867-A2EB-4169-9F62-78338399D811}"/>
              </a:ext>
            </a:extLst>
          </p:cNvPr>
          <p:cNvSpPr>
            <a:spLocks noGrp="1"/>
          </p:cNvSpPr>
          <p:nvPr>
            <p:ph type="ctrTitle"/>
          </p:nvPr>
        </p:nvSpPr>
        <p:spPr>
          <a:xfrm>
            <a:off x="874222" y="1175657"/>
            <a:ext cx="10443556" cy="2334306"/>
          </a:xfrm>
        </p:spPr>
        <p:txBody>
          <a:bodyPr>
            <a:normAutofit/>
          </a:bodyPr>
          <a:lstStyle/>
          <a:p>
            <a:r>
              <a:rPr lang="en-US" sz="4400" dirty="0"/>
              <a:t>Things to consider before </a:t>
            </a:r>
            <a:br>
              <a:rPr lang="en-US" sz="4400" dirty="0"/>
            </a:br>
            <a:r>
              <a:rPr lang="en-US" sz="4400" dirty="0"/>
              <a:t>analyzing your data:</a:t>
            </a:r>
            <a:r>
              <a:rPr lang="en-US" dirty="0"/>
              <a:t/>
            </a:r>
            <a:br>
              <a:rPr lang="en-US" dirty="0"/>
            </a:br>
            <a:r>
              <a:rPr lang="en-US" sz="3100" dirty="0"/>
              <a:t>Thoughts from your local statistics team</a:t>
            </a:r>
          </a:p>
        </p:txBody>
      </p:sp>
      <p:sp>
        <p:nvSpPr>
          <p:cNvPr id="3" name="Subtitle 2">
            <a:extLst>
              <a:ext uri="{FF2B5EF4-FFF2-40B4-BE49-F238E27FC236}">
                <a16:creationId xmlns:a16="http://schemas.microsoft.com/office/drawing/2014/main" id="{EBC31B4B-4B18-4E70-9623-4315ADF3F7EE}"/>
              </a:ext>
            </a:extLst>
          </p:cNvPr>
          <p:cNvSpPr>
            <a:spLocks noGrp="1"/>
          </p:cNvSpPr>
          <p:nvPr>
            <p:ph type="subTitle" idx="1"/>
          </p:nvPr>
        </p:nvSpPr>
        <p:spPr>
          <a:xfrm>
            <a:off x="1524000" y="3766003"/>
            <a:ext cx="9144000" cy="2334306"/>
          </a:xfrm>
        </p:spPr>
        <p:txBody>
          <a:bodyPr>
            <a:normAutofit fontScale="92500" lnSpcReduction="20000"/>
          </a:bodyPr>
          <a:lstStyle/>
          <a:p>
            <a:r>
              <a:rPr lang="en-US" dirty="0"/>
              <a:t>Rebecca Koscik</a:t>
            </a:r>
          </a:p>
          <a:p>
            <a:r>
              <a:rPr lang="en-US" dirty="0"/>
              <a:t>Carol Van </a:t>
            </a:r>
            <a:r>
              <a:rPr lang="en-US" dirty="0" err="1"/>
              <a:t>Hulle</a:t>
            </a:r>
            <a:endParaRPr lang="en-US" dirty="0"/>
          </a:p>
          <a:p>
            <a:r>
              <a:rPr lang="en-US" dirty="0"/>
              <a:t>Derek Norton</a:t>
            </a:r>
          </a:p>
          <a:p>
            <a:r>
              <a:rPr lang="en-US" dirty="0"/>
              <a:t>Erin Jonaitis</a:t>
            </a:r>
          </a:p>
          <a:p>
            <a:r>
              <a:rPr lang="en-US" dirty="0"/>
              <a:t>Yue Ma</a:t>
            </a:r>
          </a:p>
          <a:p>
            <a:r>
              <a:rPr lang="en-US" dirty="0"/>
              <a:t>Rick Chappell</a:t>
            </a:r>
          </a:p>
          <a:p>
            <a:endParaRPr lang="en-US" dirty="0"/>
          </a:p>
        </p:txBody>
      </p:sp>
      <p:sp>
        <p:nvSpPr>
          <p:cNvPr id="4" name="Date Placeholder 3">
            <a:extLst>
              <a:ext uri="{FF2B5EF4-FFF2-40B4-BE49-F238E27FC236}">
                <a16:creationId xmlns:a16="http://schemas.microsoft.com/office/drawing/2014/main" id="{ED3B1A3C-955F-47A8-86CB-D67863B39438}"/>
              </a:ext>
            </a:extLst>
          </p:cNvPr>
          <p:cNvSpPr>
            <a:spLocks noGrp="1"/>
          </p:cNvSpPr>
          <p:nvPr>
            <p:ph type="dt" sz="half" idx="10"/>
          </p:nvPr>
        </p:nvSpPr>
        <p:spPr/>
        <p:txBody>
          <a:bodyPr/>
          <a:lstStyle/>
          <a:p>
            <a:r>
              <a:rPr lang="en-US" dirty="0">
                <a:solidFill>
                  <a:schemeClr val="bg1"/>
                </a:solidFill>
              </a:rPr>
              <a:t>11/5/2018</a:t>
            </a:r>
          </a:p>
        </p:txBody>
      </p:sp>
      <p:sp>
        <p:nvSpPr>
          <p:cNvPr id="5" name="Footer Placeholder 4">
            <a:extLst>
              <a:ext uri="{FF2B5EF4-FFF2-40B4-BE49-F238E27FC236}">
                <a16:creationId xmlns:a16="http://schemas.microsoft.com/office/drawing/2014/main" id="{F44AE0DF-1FD2-4C3E-B3AE-A61DEA75F361}"/>
              </a:ext>
            </a:extLst>
          </p:cNvPr>
          <p:cNvSpPr>
            <a:spLocks noGrp="1"/>
          </p:cNvSpPr>
          <p:nvPr>
            <p:ph type="ftr" sz="quarter" idx="11"/>
          </p:nvPr>
        </p:nvSpPr>
        <p:spPr>
          <a:xfrm>
            <a:off x="3581400" y="6356350"/>
            <a:ext cx="5551714" cy="365125"/>
          </a:xfrm>
        </p:spPr>
        <p:txBody>
          <a:bodyPr/>
          <a:lstStyle/>
          <a:p>
            <a:r>
              <a:rPr lang="en-US" dirty="0" smtClean="0"/>
              <a:t>(presentation post-script: if you wish to re-use any materials, please contact the presenters for permission and/or include any citations listed by presenters, too.)</a:t>
            </a:r>
            <a:endParaRPr lang="en-US" dirty="0"/>
          </a:p>
        </p:txBody>
      </p:sp>
    </p:spTree>
    <p:extLst>
      <p:ext uri="{BB962C8B-B14F-4D97-AF65-F5344CB8AC3E}">
        <p14:creationId xmlns:p14="http://schemas.microsoft.com/office/powerpoint/2010/main" val="4120576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45867-A2EB-4169-9F62-78338399D811}"/>
              </a:ext>
            </a:extLst>
          </p:cNvPr>
          <p:cNvSpPr>
            <a:spLocks noGrp="1"/>
          </p:cNvSpPr>
          <p:nvPr>
            <p:ph type="title"/>
          </p:nvPr>
        </p:nvSpPr>
        <p:spPr/>
        <p:txBody>
          <a:bodyPr/>
          <a:lstStyle/>
          <a:p>
            <a:r>
              <a:rPr lang="en-US" dirty="0"/>
              <a:t>Outline </a:t>
            </a:r>
          </a:p>
        </p:txBody>
      </p:sp>
      <p:sp>
        <p:nvSpPr>
          <p:cNvPr id="3" name="Subtitle 2">
            <a:extLst>
              <a:ext uri="{FF2B5EF4-FFF2-40B4-BE49-F238E27FC236}">
                <a16:creationId xmlns:a16="http://schemas.microsoft.com/office/drawing/2014/main" id="{EBC31B4B-4B18-4E70-9623-4315ADF3F7EE}"/>
              </a:ext>
            </a:extLst>
          </p:cNvPr>
          <p:cNvSpPr>
            <a:spLocks noGrp="1"/>
          </p:cNvSpPr>
          <p:nvPr>
            <p:ph idx="1"/>
          </p:nvPr>
        </p:nvSpPr>
        <p:spPr>
          <a:xfrm>
            <a:off x="838200" y="2194560"/>
            <a:ext cx="10515600" cy="4161790"/>
          </a:xfrm>
        </p:spPr>
        <p:txBody>
          <a:bodyPr/>
          <a:lstStyle/>
          <a:p>
            <a:r>
              <a:rPr lang="en-US" dirty="0"/>
              <a:t>Context of our presentation -- Rebecca </a:t>
            </a:r>
            <a:r>
              <a:rPr lang="en-US" dirty="0" err="1"/>
              <a:t>Koscik</a:t>
            </a:r>
            <a:endParaRPr lang="en-US" dirty="0"/>
          </a:p>
          <a:p>
            <a:r>
              <a:rPr lang="en-US" dirty="0"/>
              <a:t>Key points related to research ethics and quality – Carol Van </a:t>
            </a:r>
            <a:r>
              <a:rPr lang="en-US" dirty="0" err="1"/>
              <a:t>Hulle</a:t>
            </a:r>
            <a:endParaRPr lang="en-US" dirty="0"/>
          </a:p>
          <a:p>
            <a:r>
              <a:rPr lang="en-US" dirty="0"/>
              <a:t>Data Analysis Plans (and related) – Derek Norton</a:t>
            </a:r>
          </a:p>
          <a:p>
            <a:r>
              <a:rPr lang="en-US" dirty="0"/>
              <a:t>Multiple Comparisons – Erin </a:t>
            </a:r>
            <a:r>
              <a:rPr lang="en-US" dirty="0" err="1"/>
              <a:t>Jonaitis</a:t>
            </a:r>
            <a:endParaRPr lang="en-US" dirty="0"/>
          </a:p>
          <a:p>
            <a:r>
              <a:rPr lang="en-US" dirty="0"/>
              <a:t>General do’s and don’ts examples – Yue Ma</a:t>
            </a:r>
          </a:p>
          <a:p>
            <a:r>
              <a:rPr lang="en-US" dirty="0"/>
              <a:t>Example of a study that ties pieces together – Rick Chappell</a:t>
            </a:r>
          </a:p>
          <a:p>
            <a:r>
              <a:rPr lang="en-US" dirty="0"/>
              <a:t>Summary/Conclusions/Resources</a:t>
            </a:r>
          </a:p>
          <a:p>
            <a:endParaRPr lang="en-US" dirty="0"/>
          </a:p>
        </p:txBody>
      </p:sp>
      <p:sp>
        <p:nvSpPr>
          <p:cNvPr id="4" name="Date Placeholder 3">
            <a:extLst>
              <a:ext uri="{FF2B5EF4-FFF2-40B4-BE49-F238E27FC236}">
                <a16:creationId xmlns:a16="http://schemas.microsoft.com/office/drawing/2014/main" id="{ED3B1A3C-955F-47A8-86CB-D67863B39438}"/>
              </a:ext>
            </a:extLst>
          </p:cNvPr>
          <p:cNvSpPr>
            <a:spLocks noGrp="1"/>
          </p:cNvSpPr>
          <p:nvPr>
            <p:ph type="dt" sz="half" idx="10"/>
          </p:nvPr>
        </p:nvSpPr>
        <p:spPr/>
        <p:txBody>
          <a:bodyPr/>
          <a:lstStyle/>
          <a:p>
            <a:r>
              <a:rPr lang="en-US" dirty="0">
                <a:solidFill>
                  <a:schemeClr val="bg1"/>
                </a:solidFill>
              </a:rPr>
              <a:t>11/5/2018</a:t>
            </a:r>
          </a:p>
        </p:txBody>
      </p:sp>
      <p:sp>
        <p:nvSpPr>
          <p:cNvPr id="5" name="Footer Placeholder 4">
            <a:extLst>
              <a:ext uri="{FF2B5EF4-FFF2-40B4-BE49-F238E27FC236}">
                <a16:creationId xmlns:a16="http://schemas.microsoft.com/office/drawing/2014/main" id="{F44AE0DF-1FD2-4C3E-B3AE-A61DEA75F36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229935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45867-A2EB-4169-9F62-78338399D811}"/>
              </a:ext>
            </a:extLst>
          </p:cNvPr>
          <p:cNvSpPr>
            <a:spLocks noGrp="1"/>
          </p:cNvSpPr>
          <p:nvPr>
            <p:ph type="title"/>
          </p:nvPr>
        </p:nvSpPr>
        <p:spPr>
          <a:xfrm>
            <a:off x="182592" y="1180455"/>
            <a:ext cx="10515600" cy="1325563"/>
          </a:xfrm>
        </p:spPr>
        <p:txBody>
          <a:bodyPr/>
          <a:lstStyle/>
          <a:p>
            <a:r>
              <a:rPr lang="en-US" dirty="0"/>
              <a:t>Context of our presentation</a:t>
            </a:r>
          </a:p>
        </p:txBody>
      </p:sp>
      <p:sp>
        <p:nvSpPr>
          <p:cNvPr id="3" name="Subtitle 2">
            <a:extLst>
              <a:ext uri="{FF2B5EF4-FFF2-40B4-BE49-F238E27FC236}">
                <a16:creationId xmlns:a16="http://schemas.microsoft.com/office/drawing/2014/main" id="{EBC31B4B-4B18-4E70-9623-4315ADF3F7EE}"/>
              </a:ext>
            </a:extLst>
          </p:cNvPr>
          <p:cNvSpPr>
            <a:spLocks noGrp="1"/>
          </p:cNvSpPr>
          <p:nvPr>
            <p:ph idx="1"/>
          </p:nvPr>
        </p:nvSpPr>
        <p:spPr>
          <a:xfrm>
            <a:off x="182592" y="2260121"/>
            <a:ext cx="10515600" cy="4278791"/>
          </a:xfrm>
        </p:spPr>
        <p:txBody>
          <a:bodyPr>
            <a:normAutofit/>
          </a:bodyPr>
          <a:lstStyle/>
          <a:p>
            <a:pPr marL="0" indent="0">
              <a:buNone/>
            </a:pPr>
            <a:r>
              <a:rPr lang="en-US" dirty="0"/>
              <a:t>AD research program embraces practice of “Team Science”:</a:t>
            </a:r>
          </a:p>
          <a:p>
            <a:pPr marL="0" indent="0">
              <a:buNone/>
            </a:pPr>
            <a:r>
              <a:rPr lang="en-US" dirty="0"/>
              <a:t>	…collaborative, </a:t>
            </a:r>
          </a:p>
          <a:p>
            <a:pPr marL="0" indent="0">
              <a:buNone/>
            </a:pPr>
            <a:r>
              <a:rPr lang="en-US" dirty="0"/>
              <a:t>	… brings together the strengths and expertise of </a:t>
            </a:r>
          </a:p>
          <a:p>
            <a:pPr marL="0" indent="0">
              <a:buNone/>
            </a:pPr>
            <a:r>
              <a:rPr lang="en-US" dirty="0"/>
              <a:t>	   professionals trained in different fields.</a:t>
            </a:r>
          </a:p>
          <a:p>
            <a:pPr marL="0" indent="0">
              <a:buNone/>
            </a:pPr>
            <a:r>
              <a:rPr lang="en-US" dirty="0"/>
              <a:t>Working together to leverage expertise will maximize quality </a:t>
            </a:r>
          </a:p>
          <a:p>
            <a:pPr marL="0" indent="0">
              <a:buNone/>
            </a:pPr>
            <a:r>
              <a:rPr lang="en-US" dirty="0"/>
              <a:t>of our contributions to science. </a:t>
            </a:r>
          </a:p>
          <a:p>
            <a:pPr marL="0" indent="0">
              <a:buNone/>
            </a:pPr>
            <a:endParaRPr lang="en-US" dirty="0"/>
          </a:p>
        </p:txBody>
      </p:sp>
      <p:sp>
        <p:nvSpPr>
          <p:cNvPr id="4" name="Date Placeholder 3">
            <a:extLst>
              <a:ext uri="{FF2B5EF4-FFF2-40B4-BE49-F238E27FC236}">
                <a16:creationId xmlns:a16="http://schemas.microsoft.com/office/drawing/2014/main" id="{ED3B1A3C-955F-47A8-86CB-D67863B39438}"/>
              </a:ext>
            </a:extLst>
          </p:cNvPr>
          <p:cNvSpPr>
            <a:spLocks noGrp="1"/>
          </p:cNvSpPr>
          <p:nvPr>
            <p:ph type="dt" sz="half" idx="10"/>
          </p:nvPr>
        </p:nvSpPr>
        <p:spPr/>
        <p:txBody>
          <a:bodyPr/>
          <a:lstStyle/>
          <a:p>
            <a:r>
              <a:rPr lang="en-US" dirty="0">
                <a:solidFill>
                  <a:schemeClr val="bg1"/>
                </a:solidFill>
              </a:rPr>
              <a:t>11/5/2018</a:t>
            </a:r>
          </a:p>
        </p:txBody>
      </p:sp>
      <p:sp>
        <p:nvSpPr>
          <p:cNvPr id="5" name="Footer Placeholder 4">
            <a:extLst>
              <a:ext uri="{FF2B5EF4-FFF2-40B4-BE49-F238E27FC236}">
                <a16:creationId xmlns:a16="http://schemas.microsoft.com/office/drawing/2014/main" id="{F44AE0DF-1FD2-4C3E-B3AE-A61DEA75F361}"/>
              </a:ext>
            </a:extLst>
          </p:cNvPr>
          <p:cNvSpPr>
            <a:spLocks noGrp="1"/>
          </p:cNvSpPr>
          <p:nvPr>
            <p:ph type="ftr" sz="quarter" idx="11"/>
          </p:nvPr>
        </p:nvSpPr>
        <p:spPr/>
        <p:txBody>
          <a:bodyPr/>
          <a:lstStyle/>
          <a:p>
            <a:endParaRPr lang="en-US"/>
          </a:p>
        </p:txBody>
      </p:sp>
      <p:pic>
        <p:nvPicPr>
          <p:cNvPr id="6" name="Picture 5"/>
          <p:cNvPicPr>
            <a:picLocks noChangeAspect="1"/>
          </p:cNvPicPr>
          <p:nvPr/>
        </p:nvPicPr>
        <p:blipFill>
          <a:blip r:embed="rId2"/>
          <a:stretch>
            <a:fillRect/>
          </a:stretch>
        </p:blipFill>
        <p:spPr>
          <a:xfrm>
            <a:off x="9100341" y="1960959"/>
            <a:ext cx="2859272" cy="3249450"/>
          </a:xfrm>
          <a:prstGeom prst="rect">
            <a:avLst/>
          </a:prstGeom>
        </p:spPr>
      </p:pic>
    </p:spTree>
    <p:extLst>
      <p:ext uri="{BB962C8B-B14F-4D97-AF65-F5344CB8AC3E}">
        <p14:creationId xmlns:p14="http://schemas.microsoft.com/office/powerpoint/2010/main" val="3293669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45867-A2EB-4169-9F62-78338399D811}"/>
              </a:ext>
            </a:extLst>
          </p:cNvPr>
          <p:cNvSpPr>
            <a:spLocks noGrp="1"/>
          </p:cNvSpPr>
          <p:nvPr>
            <p:ph type="title"/>
          </p:nvPr>
        </p:nvSpPr>
        <p:spPr>
          <a:xfrm>
            <a:off x="165339" y="1052077"/>
            <a:ext cx="10515600" cy="1325563"/>
          </a:xfrm>
        </p:spPr>
        <p:txBody>
          <a:bodyPr/>
          <a:lstStyle/>
          <a:p>
            <a:r>
              <a:rPr lang="en-US" dirty="0"/>
              <a:t>Context (continued)</a:t>
            </a:r>
          </a:p>
        </p:txBody>
      </p:sp>
      <p:sp>
        <p:nvSpPr>
          <p:cNvPr id="3" name="Subtitle 2">
            <a:extLst>
              <a:ext uri="{FF2B5EF4-FFF2-40B4-BE49-F238E27FC236}">
                <a16:creationId xmlns:a16="http://schemas.microsoft.com/office/drawing/2014/main" id="{EBC31B4B-4B18-4E70-9623-4315ADF3F7EE}"/>
              </a:ext>
            </a:extLst>
          </p:cNvPr>
          <p:cNvSpPr>
            <a:spLocks noGrp="1"/>
          </p:cNvSpPr>
          <p:nvPr>
            <p:ph idx="1"/>
          </p:nvPr>
        </p:nvSpPr>
        <p:spPr>
          <a:xfrm>
            <a:off x="277865" y="2208362"/>
            <a:ext cx="10515600" cy="4147988"/>
          </a:xfrm>
        </p:spPr>
        <p:txBody>
          <a:bodyPr>
            <a:normAutofit/>
          </a:bodyPr>
          <a:lstStyle/>
          <a:p>
            <a:pPr marL="0" indent="0">
              <a:buNone/>
            </a:pPr>
            <a:r>
              <a:rPr lang="en-US" dirty="0"/>
              <a:t>Running models and looking at p-values </a:t>
            </a:r>
          </a:p>
          <a:p>
            <a:pPr marL="0" indent="0">
              <a:buNone/>
            </a:pPr>
            <a:r>
              <a:rPr lang="en-US" dirty="0"/>
              <a:t>related to hypotheses is </a:t>
            </a:r>
            <a:r>
              <a:rPr lang="en-US" i="1" dirty="0"/>
              <a:t>near the end</a:t>
            </a:r>
            <a:r>
              <a:rPr lang="en-US" dirty="0"/>
              <a:t> of </a:t>
            </a:r>
          </a:p>
          <a:p>
            <a:pPr marL="0" indent="0">
              <a:buNone/>
            </a:pPr>
            <a:r>
              <a:rPr lang="en-US" dirty="0"/>
              <a:t>long sequence of important steps in </a:t>
            </a:r>
          </a:p>
          <a:p>
            <a:pPr marL="0" indent="0">
              <a:buNone/>
            </a:pPr>
            <a:r>
              <a:rPr lang="en-US" dirty="0"/>
              <a:t>conducting high quality investigations </a:t>
            </a:r>
          </a:p>
          <a:p>
            <a:pPr marL="0" indent="0">
              <a:buNone/>
            </a:pPr>
            <a:r>
              <a:rPr lang="en-US" dirty="0"/>
              <a:t>addressing specific research questions.</a:t>
            </a:r>
          </a:p>
          <a:p>
            <a:pPr marL="0" indent="0">
              <a:buNone/>
            </a:pPr>
            <a:r>
              <a:rPr lang="en-US" dirty="0"/>
              <a:t> </a:t>
            </a:r>
          </a:p>
          <a:p>
            <a:pPr marL="0" indent="0">
              <a:buNone/>
            </a:pPr>
            <a:endParaRPr lang="en-US" dirty="0"/>
          </a:p>
          <a:p>
            <a:pPr marL="0" indent="0">
              <a:buNone/>
            </a:pPr>
            <a:endParaRPr lang="en-US" dirty="0"/>
          </a:p>
        </p:txBody>
      </p:sp>
      <p:sp>
        <p:nvSpPr>
          <p:cNvPr id="4" name="Date Placeholder 3">
            <a:extLst>
              <a:ext uri="{FF2B5EF4-FFF2-40B4-BE49-F238E27FC236}">
                <a16:creationId xmlns:a16="http://schemas.microsoft.com/office/drawing/2014/main" id="{ED3B1A3C-955F-47A8-86CB-D67863B39438}"/>
              </a:ext>
            </a:extLst>
          </p:cNvPr>
          <p:cNvSpPr>
            <a:spLocks noGrp="1"/>
          </p:cNvSpPr>
          <p:nvPr>
            <p:ph type="dt" sz="half" idx="10"/>
          </p:nvPr>
        </p:nvSpPr>
        <p:spPr/>
        <p:txBody>
          <a:bodyPr/>
          <a:lstStyle/>
          <a:p>
            <a:r>
              <a:rPr lang="en-US" dirty="0">
                <a:solidFill>
                  <a:schemeClr val="bg1"/>
                </a:solidFill>
              </a:rPr>
              <a:t>11/5/2018</a:t>
            </a:r>
          </a:p>
        </p:txBody>
      </p:sp>
      <p:sp>
        <p:nvSpPr>
          <p:cNvPr id="5" name="Footer Placeholder 4">
            <a:extLst>
              <a:ext uri="{FF2B5EF4-FFF2-40B4-BE49-F238E27FC236}">
                <a16:creationId xmlns:a16="http://schemas.microsoft.com/office/drawing/2014/main" id="{F44AE0DF-1FD2-4C3E-B3AE-A61DEA75F361}"/>
              </a:ext>
            </a:extLst>
          </p:cNvPr>
          <p:cNvSpPr>
            <a:spLocks noGrp="1"/>
          </p:cNvSpPr>
          <p:nvPr>
            <p:ph type="ftr" sz="quarter" idx="11"/>
          </p:nvPr>
        </p:nvSpPr>
        <p:spPr/>
        <p:txBody>
          <a:bodyPr/>
          <a:lstStyle/>
          <a:p>
            <a:endParaRPr lang="en-US"/>
          </a:p>
        </p:txBody>
      </p:sp>
      <p:pic>
        <p:nvPicPr>
          <p:cNvPr id="6" name="Content Placeholder 6"/>
          <p:cNvPicPr>
            <a:picLocks noChangeAspect="1"/>
          </p:cNvPicPr>
          <p:nvPr/>
        </p:nvPicPr>
        <p:blipFill>
          <a:blip r:embed="rId3"/>
          <a:stretch>
            <a:fillRect/>
          </a:stretch>
        </p:blipFill>
        <p:spPr>
          <a:xfrm>
            <a:off x="7261329" y="1338366"/>
            <a:ext cx="3876810" cy="5017984"/>
          </a:xfrm>
          <a:prstGeom prst="rect">
            <a:avLst/>
          </a:prstGeom>
        </p:spPr>
      </p:pic>
      <p:cxnSp>
        <p:nvCxnSpPr>
          <p:cNvPr id="8" name="Straight Arrow Connector 7"/>
          <p:cNvCxnSpPr/>
          <p:nvPr/>
        </p:nvCxnSpPr>
        <p:spPr>
          <a:xfrm flipV="1">
            <a:off x="5693434" y="2691442"/>
            <a:ext cx="3105509" cy="44857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8801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45867-A2EB-4169-9F62-78338399D811}"/>
              </a:ext>
            </a:extLst>
          </p:cNvPr>
          <p:cNvSpPr>
            <a:spLocks noGrp="1"/>
          </p:cNvSpPr>
          <p:nvPr>
            <p:ph type="ctrTitle"/>
          </p:nvPr>
        </p:nvSpPr>
        <p:spPr/>
        <p:txBody>
          <a:bodyPr/>
          <a:lstStyle/>
          <a:p>
            <a:r>
              <a:rPr lang="en-US" dirty="0"/>
              <a:t>Research ethics and quality</a:t>
            </a:r>
          </a:p>
        </p:txBody>
      </p:sp>
      <p:sp>
        <p:nvSpPr>
          <p:cNvPr id="3" name="Subtitle 2">
            <a:extLst>
              <a:ext uri="{FF2B5EF4-FFF2-40B4-BE49-F238E27FC236}">
                <a16:creationId xmlns:a16="http://schemas.microsoft.com/office/drawing/2014/main" id="{EBC31B4B-4B18-4E70-9623-4315ADF3F7EE}"/>
              </a:ext>
            </a:extLst>
          </p:cNvPr>
          <p:cNvSpPr>
            <a:spLocks noGrp="1"/>
          </p:cNvSpPr>
          <p:nvPr>
            <p:ph type="subTitle" idx="1"/>
          </p:nvPr>
        </p:nvSpPr>
        <p:spPr/>
        <p:txBody>
          <a:bodyPr/>
          <a:lstStyle/>
          <a:p>
            <a:r>
              <a:rPr lang="en-US" dirty="0"/>
              <a:t>Carol Van </a:t>
            </a:r>
            <a:r>
              <a:rPr lang="en-US" dirty="0" err="1"/>
              <a:t>Hulle</a:t>
            </a:r>
            <a:endParaRPr lang="en-US" dirty="0"/>
          </a:p>
        </p:txBody>
      </p:sp>
      <p:sp>
        <p:nvSpPr>
          <p:cNvPr id="4" name="Date Placeholder 3">
            <a:extLst>
              <a:ext uri="{FF2B5EF4-FFF2-40B4-BE49-F238E27FC236}">
                <a16:creationId xmlns:a16="http://schemas.microsoft.com/office/drawing/2014/main" id="{ED3B1A3C-955F-47A8-86CB-D67863B39438}"/>
              </a:ext>
            </a:extLst>
          </p:cNvPr>
          <p:cNvSpPr>
            <a:spLocks noGrp="1"/>
          </p:cNvSpPr>
          <p:nvPr>
            <p:ph type="dt" sz="half" idx="10"/>
          </p:nvPr>
        </p:nvSpPr>
        <p:spPr/>
        <p:txBody>
          <a:bodyPr/>
          <a:lstStyle/>
          <a:p>
            <a:r>
              <a:rPr lang="en-US" dirty="0">
                <a:solidFill>
                  <a:schemeClr val="bg1"/>
                </a:solidFill>
              </a:rPr>
              <a:t>11/5/2018</a:t>
            </a:r>
          </a:p>
        </p:txBody>
      </p:sp>
      <p:sp>
        <p:nvSpPr>
          <p:cNvPr id="5" name="Footer Placeholder 4">
            <a:extLst>
              <a:ext uri="{FF2B5EF4-FFF2-40B4-BE49-F238E27FC236}">
                <a16:creationId xmlns:a16="http://schemas.microsoft.com/office/drawing/2014/main" id="{F44AE0DF-1FD2-4C3E-B3AE-A61DEA75F36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143693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solidFill>
                  <a:schemeClr val="bg1"/>
                </a:solidFill>
              </a:rPr>
              <a:t>11/5/2018</a:t>
            </a:r>
            <a:endParaRPr lang="en-US" dirty="0">
              <a:solidFill>
                <a:schemeClr val="bg1"/>
              </a:solidFill>
            </a:endParaRPr>
          </a:p>
        </p:txBody>
      </p:sp>
      <p:grpSp>
        <p:nvGrpSpPr>
          <p:cNvPr id="6" name="Group 5"/>
          <p:cNvGrpSpPr/>
          <p:nvPr/>
        </p:nvGrpSpPr>
        <p:grpSpPr>
          <a:xfrm>
            <a:off x="3273879" y="1915752"/>
            <a:ext cx="6558618" cy="4387076"/>
            <a:chOff x="3273879" y="1344249"/>
            <a:chExt cx="6558618" cy="4387076"/>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3879" y="1344249"/>
              <a:ext cx="6009381" cy="4387076"/>
            </a:xfrm>
            <a:prstGeom prst="rect">
              <a:avLst/>
            </a:prstGeom>
            <a:solidFill>
              <a:schemeClr val="tx2">
                <a:lumMod val="60000"/>
                <a:lumOff val="40000"/>
              </a:schemeClr>
            </a:solidFill>
          </p:spPr>
        </p:pic>
        <p:sp>
          <p:nvSpPr>
            <p:cNvPr id="8" name="Rectangle 7"/>
            <p:cNvSpPr/>
            <p:nvPr/>
          </p:nvSpPr>
          <p:spPr>
            <a:xfrm rot="20130212">
              <a:off x="7503013" y="1701868"/>
              <a:ext cx="2329484" cy="923330"/>
            </a:xfrm>
            <a:prstGeom prst="rect">
              <a:avLst/>
            </a:prstGeom>
            <a:solidFill>
              <a:srgbClr val="00B050"/>
            </a:solidFill>
          </p:spPr>
          <p:txBody>
            <a:bodyPr wrap="none" lIns="91440" tIns="45720" rIns="91440" bIns="45720">
              <a:spAutoFit/>
            </a:bodyPr>
            <a:lstStyle/>
            <a:p>
              <a:pPr algn="ctr"/>
              <a:r>
                <a:rPr lang="en-US" sz="5400" b="1" cap="none" spc="0" dirty="0">
                  <a:ln w="10160">
                    <a:solidFill>
                      <a:schemeClr val="accent5"/>
                    </a:solidFill>
                    <a:prstDash val="solid"/>
                  </a:ln>
                  <a:solidFill>
                    <a:schemeClr val="bg1"/>
                  </a:solidFill>
                  <a:effectLst>
                    <a:outerShdw blurRad="38100" dist="22860" dir="5400000" algn="tl" rotWithShape="0">
                      <a:srgbClr val="000000">
                        <a:alpha val="30000"/>
                      </a:srgbClr>
                    </a:outerShdw>
                  </a:effectLst>
                </a:rPr>
                <a:t>Science</a:t>
              </a:r>
            </a:p>
          </p:txBody>
        </p:sp>
        <p:sp>
          <p:nvSpPr>
            <p:cNvPr id="9" name="Rectangle 8"/>
            <p:cNvSpPr/>
            <p:nvPr/>
          </p:nvSpPr>
          <p:spPr>
            <a:xfrm rot="20130212">
              <a:off x="7296182" y="3987342"/>
              <a:ext cx="2329484" cy="923330"/>
            </a:xfrm>
            <a:prstGeom prst="rect">
              <a:avLst/>
            </a:prstGeom>
            <a:solidFill>
              <a:srgbClr val="FF0000"/>
            </a:solidFill>
          </p:spPr>
          <p:txBody>
            <a:bodyPr wrap="none" lIns="91440" tIns="45720" rIns="91440" bIns="45720">
              <a:spAutoFit/>
            </a:bodyPr>
            <a:lstStyle/>
            <a:p>
              <a:pPr algn="ctr"/>
              <a:r>
                <a:rPr lang="en-US" sz="5400" b="1" cap="none" spc="0" dirty="0">
                  <a:ln w="10160">
                    <a:solidFill>
                      <a:schemeClr val="accent5"/>
                    </a:solidFill>
                    <a:prstDash val="solid"/>
                  </a:ln>
                  <a:solidFill>
                    <a:schemeClr val="bg1"/>
                  </a:solidFill>
                  <a:effectLst>
                    <a:outerShdw blurRad="38100" dist="22860" dir="5400000" algn="tl" rotWithShape="0">
                      <a:srgbClr val="000000">
                        <a:alpha val="30000"/>
                      </a:srgbClr>
                    </a:outerShdw>
                  </a:effectLst>
                </a:rPr>
                <a:t>Science</a:t>
              </a:r>
            </a:p>
          </p:txBody>
        </p:sp>
      </p:grpSp>
      <p:sp>
        <p:nvSpPr>
          <p:cNvPr id="11" name="Rectangle 10"/>
          <p:cNvSpPr/>
          <p:nvPr/>
        </p:nvSpPr>
        <p:spPr>
          <a:xfrm rot="20130212">
            <a:off x="7426386" y="4374916"/>
            <a:ext cx="2775119" cy="1754326"/>
          </a:xfrm>
          <a:prstGeom prst="rect">
            <a:avLst/>
          </a:prstGeom>
          <a:solidFill>
            <a:srgbClr val="FF0000"/>
          </a:solidFill>
        </p:spPr>
        <p:txBody>
          <a:bodyPr wrap="none" lIns="91440" tIns="45720" rIns="91440" bIns="45720">
            <a:spAutoFit/>
          </a:bodyPr>
          <a:lstStyle/>
          <a:p>
            <a:pPr algn="ctr"/>
            <a:r>
              <a:rPr lang="en-US" sz="5400" b="1" cap="none" spc="0" dirty="0">
                <a:ln w="10160">
                  <a:solidFill>
                    <a:schemeClr val="accent5"/>
                  </a:solidFill>
                  <a:prstDash val="solid"/>
                </a:ln>
                <a:solidFill>
                  <a:schemeClr val="bg1"/>
                </a:solidFill>
                <a:effectLst>
                  <a:outerShdw blurRad="38100" dist="22860" dir="5400000" algn="tl" rotWithShape="0">
                    <a:srgbClr val="000000">
                      <a:alpha val="30000"/>
                    </a:srgbClr>
                  </a:outerShdw>
                </a:effectLst>
              </a:rPr>
              <a:t>Research</a:t>
            </a:r>
          </a:p>
          <a:p>
            <a:pPr algn="ctr"/>
            <a:r>
              <a:rPr lang="en-US" sz="5400" b="1" dirty="0">
                <a:ln w="10160">
                  <a:solidFill>
                    <a:schemeClr val="accent5"/>
                  </a:solidFill>
                  <a:prstDash val="solid"/>
                </a:ln>
                <a:solidFill>
                  <a:schemeClr val="bg1"/>
                </a:solidFill>
                <a:effectLst>
                  <a:outerShdw blurRad="38100" dist="22860" dir="5400000" algn="tl" rotWithShape="0">
                    <a:srgbClr val="000000">
                      <a:alpha val="30000"/>
                    </a:srgbClr>
                  </a:outerShdw>
                </a:effectLst>
              </a:rPr>
              <a:t>practices</a:t>
            </a:r>
            <a:endParaRPr lang="en-US" sz="5400" b="1" cap="none" spc="0" dirty="0">
              <a:ln w="10160">
                <a:solidFill>
                  <a:schemeClr val="accent5"/>
                </a:solidFill>
                <a:prstDash val="solid"/>
              </a:ln>
              <a:solidFill>
                <a:schemeClr val="bg1"/>
              </a:solidFill>
              <a:effectLst>
                <a:outerShdw blurRad="38100" dist="22860" dir="5400000" algn="tl" rotWithShape="0">
                  <a:srgbClr val="000000">
                    <a:alpha val="30000"/>
                  </a:srgbClr>
                </a:outerShdw>
              </a:effectLst>
            </a:endParaRPr>
          </a:p>
        </p:txBody>
      </p:sp>
      <p:sp>
        <p:nvSpPr>
          <p:cNvPr id="12" name="Rectangle 11"/>
          <p:cNvSpPr/>
          <p:nvPr/>
        </p:nvSpPr>
        <p:spPr>
          <a:xfrm rot="20130212">
            <a:off x="7573749" y="2089524"/>
            <a:ext cx="2776016" cy="1754326"/>
          </a:xfrm>
          <a:prstGeom prst="rect">
            <a:avLst/>
          </a:prstGeom>
          <a:solidFill>
            <a:srgbClr val="00B050"/>
          </a:solidFill>
        </p:spPr>
        <p:txBody>
          <a:bodyPr wrap="none" lIns="91440" tIns="45720" rIns="91440" bIns="45720">
            <a:spAutoFit/>
          </a:bodyPr>
          <a:lstStyle/>
          <a:p>
            <a:pPr algn="ctr"/>
            <a:r>
              <a:rPr lang="en-US" sz="5400" b="1" dirty="0">
                <a:ln w="10160">
                  <a:solidFill>
                    <a:schemeClr val="accent5"/>
                  </a:solidFill>
                  <a:prstDash val="solid"/>
                </a:ln>
                <a:solidFill>
                  <a:schemeClr val="bg1"/>
                </a:solidFill>
                <a:effectLst>
                  <a:outerShdw blurRad="38100" dist="22860" dir="5400000" algn="tl" rotWithShape="0">
                    <a:srgbClr val="000000">
                      <a:alpha val="30000"/>
                    </a:srgbClr>
                  </a:outerShdw>
                </a:effectLst>
              </a:rPr>
              <a:t>Research</a:t>
            </a:r>
          </a:p>
          <a:p>
            <a:pPr algn="ctr"/>
            <a:r>
              <a:rPr lang="en-US" sz="5400" b="1" dirty="0">
                <a:ln w="10160">
                  <a:solidFill>
                    <a:schemeClr val="accent5"/>
                  </a:solidFill>
                  <a:prstDash val="solid"/>
                </a:ln>
                <a:solidFill>
                  <a:schemeClr val="bg1"/>
                </a:solidFill>
                <a:effectLst>
                  <a:outerShdw blurRad="38100" dist="22860" dir="5400000" algn="tl" rotWithShape="0">
                    <a:srgbClr val="000000">
                      <a:alpha val="30000"/>
                    </a:srgbClr>
                  </a:outerShdw>
                </a:effectLst>
              </a:rPr>
              <a:t>practices</a:t>
            </a:r>
            <a:endParaRPr lang="en-US" sz="5400" b="1" cap="none" spc="0" dirty="0">
              <a:ln w="10160">
                <a:solidFill>
                  <a:schemeClr val="accent5"/>
                </a:solidFill>
                <a:prstDash val="solid"/>
              </a:ln>
              <a:solidFill>
                <a:schemeClr val="bg1"/>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1310254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heel(1)">
                                      <p:cBhvr>
                                        <p:cTn id="11" dur="2000"/>
                                        <p:tgtEl>
                                          <p:spTgt spid="11"/>
                                        </p:tgtEl>
                                      </p:cBhvr>
                                    </p:animEffect>
                                  </p:childTnLst>
                                </p:cTn>
                              </p:par>
                              <p:par>
                                <p:cTn id="12" presetID="21" presetClass="entr" presetSubtype="1"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heel(1)">
                                      <p:cBhvr>
                                        <p:cTn id="14"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11/5/2018</a:t>
            </a:r>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63092" y="2884336"/>
            <a:ext cx="3652087" cy="2426871"/>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74746" y="2884336"/>
            <a:ext cx="3641361" cy="2423160"/>
          </a:xfrm>
          <a:prstGeom prst="rect">
            <a:avLst/>
          </a:prstGeom>
        </p:spPr>
      </p:pic>
      <p:sp>
        <p:nvSpPr>
          <p:cNvPr id="7" name="&quot;No&quot; Symbol 6"/>
          <p:cNvSpPr/>
          <p:nvPr/>
        </p:nvSpPr>
        <p:spPr>
          <a:xfrm>
            <a:off x="1262269" y="2232329"/>
            <a:ext cx="4075044" cy="3727174"/>
          </a:xfrm>
          <a:prstGeom prst="noSmoking">
            <a:avLst>
              <a:gd name="adj" fmla="val 141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rgbClr val="FF0000"/>
              </a:solidFill>
            </a:endParaRPr>
          </a:p>
        </p:txBody>
      </p:sp>
      <p:sp>
        <p:nvSpPr>
          <p:cNvPr id="8" name="TextBox 7"/>
          <p:cNvSpPr txBox="1"/>
          <p:nvPr/>
        </p:nvSpPr>
        <p:spPr>
          <a:xfrm>
            <a:off x="6351104" y="2232329"/>
            <a:ext cx="4712829" cy="369332"/>
          </a:xfrm>
          <a:prstGeom prst="rect">
            <a:avLst/>
          </a:prstGeom>
          <a:noFill/>
        </p:spPr>
        <p:txBody>
          <a:bodyPr wrap="none" rtlCol="0">
            <a:spAutoFit/>
          </a:bodyPr>
          <a:lstStyle/>
          <a:p>
            <a:r>
              <a:rPr lang="en-US" dirty="0"/>
              <a:t>“The garden of forking paths”  - Andrew </a:t>
            </a:r>
            <a:r>
              <a:rPr lang="en-US" dirty="0" err="1"/>
              <a:t>Gelman</a:t>
            </a:r>
            <a:endParaRPr lang="en-US" dirty="0"/>
          </a:p>
        </p:txBody>
      </p:sp>
      <p:sp>
        <p:nvSpPr>
          <p:cNvPr id="9" name="TextBox 8"/>
          <p:cNvSpPr txBox="1"/>
          <p:nvPr/>
        </p:nvSpPr>
        <p:spPr>
          <a:xfrm>
            <a:off x="7047938" y="5705062"/>
            <a:ext cx="3245760" cy="369332"/>
          </a:xfrm>
          <a:prstGeom prst="rect">
            <a:avLst/>
          </a:prstGeom>
          <a:noFill/>
        </p:spPr>
        <p:txBody>
          <a:bodyPr wrap="none" rtlCol="0">
            <a:spAutoFit/>
          </a:bodyPr>
          <a:lstStyle/>
          <a:p>
            <a:r>
              <a:rPr lang="en-US" dirty="0"/>
              <a:t>Researcher degrees of freedom</a:t>
            </a:r>
          </a:p>
        </p:txBody>
      </p:sp>
      <p:sp>
        <p:nvSpPr>
          <p:cNvPr id="10" name="Title 7"/>
          <p:cNvSpPr txBox="1">
            <a:spLocks/>
          </p:cNvSpPr>
          <p:nvPr/>
        </p:nvSpPr>
        <p:spPr>
          <a:xfrm>
            <a:off x="669236" y="1243544"/>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Bad research practices ≠ bad people</a:t>
            </a:r>
          </a:p>
        </p:txBody>
      </p:sp>
    </p:spTree>
    <p:extLst>
      <p:ext uri="{BB962C8B-B14F-4D97-AF65-F5344CB8AC3E}">
        <p14:creationId xmlns:p14="http://schemas.microsoft.com/office/powerpoint/2010/main" val="2977804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11/5/2018</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937" y="1323892"/>
            <a:ext cx="3641361" cy="2423160"/>
          </a:xfrm>
          <a:prstGeom prst="rect">
            <a:avLst/>
          </a:prstGeom>
        </p:spPr>
      </p:pic>
      <p:sp>
        <p:nvSpPr>
          <p:cNvPr id="5" name="Content Placeholder 2">
            <a:extLst>
              <a:ext uri="{FF2B5EF4-FFF2-40B4-BE49-F238E27FC236}">
                <a16:creationId xmlns:a16="http://schemas.microsoft.com/office/drawing/2014/main" id="{343715EC-F4B5-F843-89A2-DF5BB3B0B939}"/>
              </a:ext>
            </a:extLst>
          </p:cNvPr>
          <p:cNvSpPr>
            <a:spLocks noGrp="1"/>
          </p:cNvSpPr>
          <p:nvPr/>
        </p:nvSpPr>
        <p:spPr>
          <a:xfrm>
            <a:off x="4711147" y="1173818"/>
            <a:ext cx="663271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Lots of data </a:t>
            </a:r>
            <a:r>
              <a:rPr lang="en-US" sz="4400" dirty="0"/>
              <a:t>+ </a:t>
            </a:r>
          </a:p>
          <a:p>
            <a:pPr marL="0" indent="0">
              <a:buNone/>
            </a:pPr>
            <a:r>
              <a:rPr lang="en-US" dirty="0"/>
              <a:t>Lots of possibilities for interesting relationships to be examined </a:t>
            </a:r>
            <a:r>
              <a:rPr lang="en-US" sz="4400" dirty="0"/>
              <a:t>+</a:t>
            </a:r>
          </a:p>
          <a:p>
            <a:pPr marL="0" indent="0">
              <a:buNone/>
            </a:pPr>
            <a:r>
              <a:rPr lang="en-US" dirty="0"/>
              <a:t> </a:t>
            </a:r>
            <a:r>
              <a:rPr lang="en-US" u="sng" dirty="0"/>
              <a:t>Publish or perish incentive system </a:t>
            </a:r>
            <a:r>
              <a:rPr lang="en-US" sz="4400" dirty="0"/>
              <a:t>=</a:t>
            </a:r>
          </a:p>
          <a:p>
            <a:pPr marL="457200" lvl="1" indent="0">
              <a:buNone/>
            </a:pPr>
            <a:endParaRPr lang="en-US" u="sng" dirty="0"/>
          </a:p>
          <a:p>
            <a:pPr marL="0" indent="0">
              <a:buNone/>
            </a:pPr>
            <a:r>
              <a:rPr lang="en-US" sz="3200" dirty="0"/>
              <a:t>Good intentions gone awry</a:t>
            </a:r>
          </a:p>
        </p:txBody>
      </p:sp>
      <p:pic>
        <p:nvPicPr>
          <p:cNvPr id="6" name="Picture 5">
            <a:extLst>
              <a:ext uri="{FF2B5EF4-FFF2-40B4-BE49-F238E27FC236}">
                <a16:creationId xmlns:a16="http://schemas.microsoft.com/office/drawing/2014/main" id="{0EA681A7-1948-364D-8967-8A525167866D}"/>
              </a:ext>
            </a:extLst>
          </p:cNvPr>
          <p:cNvPicPr>
            <a:picLocks noChangeAspect="1"/>
          </p:cNvPicPr>
          <p:nvPr/>
        </p:nvPicPr>
        <p:blipFill>
          <a:blip r:embed="rId4"/>
          <a:stretch>
            <a:fillRect/>
          </a:stretch>
        </p:blipFill>
        <p:spPr>
          <a:xfrm>
            <a:off x="1131128" y="5061606"/>
            <a:ext cx="9512300" cy="927100"/>
          </a:xfrm>
          <a:prstGeom prst="rect">
            <a:avLst/>
          </a:prstGeom>
        </p:spPr>
      </p:pic>
    </p:spTree>
    <p:extLst>
      <p:ext uri="{BB962C8B-B14F-4D97-AF65-F5344CB8AC3E}">
        <p14:creationId xmlns:p14="http://schemas.microsoft.com/office/powerpoint/2010/main" val="103605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A66310A-1289-4229-B189-BBAB91B86F95}"/>
              </a:ext>
            </a:extLst>
          </p:cNvPr>
          <p:cNvSpPr>
            <a:spLocks noGrp="1"/>
          </p:cNvSpPr>
          <p:nvPr>
            <p:ph type="title"/>
          </p:nvPr>
        </p:nvSpPr>
        <p:spPr/>
        <p:txBody>
          <a:bodyPr>
            <a:normAutofit/>
          </a:bodyPr>
          <a:lstStyle/>
          <a:p>
            <a:r>
              <a:rPr lang="en-US" sz="4000" dirty="0"/>
              <a:t>Good scientific practices lead to research that is…</a:t>
            </a:r>
          </a:p>
        </p:txBody>
      </p:sp>
      <p:sp>
        <p:nvSpPr>
          <p:cNvPr id="2" name="Date Placeholder 1"/>
          <p:cNvSpPr>
            <a:spLocks noGrp="1"/>
          </p:cNvSpPr>
          <p:nvPr>
            <p:ph type="dt" sz="half" idx="10"/>
          </p:nvPr>
        </p:nvSpPr>
        <p:spPr/>
        <p:txBody>
          <a:bodyPr/>
          <a:lstStyle/>
          <a:p>
            <a:r>
              <a:rPr lang="en-US"/>
              <a:t>11/5/2018</a:t>
            </a:r>
            <a:endParaRPr lang="en-US" dirty="0"/>
          </a:p>
        </p:txBody>
      </p:sp>
      <p:sp>
        <p:nvSpPr>
          <p:cNvPr id="3" name="Footer Placeholder 2"/>
          <p:cNvSpPr>
            <a:spLocks noGrp="1"/>
          </p:cNvSpPr>
          <p:nvPr>
            <p:ph type="ftr" sz="quarter" idx="11"/>
          </p:nvPr>
        </p:nvSpPr>
        <p:spPr/>
        <p:txBody>
          <a:bodyPr/>
          <a:lstStyle/>
          <a:p>
            <a:endParaRPr lang="en-US" sz="1600" dirty="0"/>
          </a:p>
          <a:p>
            <a:r>
              <a:rPr lang="en-US" sz="1600" dirty="0"/>
              <a:t>Goodman, </a:t>
            </a:r>
            <a:r>
              <a:rPr lang="en-US" sz="1600" dirty="0" err="1"/>
              <a:t>Fanelli</a:t>
            </a:r>
            <a:r>
              <a:rPr lang="en-US" sz="1600" dirty="0"/>
              <a:t>, </a:t>
            </a:r>
            <a:r>
              <a:rPr lang="en-US" sz="1600" dirty="0" err="1"/>
              <a:t>Ionnidis</a:t>
            </a:r>
            <a:r>
              <a:rPr lang="en-US" sz="1600" dirty="0"/>
              <a:t>, 2016</a:t>
            </a:r>
          </a:p>
          <a:p>
            <a:endParaRPr lang="en-US" sz="1600" dirty="0"/>
          </a:p>
        </p:txBody>
      </p:sp>
      <p:sp>
        <p:nvSpPr>
          <p:cNvPr id="4" name="Title 1"/>
          <p:cNvSpPr txBox="1">
            <a:spLocks/>
          </p:cNvSpPr>
          <p:nvPr/>
        </p:nvSpPr>
        <p:spPr>
          <a:xfrm>
            <a:off x="589722" y="1160256"/>
            <a:ext cx="10515600" cy="882731"/>
          </a:xfrm>
          <a:prstGeom prst="rect">
            <a:avLst/>
          </a:prstGeom>
        </p:spPr>
        <p:txBody>
          <a:bodyPr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4000" dirty="0"/>
          </a:p>
        </p:txBody>
      </p:sp>
      <p:sp>
        <p:nvSpPr>
          <p:cNvPr id="5" name="Content Placeholder 2"/>
          <p:cNvSpPr txBox="1">
            <a:spLocks/>
          </p:cNvSpPr>
          <p:nvPr/>
        </p:nvSpPr>
        <p:spPr>
          <a:xfrm>
            <a:off x="589722" y="2352403"/>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dirty="0">
                <a:solidFill>
                  <a:srgbClr val="0070C0"/>
                </a:solidFill>
              </a:rPr>
              <a:t>Replicable </a:t>
            </a:r>
          </a:p>
          <a:p>
            <a:pPr>
              <a:spcBef>
                <a:spcPts val="0"/>
              </a:spcBef>
            </a:pPr>
            <a:endParaRPr lang="en-US" dirty="0"/>
          </a:p>
          <a:p>
            <a:pPr>
              <a:spcBef>
                <a:spcPts val="0"/>
              </a:spcBef>
            </a:pPr>
            <a:endParaRPr lang="en-US" dirty="0">
              <a:solidFill>
                <a:srgbClr val="7030A0"/>
              </a:solidFill>
            </a:endParaRPr>
          </a:p>
          <a:p>
            <a:pPr>
              <a:spcBef>
                <a:spcPts val="0"/>
              </a:spcBef>
            </a:pPr>
            <a:r>
              <a:rPr lang="en-US" dirty="0">
                <a:solidFill>
                  <a:srgbClr val="7030A0"/>
                </a:solidFill>
              </a:rPr>
              <a:t>Reproducible</a:t>
            </a:r>
          </a:p>
          <a:p>
            <a:pPr>
              <a:spcBef>
                <a:spcPts val="0"/>
              </a:spcBef>
            </a:pPr>
            <a:endParaRPr lang="en-US" dirty="0"/>
          </a:p>
          <a:p>
            <a:pPr>
              <a:spcBef>
                <a:spcPts val="0"/>
              </a:spcBef>
            </a:pPr>
            <a:endParaRPr lang="en-US" dirty="0">
              <a:solidFill>
                <a:srgbClr val="C00000"/>
              </a:solidFill>
            </a:endParaRPr>
          </a:p>
          <a:p>
            <a:pPr>
              <a:spcBef>
                <a:spcPts val="0"/>
              </a:spcBef>
            </a:pPr>
            <a:r>
              <a:rPr lang="en-US" dirty="0">
                <a:solidFill>
                  <a:srgbClr val="C00000"/>
                </a:solidFill>
              </a:rPr>
              <a:t>Robust</a:t>
            </a:r>
          </a:p>
        </p:txBody>
      </p:sp>
      <p:sp>
        <p:nvSpPr>
          <p:cNvPr id="6" name="Content Placeholder 3"/>
          <p:cNvSpPr txBox="1">
            <a:spLocks/>
          </p:cNvSpPr>
          <p:nvPr/>
        </p:nvSpPr>
        <p:spPr>
          <a:xfrm>
            <a:off x="4453128" y="2346673"/>
            <a:ext cx="6652194"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500"/>
              </a:spcAft>
            </a:pPr>
            <a:r>
              <a:rPr lang="en-US" dirty="0">
                <a:solidFill>
                  <a:srgbClr val="0070C0"/>
                </a:solidFill>
              </a:rPr>
              <a:t>Ability to implement the methods as exactly as possible.</a:t>
            </a:r>
            <a:endParaRPr lang="en-US" sz="1600" dirty="0">
              <a:solidFill>
                <a:srgbClr val="0070C0"/>
              </a:solidFill>
            </a:endParaRPr>
          </a:p>
          <a:p>
            <a:pPr>
              <a:spcBef>
                <a:spcPts val="0"/>
              </a:spcBef>
              <a:spcAft>
                <a:spcPts val="500"/>
              </a:spcAft>
            </a:pPr>
            <a:endParaRPr lang="en-US" sz="1600" dirty="0">
              <a:solidFill>
                <a:srgbClr val="7030A0"/>
              </a:solidFill>
            </a:endParaRPr>
          </a:p>
          <a:p>
            <a:pPr>
              <a:spcBef>
                <a:spcPts val="0"/>
              </a:spcBef>
              <a:spcAft>
                <a:spcPts val="500"/>
              </a:spcAft>
            </a:pPr>
            <a:r>
              <a:rPr lang="en-US" dirty="0">
                <a:solidFill>
                  <a:srgbClr val="7030A0"/>
                </a:solidFill>
              </a:rPr>
              <a:t>Ability of others using similar methods to get similar results</a:t>
            </a:r>
            <a:endParaRPr lang="en-US" sz="1600" dirty="0">
              <a:solidFill>
                <a:srgbClr val="7030A0"/>
              </a:solidFill>
            </a:endParaRPr>
          </a:p>
          <a:p>
            <a:pPr>
              <a:spcBef>
                <a:spcPts val="0"/>
              </a:spcBef>
              <a:spcAft>
                <a:spcPts val="500"/>
              </a:spcAft>
            </a:pPr>
            <a:endParaRPr lang="en-US" sz="1400" dirty="0">
              <a:solidFill>
                <a:srgbClr val="C00000"/>
              </a:solidFill>
            </a:endParaRPr>
          </a:p>
          <a:p>
            <a:pPr>
              <a:spcBef>
                <a:spcPts val="0"/>
              </a:spcBef>
              <a:spcAft>
                <a:spcPts val="500"/>
              </a:spcAft>
            </a:pPr>
            <a:r>
              <a:rPr lang="en-US" dirty="0">
                <a:solidFill>
                  <a:srgbClr val="C00000"/>
                </a:solidFill>
              </a:rPr>
              <a:t>Ability of others using not so similar methods to get similar results</a:t>
            </a:r>
          </a:p>
        </p:txBody>
      </p:sp>
      <p:sp>
        <p:nvSpPr>
          <p:cNvPr id="8" name="TextBox 7"/>
          <p:cNvSpPr txBox="1"/>
          <p:nvPr/>
        </p:nvSpPr>
        <p:spPr>
          <a:xfrm>
            <a:off x="4373217" y="5615609"/>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692591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2" presetClass="entr" presetSubtype="4" fill="hold" grpId="0" nodeType="with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 calcmode="lin" valueType="num">
                                      <p:cBhvr additive="base">
                                        <p:cTn id="12"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 calcmode="lin" valueType="num">
                                      <p:cBhvr additive="base">
                                        <p:cTn id="18"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 calcmode="lin" valueType="num">
                                      <p:cBhvr additive="base">
                                        <p:cTn id="22"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5">
                                            <p:txEl>
                                              <p:pRg st="6" end="6"/>
                                            </p:txEl>
                                          </p:spTgt>
                                        </p:tgtEl>
                                        <p:attrNameLst>
                                          <p:attrName>style.visibility</p:attrName>
                                        </p:attrNameLst>
                                      </p:cBhvr>
                                      <p:to>
                                        <p:strVal val="visible"/>
                                      </p:to>
                                    </p:set>
                                    <p:anim calcmode="lin" valueType="num">
                                      <p:cBhvr additive="base">
                                        <p:cTn id="28"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
                                            <p:txEl>
                                              <p:pRg st="6" end="6"/>
                                            </p:txEl>
                                          </p:spTgt>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 calcmode="lin" valueType="num">
                                      <p:cBhvr additive="base">
                                        <p:cTn id="32"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A66310A-1289-4229-B189-BBAB91B86F95}"/>
              </a:ext>
            </a:extLst>
          </p:cNvPr>
          <p:cNvSpPr>
            <a:spLocks noGrp="1"/>
          </p:cNvSpPr>
          <p:nvPr>
            <p:ph type="title"/>
          </p:nvPr>
        </p:nvSpPr>
        <p:spPr/>
        <p:txBody>
          <a:bodyPr>
            <a:normAutofit/>
          </a:bodyPr>
          <a:lstStyle/>
          <a:p>
            <a:r>
              <a:rPr lang="en-US" sz="4000" dirty="0"/>
              <a:t>Good scientific practices avoid…</a:t>
            </a:r>
          </a:p>
        </p:txBody>
      </p:sp>
      <p:sp>
        <p:nvSpPr>
          <p:cNvPr id="2" name="Date Placeholder 1"/>
          <p:cNvSpPr>
            <a:spLocks noGrp="1"/>
          </p:cNvSpPr>
          <p:nvPr>
            <p:ph type="dt" sz="half" idx="10"/>
          </p:nvPr>
        </p:nvSpPr>
        <p:spPr/>
        <p:txBody>
          <a:bodyPr/>
          <a:lstStyle/>
          <a:p>
            <a:r>
              <a:rPr lang="en-US"/>
              <a:t>11/5/2018</a:t>
            </a:r>
            <a:endParaRPr lang="en-US" dirty="0"/>
          </a:p>
        </p:txBody>
      </p:sp>
      <p:sp>
        <p:nvSpPr>
          <p:cNvPr id="3" name="Footer Placeholder 2"/>
          <p:cNvSpPr>
            <a:spLocks noGrp="1"/>
          </p:cNvSpPr>
          <p:nvPr>
            <p:ph type="ftr" sz="quarter" idx="11"/>
          </p:nvPr>
        </p:nvSpPr>
        <p:spPr/>
        <p:txBody>
          <a:bodyPr/>
          <a:lstStyle/>
          <a:p>
            <a:endParaRPr lang="en-US" sz="1600" dirty="0"/>
          </a:p>
          <a:p>
            <a:r>
              <a:rPr lang="en-US" sz="1600" dirty="0" err="1"/>
              <a:t>Gelman</a:t>
            </a:r>
            <a:r>
              <a:rPr lang="en-US" sz="1600" dirty="0"/>
              <a:t> &amp; </a:t>
            </a:r>
            <a:r>
              <a:rPr lang="en-US" sz="1600" dirty="0" err="1"/>
              <a:t>Loken</a:t>
            </a:r>
            <a:r>
              <a:rPr lang="en-US" sz="1600" dirty="0"/>
              <a:t>, 2013; Kerr 1998</a:t>
            </a:r>
          </a:p>
          <a:p>
            <a:endParaRPr lang="en-US" sz="1600" dirty="0"/>
          </a:p>
        </p:txBody>
      </p:sp>
      <p:sp>
        <p:nvSpPr>
          <p:cNvPr id="4" name="Title 1"/>
          <p:cNvSpPr txBox="1">
            <a:spLocks/>
          </p:cNvSpPr>
          <p:nvPr/>
        </p:nvSpPr>
        <p:spPr>
          <a:xfrm>
            <a:off x="589722" y="1160256"/>
            <a:ext cx="10515600" cy="882731"/>
          </a:xfrm>
          <a:prstGeom prst="rect">
            <a:avLst/>
          </a:prstGeom>
        </p:spPr>
        <p:txBody>
          <a:bodyPr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4000" dirty="0"/>
          </a:p>
        </p:txBody>
      </p:sp>
      <p:sp>
        <p:nvSpPr>
          <p:cNvPr id="5" name="Content Placeholder 2"/>
          <p:cNvSpPr txBox="1">
            <a:spLocks/>
          </p:cNvSpPr>
          <p:nvPr/>
        </p:nvSpPr>
        <p:spPr>
          <a:xfrm>
            <a:off x="589722" y="2352403"/>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dirty="0">
                <a:solidFill>
                  <a:srgbClr val="0070C0"/>
                </a:solidFill>
              </a:rPr>
              <a:t>p-hacking</a:t>
            </a:r>
          </a:p>
          <a:p>
            <a:pPr>
              <a:spcBef>
                <a:spcPts val="0"/>
              </a:spcBef>
            </a:pPr>
            <a:endParaRPr lang="en-US" dirty="0"/>
          </a:p>
          <a:p>
            <a:pPr>
              <a:spcBef>
                <a:spcPts val="0"/>
              </a:spcBef>
            </a:pPr>
            <a:endParaRPr lang="en-US" dirty="0">
              <a:solidFill>
                <a:srgbClr val="7030A0"/>
              </a:solidFill>
            </a:endParaRPr>
          </a:p>
          <a:p>
            <a:pPr>
              <a:spcBef>
                <a:spcPts val="0"/>
              </a:spcBef>
            </a:pPr>
            <a:r>
              <a:rPr lang="en-US" sz="2400" u="sng" dirty="0">
                <a:solidFill>
                  <a:srgbClr val="7030A0"/>
                </a:solidFill>
              </a:rPr>
              <a:t>H</a:t>
            </a:r>
            <a:r>
              <a:rPr lang="en-US" sz="2400" dirty="0">
                <a:solidFill>
                  <a:srgbClr val="7030A0"/>
                </a:solidFill>
              </a:rPr>
              <a:t>ypothesizing </a:t>
            </a:r>
            <a:r>
              <a:rPr lang="en-US" sz="2400" u="sng" dirty="0">
                <a:solidFill>
                  <a:srgbClr val="7030A0"/>
                </a:solidFill>
              </a:rPr>
              <a:t>A</a:t>
            </a:r>
            <a:r>
              <a:rPr lang="en-US" sz="2400" dirty="0">
                <a:solidFill>
                  <a:srgbClr val="7030A0"/>
                </a:solidFill>
              </a:rPr>
              <a:t>fter the </a:t>
            </a:r>
          </a:p>
          <a:p>
            <a:pPr marL="0" indent="0">
              <a:spcBef>
                <a:spcPts val="0"/>
              </a:spcBef>
              <a:buNone/>
            </a:pPr>
            <a:r>
              <a:rPr lang="en-US" sz="2400" dirty="0">
                <a:solidFill>
                  <a:srgbClr val="7030A0"/>
                </a:solidFill>
              </a:rPr>
              <a:t>   </a:t>
            </a:r>
            <a:r>
              <a:rPr lang="en-US" sz="2400" u="sng" dirty="0">
                <a:solidFill>
                  <a:srgbClr val="7030A0"/>
                </a:solidFill>
              </a:rPr>
              <a:t>R</a:t>
            </a:r>
            <a:r>
              <a:rPr lang="en-US" sz="2400" dirty="0">
                <a:solidFill>
                  <a:srgbClr val="7030A0"/>
                </a:solidFill>
              </a:rPr>
              <a:t>esults are </a:t>
            </a:r>
            <a:r>
              <a:rPr lang="en-US" sz="2400" u="sng" dirty="0">
                <a:solidFill>
                  <a:srgbClr val="7030A0"/>
                </a:solidFill>
              </a:rPr>
              <a:t>K</a:t>
            </a:r>
            <a:r>
              <a:rPr lang="en-US" sz="2400" dirty="0">
                <a:solidFill>
                  <a:srgbClr val="7030A0"/>
                </a:solidFill>
              </a:rPr>
              <a:t>nown</a:t>
            </a:r>
            <a:endParaRPr lang="en-US" sz="2400" dirty="0"/>
          </a:p>
          <a:p>
            <a:pPr>
              <a:spcBef>
                <a:spcPts val="0"/>
              </a:spcBef>
            </a:pPr>
            <a:endParaRPr lang="en-US" dirty="0">
              <a:solidFill>
                <a:srgbClr val="C00000"/>
              </a:solidFill>
            </a:endParaRPr>
          </a:p>
          <a:p>
            <a:pPr>
              <a:spcBef>
                <a:spcPts val="0"/>
              </a:spcBef>
            </a:pPr>
            <a:endParaRPr lang="en-US" dirty="0">
              <a:solidFill>
                <a:srgbClr val="C00000"/>
              </a:solidFill>
            </a:endParaRPr>
          </a:p>
          <a:p>
            <a:pPr>
              <a:spcBef>
                <a:spcPts val="0"/>
              </a:spcBef>
            </a:pPr>
            <a:r>
              <a:rPr lang="en-US" dirty="0">
                <a:solidFill>
                  <a:srgbClr val="C00000"/>
                </a:solidFill>
              </a:rPr>
              <a:t>Bias/Chance</a:t>
            </a:r>
          </a:p>
        </p:txBody>
      </p:sp>
      <p:sp>
        <p:nvSpPr>
          <p:cNvPr id="6" name="Content Placeholder 3"/>
          <p:cNvSpPr txBox="1">
            <a:spLocks/>
          </p:cNvSpPr>
          <p:nvPr/>
        </p:nvSpPr>
        <p:spPr>
          <a:xfrm>
            <a:off x="4242816" y="2346673"/>
            <a:ext cx="6862506"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dirty="0">
                <a:solidFill>
                  <a:srgbClr val="0070C0"/>
                </a:solidFill>
              </a:rPr>
              <a:t>i.e. picking the best possible results out of several </a:t>
            </a:r>
            <a:r>
              <a:rPr lang="en-US" i="1" dirty="0">
                <a:solidFill>
                  <a:srgbClr val="0070C0"/>
                </a:solidFill>
              </a:rPr>
              <a:t>or</a:t>
            </a:r>
            <a:r>
              <a:rPr lang="en-US" dirty="0">
                <a:solidFill>
                  <a:srgbClr val="0070C0"/>
                </a:solidFill>
              </a:rPr>
              <a:t> picking set of comparison based on your data</a:t>
            </a:r>
          </a:p>
          <a:p>
            <a:pPr>
              <a:spcBef>
                <a:spcPts val="0"/>
              </a:spcBef>
            </a:pPr>
            <a:r>
              <a:rPr lang="en-US" sz="2000" dirty="0">
                <a:solidFill>
                  <a:srgbClr val="7030A0"/>
                </a:solidFill>
              </a:rPr>
              <a:t>“There are two possible articles you can write: (1) the article you planned to write when you designed your study or (2) the article that makes the most sense now that you have seen the results. “ </a:t>
            </a:r>
            <a:r>
              <a:rPr lang="en-US" sz="2000" dirty="0" err="1">
                <a:solidFill>
                  <a:srgbClr val="7030A0"/>
                </a:solidFill>
              </a:rPr>
              <a:t>Bem</a:t>
            </a:r>
            <a:r>
              <a:rPr lang="en-US" sz="2000" dirty="0">
                <a:solidFill>
                  <a:srgbClr val="7030A0"/>
                </a:solidFill>
              </a:rPr>
              <a:t>, 1987.</a:t>
            </a:r>
          </a:p>
          <a:p>
            <a:pPr>
              <a:spcBef>
                <a:spcPts val="0"/>
              </a:spcBef>
            </a:pPr>
            <a:endParaRPr lang="en-US" dirty="0">
              <a:solidFill>
                <a:srgbClr val="7030A0"/>
              </a:solidFill>
            </a:endParaRPr>
          </a:p>
          <a:p>
            <a:pPr>
              <a:spcBef>
                <a:spcPts val="0"/>
              </a:spcBef>
            </a:pPr>
            <a:r>
              <a:rPr lang="en-US" dirty="0">
                <a:solidFill>
                  <a:srgbClr val="C00000"/>
                </a:solidFill>
              </a:rPr>
              <a:t>Reproducibility/robustness relies on avoiding chance findings</a:t>
            </a:r>
          </a:p>
        </p:txBody>
      </p:sp>
      <p:sp>
        <p:nvSpPr>
          <p:cNvPr id="7" name="TextBox 6"/>
          <p:cNvSpPr txBox="1"/>
          <p:nvPr/>
        </p:nvSpPr>
        <p:spPr>
          <a:xfrm>
            <a:off x="139148" y="6972094"/>
            <a:ext cx="3259418" cy="369332"/>
          </a:xfrm>
          <a:prstGeom prst="rect">
            <a:avLst/>
          </a:prstGeom>
          <a:noFill/>
        </p:spPr>
        <p:txBody>
          <a:bodyPr wrap="none" rtlCol="0">
            <a:spAutoFit/>
          </a:bodyPr>
          <a:lstStyle/>
          <a:p>
            <a:r>
              <a:rPr lang="en-US" dirty="0"/>
              <a:t>Goodman, </a:t>
            </a:r>
            <a:r>
              <a:rPr lang="en-US" dirty="0" err="1"/>
              <a:t>Fanelli</a:t>
            </a:r>
            <a:r>
              <a:rPr lang="en-US" dirty="0"/>
              <a:t>, </a:t>
            </a:r>
            <a:r>
              <a:rPr lang="en-US" dirty="0" err="1"/>
              <a:t>Ionnidis</a:t>
            </a:r>
            <a:r>
              <a:rPr lang="en-US" dirty="0"/>
              <a:t>, 2016</a:t>
            </a:r>
          </a:p>
        </p:txBody>
      </p:sp>
      <p:sp>
        <p:nvSpPr>
          <p:cNvPr id="8" name="TextBox 7"/>
          <p:cNvSpPr txBox="1"/>
          <p:nvPr/>
        </p:nvSpPr>
        <p:spPr>
          <a:xfrm>
            <a:off x="4373217" y="5615609"/>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088001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 calcmode="lin" valueType="num">
                                      <p:cBhvr additive="base">
                                        <p:cTn id="11"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 calcmode="lin" valueType="num">
                                      <p:cBhvr additive="base">
                                        <p:cTn id="1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 calcmode="lin" valueType="num">
                                      <p:cBhvr additive="base">
                                        <p:cTn id="2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 calcmode="lin" valueType="num">
                                      <p:cBhvr additive="base">
                                        <p:cTn id="25"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anim calcmode="lin" valueType="num">
                                      <p:cBhvr additive="base">
                                        <p:cTn id="31"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6">
                                            <p:txEl>
                                              <p:pRg st="3" end="3"/>
                                            </p:txEl>
                                          </p:spTgt>
                                        </p:tgtEl>
                                        <p:attrNameLst>
                                          <p:attrName>style.visibility</p:attrName>
                                        </p:attrNameLst>
                                      </p:cBhvr>
                                      <p:to>
                                        <p:strVal val="visible"/>
                                      </p:to>
                                    </p:set>
                                    <p:anim calcmode="lin" valueType="num">
                                      <p:cBhvr additive="base">
                                        <p:cTn id="3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11/5/2018</a:t>
            </a:r>
            <a:endParaRPr lang="en-US" dirty="0"/>
          </a:p>
        </p:txBody>
      </p:sp>
      <p:sp>
        <p:nvSpPr>
          <p:cNvPr id="4" name="Title 1"/>
          <p:cNvSpPr txBox="1">
            <a:spLocks/>
          </p:cNvSpPr>
          <p:nvPr/>
        </p:nvSpPr>
        <p:spPr>
          <a:xfrm>
            <a:off x="115372" y="2106251"/>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What are good </a:t>
            </a:r>
          </a:p>
          <a:p>
            <a:r>
              <a:rPr lang="en-US" dirty="0"/>
              <a:t>Research practices?</a:t>
            </a:r>
          </a:p>
        </p:txBody>
      </p:sp>
      <p:sp>
        <p:nvSpPr>
          <p:cNvPr id="6" name="Freeform 5"/>
          <p:cNvSpPr/>
          <p:nvPr/>
        </p:nvSpPr>
        <p:spPr>
          <a:xfrm>
            <a:off x="6636120" y="1566347"/>
            <a:ext cx="2102172" cy="1452107"/>
          </a:xfrm>
          <a:custGeom>
            <a:avLst/>
            <a:gdLst>
              <a:gd name="connsiteX0" fmla="*/ 0 w 2102172"/>
              <a:gd name="connsiteY0" fmla="*/ 726054 h 1452107"/>
              <a:gd name="connsiteX1" fmla="*/ 1051086 w 2102172"/>
              <a:gd name="connsiteY1" fmla="*/ 0 h 1452107"/>
              <a:gd name="connsiteX2" fmla="*/ 2102172 w 2102172"/>
              <a:gd name="connsiteY2" fmla="*/ 726054 h 1452107"/>
              <a:gd name="connsiteX3" fmla="*/ 1051086 w 2102172"/>
              <a:gd name="connsiteY3" fmla="*/ 1452108 h 1452107"/>
              <a:gd name="connsiteX4" fmla="*/ 0 w 2102172"/>
              <a:gd name="connsiteY4" fmla="*/ 726054 h 1452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2172" h="1452107">
                <a:moveTo>
                  <a:pt x="0" y="726054"/>
                </a:moveTo>
                <a:cubicBezTo>
                  <a:pt x="0" y="325065"/>
                  <a:pt x="470587" y="0"/>
                  <a:pt x="1051086" y="0"/>
                </a:cubicBezTo>
                <a:cubicBezTo>
                  <a:pt x="1631585" y="0"/>
                  <a:pt x="2102172" y="325065"/>
                  <a:pt x="2102172" y="726054"/>
                </a:cubicBezTo>
                <a:cubicBezTo>
                  <a:pt x="2102172" y="1127043"/>
                  <a:pt x="1631585" y="1452108"/>
                  <a:pt x="1051086" y="1452108"/>
                </a:cubicBezTo>
                <a:cubicBezTo>
                  <a:pt x="470587" y="1452108"/>
                  <a:pt x="0" y="1127043"/>
                  <a:pt x="0" y="726054"/>
                </a:cubicBezTo>
                <a:close/>
              </a:path>
            </a:pathLst>
          </a:custGeom>
          <a:solidFill>
            <a:schemeClr val="accent6">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28176" tIns="232976" rIns="328176" bIns="232976" numCol="1" spcCol="1270" anchor="ctr" anchorCtr="0">
            <a:noAutofit/>
          </a:bodyPr>
          <a:lstStyle/>
          <a:p>
            <a:pPr lvl="0" algn="ctr" defTabSz="711200">
              <a:lnSpc>
                <a:spcPct val="90000"/>
              </a:lnSpc>
              <a:spcBef>
                <a:spcPct val="0"/>
              </a:spcBef>
              <a:spcAft>
                <a:spcPct val="35000"/>
              </a:spcAft>
            </a:pPr>
            <a:r>
              <a:rPr lang="en-US" sz="1600" kern="1200" dirty="0"/>
              <a:t>START with a question</a:t>
            </a:r>
          </a:p>
        </p:txBody>
      </p:sp>
      <p:sp>
        <p:nvSpPr>
          <p:cNvPr id="14" name="TextBox 13"/>
          <p:cNvSpPr txBox="1"/>
          <p:nvPr/>
        </p:nvSpPr>
        <p:spPr>
          <a:xfrm>
            <a:off x="12072135" y="1471214"/>
            <a:ext cx="184731" cy="369332"/>
          </a:xfrm>
          <a:prstGeom prst="rect">
            <a:avLst/>
          </a:prstGeom>
          <a:noFill/>
        </p:spPr>
        <p:txBody>
          <a:bodyPr wrap="none" rtlCol="0">
            <a:spAutoFit/>
          </a:bodyPr>
          <a:lstStyle/>
          <a:p>
            <a:endParaRPr lang="en-US" dirty="0"/>
          </a:p>
        </p:txBody>
      </p:sp>
      <p:sp>
        <p:nvSpPr>
          <p:cNvPr id="20" name="TextBox 19"/>
          <p:cNvSpPr txBox="1"/>
          <p:nvPr/>
        </p:nvSpPr>
        <p:spPr>
          <a:xfrm>
            <a:off x="4766310" y="3543300"/>
            <a:ext cx="2270173" cy="1077218"/>
          </a:xfrm>
          <a:prstGeom prst="rect">
            <a:avLst/>
          </a:prstGeom>
          <a:noFill/>
        </p:spPr>
        <p:txBody>
          <a:bodyPr wrap="none" rtlCol="0">
            <a:spAutoFit/>
          </a:bodyPr>
          <a:lstStyle/>
          <a:p>
            <a:r>
              <a:rPr lang="en-US" sz="3200" dirty="0"/>
              <a:t>Specific and </a:t>
            </a:r>
          </a:p>
          <a:p>
            <a:pPr algn="ctr"/>
            <a:r>
              <a:rPr lang="en-US" sz="3200" dirty="0"/>
              <a:t>Testable</a:t>
            </a:r>
          </a:p>
        </p:txBody>
      </p:sp>
      <p:pic>
        <p:nvPicPr>
          <p:cNvPr id="22" name="Picture 21"/>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15190" y="3431814"/>
            <a:ext cx="2772412" cy="1559482"/>
          </a:xfrm>
          <a:prstGeom prst="rect">
            <a:avLst/>
          </a:prstGeom>
        </p:spPr>
      </p:pic>
      <p:sp>
        <p:nvSpPr>
          <p:cNvPr id="23" name="TextBox 22"/>
          <p:cNvSpPr txBox="1"/>
          <p:nvPr/>
        </p:nvSpPr>
        <p:spPr>
          <a:xfrm>
            <a:off x="8472805" y="3645004"/>
            <a:ext cx="2337756" cy="1384995"/>
          </a:xfrm>
          <a:prstGeom prst="rect">
            <a:avLst/>
          </a:prstGeom>
          <a:noFill/>
        </p:spPr>
        <p:txBody>
          <a:bodyPr wrap="none" rtlCol="0">
            <a:spAutoFit/>
          </a:bodyPr>
          <a:lstStyle/>
          <a:p>
            <a:r>
              <a:rPr lang="en-US" sz="2800" dirty="0"/>
              <a:t>Ground your</a:t>
            </a:r>
          </a:p>
          <a:p>
            <a:r>
              <a:rPr lang="en-US" sz="2800" dirty="0"/>
              <a:t> question in </a:t>
            </a:r>
          </a:p>
          <a:p>
            <a:r>
              <a:rPr lang="en-US" sz="2800" dirty="0"/>
              <a:t>existing theory</a:t>
            </a:r>
          </a:p>
        </p:txBody>
      </p:sp>
      <p:pic>
        <p:nvPicPr>
          <p:cNvPr id="24" name="Picture 2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44336" y="3294512"/>
            <a:ext cx="2337756" cy="2652012"/>
          </a:xfrm>
          <a:prstGeom prst="rect">
            <a:avLst/>
          </a:prstGeom>
        </p:spPr>
      </p:pic>
    </p:spTree>
    <p:extLst>
      <p:ext uri="{BB962C8B-B14F-4D97-AF65-F5344CB8AC3E}">
        <p14:creationId xmlns:p14="http://schemas.microsoft.com/office/powerpoint/2010/main" val="1597716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11/5/2018</a:t>
            </a:r>
            <a:endParaRPr lang="en-US" dirty="0"/>
          </a:p>
        </p:txBody>
      </p:sp>
      <p:sp>
        <p:nvSpPr>
          <p:cNvPr id="3" name="Footer Placeholder 2"/>
          <p:cNvSpPr>
            <a:spLocks noGrp="1"/>
          </p:cNvSpPr>
          <p:nvPr>
            <p:ph type="ftr" sz="quarter" idx="11"/>
          </p:nvPr>
        </p:nvSpPr>
        <p:spPr/>
        <p:txBody>
          <a:bodyPr/>
          <a:lstStyle/>
          <a:p>
            <a:endParaRPr lang="en-US" sz="1600" dirty="0"/>
          </a:p>
          <a:p>
            <a:r>
              <a:rPr lang="en-US" sz="1600" dirty="0" err="1"/>
              <a:t>Kaas</a:t>
            </a:r>
            <a:r>
              <a:rPr lang="en-US" sz="1600" dirty="0"/>
              <a:t>, et al. 2016, </a:t>
            </a:r>
            <a:r>
              <a:rPr lang="en-US" sz="1600" i="1" dirty="0"/>
              <a:t>PLOS Computational Biology</a:t>
            </a:r>
            <a:endParaRPr lang="en-US" sz="1600" dirty="0"/>
          </a:p>
          <a:p>
            <a:endParaRPr lang="en-US" sz="1600" dirty="0"/>
          </a:p>
        </p:txBody>
      </p:sp>
      <p:sp>
        <p:nvSpPr>
          <p:cNvPr id="4" name="Title 1"/>
          <p:cNvSpPr txBox="1">
            <a:spLocks/>
          </p:cNvSpPr>
          <p:nvPr/>
        </p:nvSpPr>
        <p:spPr>
          <a:xfrm>
            <a:off x="115372" y="2106251"/>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What are good </a:t>
            </a:r>
          </a:p>
          <a:p>
            <a:r>
              <a:rPr lang="en-US" dirty="0"/>
              <a:t>Research practices?</a:t>
            </a:r>
          </a:p>
        </p:txBody>
      </p:sp>
      <p:sp>
        <p:nvSpPr>
          <p:cNvPr id="6" name="Freeform 5"/>
          <p:cNvSpPr/>
          <p:nvPr/>
        </p:nvSpPr>
        <p:spPr>
          <a:xfrm>
            <a:off x="6636120" y="1566347"/>
            <a:ext cx="2102172" cy="1452107"/>
          </a:xfrm>
          <a:custGeom>
            <a:avLst/>
            <a:gdLst>
              <a:gd name="connsiteX0" fmla="*/ 0 w 2102172"/>
              <a:gd name="connsiteY0" fmla="*/ 726054 h 1452107"/>
              <a:gd name="connsiteX1" fmla="*/ 1051086 w 2102172"/>
              <a:gd name="connsiteY1" fmla="*/ 0 h 1452107"/>
              <a:gd name="connsiteX2" fmla="*/ 2102172 w 2102172"/>
              <a:gd name="connsiteY2" fmla="*/ 726054 h 1452107"/>
              <a:gd name="connsiteX3" fmla="*/ 1051086 w 2102172"/>
              <a:gd name="connsiteY3" fmla="*/ 1452108 h 1452107"/>
              <a:gd name="connsiteX4" fmla="*/ 0 w 2102172"/>
              <a:gd name="connsiteY4" fmla="*/ 726054 h 1452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2172" h="1452107">
                <a:moveTo>
                  <a:pt x="0" y="726054"/>
                </a:moveTo>
                <a:cubicBezTo>
                  <a:pt x="0" y="325065"/>
                  <a:pt x="470587" y="0"/>
                  <a:pt x="1051086" y="0"/>
                </a:cubicBezTo>
                <a:cubicBezTo>
                  <a:pt x="1631585" y="0"/>
                  <a:pt x="2102172" y="325065"/>
                  <a:pt x="2102172" y="726054"/>
                </a:cubicBezTo>
                <a:cubicBezTo>
                  <a:pt x="2102172" y="1127043"/>
                  <a:pt x="1631585" y="1452108"/>
                  <a:pt x="1051086" y="1452108"/>
                </a:cubicBezTo>
                <a:cubicBezTo>
                  <a:pt x="470587" y="1452108"/>
                  <a:pt x="0" y="1127043"/>
                  <a:pt x="0" y="726054"/>
                </a:cubicBezTo>
                <a:close/>
              </a:path>
            </a:pathLst>
          </a:custGeom>
          <a:solidFill>
            <a:schemeClr val="accent6">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28176" tIns="232976" rIns="328176" bIns="232976" numCol="1" spcCol="1270" anchor="ctr" anchorCtr="0">
            <a:noAutofit/>
          </a:bodyPr>
          <a:lstStyle/>
          <a:p>
            <a:pPr lvl="0" algn="ctr" defTabSz="711200">
              <a:lnSpc>
                <a:spcPct val="90000"/>
              </a:lnSpc>
              <a:spcBef>
                <a:spcPct val="0"/>
              </a:spcBef>
              <a:spcAft>
                <a:spcPct val="35000"/>
              </a:spcAft>
            </a:pPr>
            <a:r>
              <a:rPr lang="en-US" sz="1600" kern="1200" dirty="0"/>
              <a:t>START with a question</a:t>
            </a:r>
          </a:p>
        </p:txBody>
      </p:sp>
      <p:sp>
        <p:nvSpPr>
          <p:cNvPr id="7" name="Freeform 6"/>
          <p:cNvSpPr/>
          <p:nvPr/>
        </p:nvSpPr>
        <p:spPr>
          <a:xfrm rot="2122186">
            <a:off x="8525391" y="2793964"/>
            <a:ext cx="427134" cy="490086"/>
          </a:xfrm>
          <a:custGeom>
            <a:avLst/>
            <a:gdLst>
              <a:gd name="connsiteX0" fmla="*/ 0 w 427134"/>
              <a:gd name="connsiteY0" fmla="*/ 98017 h 490086"/>
              <a:gd name="connsiteX1" fmla="*/ 213567 w 427134"/>
              <a:gd name="connsiteY1" fmla="*/ 98017 h 490086"/>
              <a:gd name="connsiteX2" fmla="*/ 213567 w 427134"/>
              <a:gd name="connsiteY2" fmla="*/ 0 h 490086"/>
              <a:gd name="connsiteX3" fmla="*/ 427134 w 427134"/>
              <a:gd name="connsiteY3" fmla="*/ 245043 h 490086"/>
              <a:gd name="connsiteX4" fmla="*/ 213567 w 427134"/>
              <a:gd name="connsiteY4" fmla="*/ 490086 h 490086"/>
              <a:gd name="connsiteX5" fmla="*/ 213567 w 427134"/>
              <a:gd name="connsiteY5" fmla="*/ 392069 h 490086"/>
              <a:gd name="connsiteX6" fmla="*/ 0 w 427134"/>
              <a:gd name="connsiteY6" fmla="*/ 392069 h 490086"/>
              <a:gd name="connsiteX7" fmla="*/ 0 w 427134"/>
              <a:gd name="connsiteY7" fmla="*/ 98017 h 49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7134" h="490086">
                <a:moveTo>
                  <a:pt x="0" y="98017"/>
                </a:moveTo>
                <a:lnTo>
                  <a:pt x="213567" y="98017"/>
                </a:lnTo>
                <a:lnTo>
                  <a:pt x="213567" y="0"/>
                </a:lnTo>
                <a:lnTo>
                  <a:pt x="427134" y="245043"/>
                </a:lnTo>
                <a:lnTo>
                  <a:pt x="213567" y="490086"/>
                </a:lnTo>
                <a:lnTo>
                  <a:pt x="213567" y="392069"/>
                </a:lnTo>
                <a:lnTo>
                  <a:pt x="0" y="392069"/>
                </a:lnTo>
                <a:lnTo>
                  <a:pt x="0" y="98017"/>
                </a:lnTo>
                <a:close/>
              </a:path>
            </a:pathLst>
          </a:custGeom>
          <a:solidFill>
            <a:schemeClr val="accent6">
              <a:lumMod val="60000"/>
              <a:lumOff val="40000"/>
            </a:schemeClr>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spcFirstLastPara="0" vert="horz" wrap="square" lIns="-1" tIns="98017" rIns="128140" bIns="98016" numCol="1" spcCol="1270" anchor="ctr" anchorCtr="0">
            <a:noAutofit/>
          </a:bodyPr>
          <a:lstStyle/>
          <a:p>
            <a:pPr lvl="0" algn="ctr" defTabSz="577850">
              <a:lnSpc>
                <a:spcPct val="90000"/>
              </a:lnSpc>
              <a:spcBef>
                <a:spcPct val="0"/>
              </a:spcBef>
              <a:spcAft>
                <a:spcPct val="35000"/>
              </a:spcAft>
            </a:pPr>
            <a:endParaRPr lang="en-US" sz="1300" kern="1200"/>
          </a:p>
        </p:txBody>
      </p:sp>
      <p:sp>
        <p:nvSpPr>
          <p:cNvPr id="8" name="Freeform 7"/>
          <p:cNvSpPr/>
          <p:nvPr/>
        </p:nvSpPr>
        <p:spPr>
          <a:xfrm>
            <a:off x="8641961" y="3109399"/>
            <a:ext cx="2437914" cy="1452107"/>
          </a:xfrm>
          <a:custGeom>
            <a:avLst/>
            <a:gdLst>
              <a:gd name="connsiteX0" fmla="*/ 0 w 2437914"/>
              <a:gd name="connsiteY0" fmla="*/ 726054 h 1452107"/>
              <a:gd name="connsiteX1" fmla="*/ 1218957 w 2437914"/>
              <a:gd name="connsiteY1" fmla="*/ 0 h 1452107"/>
              <a:gd name="connsiteX2" fmla="*/ 2437914 w 2437914"/>
              <a:gd name="connsiteY2" fmla="*/ 726054 h 1452107"/>
              <a:gd name="connsiteX3" fmla="*/ 1218957 w 2437914"/>
              <a:gd name="connsiteY3" fmla="*/ 1452108 h 1452107"/>
              <a:gd name="connsiteX4" fmla="*/ 0 w 2437914"/>
              <a:gd name="connsiteY4" fmla="*/ 726054 h 1452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7914" h="1452107">
                <a:moveTo>
                  <a:pt x="0" y="726054"/>
                </a:moveTo>
                <a:cubicBezTo>
                  <a:pt x="0" y="325065"/>
                  <a:pt x="545746" y="0"/>
                  <a:pt x="1218957" y="0"/>
                </a:cubicBezTo>
                <a:cubicBezTo>
                  <a:pt x="1892168" y="0"/>
                  <a:pt x="2437914" y="325065"/>
                  <a:pt x="2437914" y="726054"/>
                </a:cubicBezTo>
                <a:cubicBezTo>
                  <a:pt x="2437914" y="1127043"/>
                  <a:pt x="1892168" y="1452108"/>
                  <a:pt x="1218957" y="1452108"/>
                </a:cubicBezTo>
                <a:cubicBezTo>
                  <a:pt x="545746" y="1452108"/>
                  <a:pt x="0" y="1127043"/>
                  <a:pt x="0" y="726054"/>
                </a:cubicBezTo>
                <a:close/>
              </a:path>
            </a:pathLst>
          </a:custGeom>
          <a:solidFill>
            <a:srgbClr val="FFC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77344" tIns="232976" rIns="377344" bIns="232976" numCol="1" spcCol="1270" anchor="ctr" anchorCtr="0">
            <a:noAutofit/>
          </a:bodyPr>
          <a:lstStyle/>
          <a:p>
            <a:pPr lvl="0" algn="ctr" defTabSz="711200">
              <a:lnSpc>
                <a:spcPct val="90000"/>
              </a:lnSpc>
              <a:spcBef>
                <a:spcPct val="0"/>
              </a:spcBef>
              <a:spcAft>
                <a:spcPct val="35000"/>
              </a:spcAft>
            </a:pPr>
            <a:r>
              <a:rPr lang="en-US" sz="1600" kern="1200" dirty="0"/>
              <a:t>Determine approach (keep it simple)</a:t>
            </a:r>
          </a:p>
        </p:txBody>
      </p:sp>
      <p:sp>
        <p:nvSpPr>
          <p:cNvPr id="9" name="Freeform 8"/>
          <p:cNvSpPr/>
          <p:nvPr/>
        </p:nvSpPr>
        <p:spPr>
          <a:xfrm rot="19353997">
            <a:off x="8684432" y="4357468"/>
            <a:ext cx="348851" cy="490087"/>
          </a:xfrm>
          <a:custGeom>
            <a:avLst/>
            <a:gdLst>
              <a:gd name="connsiteX0" fmla="*/ 0 w 348851"/>
              <a:gd name="connsiteY0" fmla="*/ 98017 h 490086"/>
              <a:gd name="connsiteX1" fmla="*/ 174426 w 348851"/>
              <a:gd name="connsiteY1" fmla="*/ 98017 h 490086"/>
              <a:gd name="connsiteX2" fmla="*/ 174426 w 348851"/>
              <a:gd name="connsiteY2" fmla="*/ 0 h 490086"/>
              <a:gd name="connsiteX3" fmla="*/ 348851 w 348851"/>
              <a:gd name="connsiteY3" fmla="*/ 245043 h 490086"/>
              <a:gd name="connsiteX4" fmla="*/ 174426 w 348851"/>
              <a:gd name="connsiteY4" fmla="*/ 490086 h 490086"/>
              <a:gd name="connsiteX5" fmla="*/ 174426 w 348851"/>
              <a:gd name="connsiteY5" fmla="*/ 392069 h 490086"/>
              <a:gd name="connsiteX6" fmla="*/ 0 w 348851"/>
              <a:gd name="connsiteY6" fmla="*/ 392069 h 490086"/>
              <a:gd name="connsiteX7" fmla="*/ 0 w 348851"/>
              <a:gd name="connsiteY7" fmla="*/ 98017 h 49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51" h="490086">
                <a:moveTo>
                  <a:pt x="348851" y="392069"/>
                </a:moveTo>
                <a:lnTo>
                  <a:pt x="174425" y="392069"/>
                </a:lnTo>
                <a:lnTo>
                  <a:pt x="174425" y="490086"/>
                </a:lnTo>
                <a:lnTo>
                  <a:pt x="0" y="245043"/>
                </a:lnTo>
                <a:lnTo>
                  <a:pt x="174425" y="0"/>
                </a:lnTo>
                <a:lnTo>
                  <a:pt x="174425" y="98017"/>
                </a:lnTo>
                <a:lnTo>
                  <a:pt x="348851" y="98017"/>
                </a:lnTo>
                <a:lnTo>
                  <a:pt x="348851" y="392069"/>
                </a:lnTo>
                <a:close/>
              </a:path>
            </a:pathLst>
          </a:custGeom>
          <a:solidFill>
            <a:schemeClr val="accent4">
              <a:lumMod val="20000"/>
              <a:lumOff val="80000"/>
            </a:schemeClr>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spcFirstLastPara="0" vert="horz" wrap="square" lIns="104654" tIns="98018" rIns="0" bIns="98016" numCol="1" spcCol="1270" anchor="ctr" anchorCtr="0">
            <a:noAutofit/>
          </a:bodyPr>
          <a:lstStyle/>
          <a:p>
            <a:pPr lvl="0" algn="ctr" defTabSz="577850">
              <a:lnSpc>
                <a:spcPct val="90000"/>
              </a:lnSpc>
              <a:spcBef>
                <a:spcPct val="0"/>
              </a:spcBef>
              <a:spcAft>
                <a:spcPct val="35000"/>
              </a:spcAft>
            </a:pPr>
            <a:endParaRPr lang="en-US" sz="1300" kern="1200"/>
          </a:p>
        </p:txBody>
      </p:sp>
      <p:sp>
        <p:nvSpPr>
          <p:cNvPr id="10" name="Freeform 9"/>
          <p:cNvSpPr/>
          <p:nvPr/>
        </p:nvSpPr>
        <p:spPr>
          <a:xfrm>
            <a:off x="6638717" y="4653117"/>
            <a:ext cx="2411079" cy="1452107"/>
          </a:xfrm>
          <a:custGeom>
            <a:avLst/>
            <a:gdLst>
              <a:gd name="connsiteX0" fmla="*/ 0 w 2411079"/>
              <a:gd name="connsiteY0" fmla="*/ 726054 h 1452107"/>
              <a:gd name="connsiteX1" fmla="*/ 1205540 w 2411079"/>
              <a:gd name="connsiteY1" fmla="*/ 0 h 1452107"/>
              <a:gd name="connsiteX2" fmla="*/ 2411080 w 2411079"/>
              <a:gd name="connsiteY2" fmla="*/ 726054 h 1452107"/>
              <a:gd name="connsiteX3" fmla="*/ 1205540 w 2411079"/>
              <a:gd name="connsiteY3" fmla="*/ 1452108 h 1452107"/>
              <a:gd name="connsiteX4" fmla="*/ 0 w 2411079"/>
              <a:gd name="connsiteY4" fmla="*/ 726054 h 1452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1079" h="1452107">
                <a:moveTo>
                  <a:pt x="0" y="726054"/>
                </a:moveTo>
                <a:cubicBezTo>
                  <a:pt x="0" y="325065"/>
                  <a:pt x="539739" y="0"/>
                  <a:pt x="1205540" y="0"/>
                </a:cubicBezTo>
                <a:cubicBezTo>
                  <a:pt x="1871341" y="0"/>
                  <a:pt x="2411080" y="325065"/>
                  <a:pt x="2411080" y="726054"/>
                </a:cubicBezTo>
                <a:cubicBezTo>
                  <a:pt x="2411080" y="1127043"/>
                  <a:pt x="1871341" y="1452108"/>
                  <a:pt x="1205540" y="1452108"/>
                </a:cubicBezTo>
                <a:cubicBezTo>
                  <a:pt x="539739" y="1452108"/>
                  <a:pt x="0" y="1127043"/>
                  <a:pt x="0" y="726054"/>
                </a:cubicBez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73414" tIns="232976" rIns="373414" bIns="232976" numCol="1" spcCol="1270" anchor="ctr" anchorCtr="0">
            <a:noAutofit/>
          </a:bodyPr>
          <a:lstStyle/>
          <a:p>
            <a:pPr lvl="0" algn="ctr" defTabSz="711200">
              <a:lnSpc>
                <a:spcPct val="90000"/>
              </a:lnSpc>
              <a:spcBef>
                <a:spcPct val="0"/>
              </a:spcBef>
              <a:spcAft>
                <a:spcPct val="35000"/>
              </a:spcAft>
            </a:pPr>
            <a:endParaRPr lang="en-US" sz="1600" kern="1200" dirty="0"/>
          </a:p>
          <a:p>
            <a:pPr lvl="0" algn="ctr" defTabSz="711200">
              <a:lnSpc>
                <a:spcPct val="90000"/>
              </a:lnSpc>
              <a:spcBef>
                <a:spcPct val="0"/>
              </a:spcBef>
              <a:spcAft>
                <a:spcPct val="35000"/>
              </a:spcAft>
            </a:pPr>
            <a:r>
              <a:rPr lang="en-US" sz="1600" kern="1200" dirty="0"/>
              <a:t>Check your data quality</a:t>
            </a:r>
          </a:p>
          <a:p>
            <a:pPr lvl="0" algn="ctr" defTabSz="711200">
              <a:lnSpc>
                <a:spcPct val="90000"/>
              </a:lnSpc>
              <a:spcBef>
                <a:spcPct val="0"/>
              </a:spcBef>
              <a:spcAft>
                <a:spcPct val="35000"/>
              </a:spcAft>
            </a:pPr>
            <a:endParaRPr lang="en-US" sz="1600" kern="1200" dirty="0"/>
          </a:p>
        </p:txBody>
      </p:sp>
      <p:sp>
        <p:nvSpPr>
          <p:cNvPr id="11" name="Freeform 10"/>
          <p:cNvSpPr/>
          <p:nvPr/>
        </p:nvSpPr>
        <p:spPr>
          <a:xfrm rot="2001137">
            <a:off x="6563012" y="4412491"/>
            <a:ext cx="369681" cy="490087"/>
          </a:xfrm>
          <a:custGeom>
            <a:avLst/>
            <a:gdLst>
              <a:gd name="connsiteX0" fmla="*/ 0 w 369680"/>
              <a:gd name="connsiteY0" fmla="*/ 98017 h 490086"/>
              <a:gd name="connsiteX1" fmla="*/ 184840 w 369680"/>
              <a:gd name="connsiteY1" fmla="*/ 98017 h 490086"/>
              <a:gd name="connsiteX2" fmla="*/ 184840 w 369680"/>
              <a:gd name="connsiteY2" fmla="*/ 0 h 490086"/>
              <a:gd name="connsiteX3" fmla="*/ 369680 w 369680"/>
              <a:gd name="connsiteY3" fmla="*/ 245043 h 490086"/>
              <a:gd name="connsiteX4" fmla="*/ 184840 w 369680"/>
              <a:gd name="connsiteY4" fmla="*/ 490086 h 490086"/>
              <a:gd name="connsiteX5" fmla="*/ 184840 w 369680"/>
              <a:gd name="connsiteY5" fmla="*/ 392069 h 490086"/>
              <a:gd name="connsiteX6" fmla="*/ 0 w 369680"/>
              <a:gd name="connsiteY6" fmla="*/ 392069 h 490086"/>
              <a:gd name="connsiteX7" fmla="*/ 0 w 369680"/>
              <a:gd name="connsiteY7" fmla="*/ 98017 h 49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680" h="490086">
                <a:moveTo>
                  <a:pt x="369680" y="392069"/>
                </a:moveTo>
                <a:lnTo>
                  <a:pt x="184840" y="392069"/>
                </a:lnTo>
                <a:lnTo>
                  <a:pt x="184840" y="490086"/>
                </a:lnTo>
                <a:lnTo>
                  <a:pt x="0" y="245043"/>
                </a:lnTo>
                <a:lnTo>
                  <a:pt x="184840" y="0"/>
                </a:lnTo>
                <a:lnTo>
                  <a:pt x="184840" y="98017"/>
                </a:lnTo>
                <a:lnTo>
                  <a:pt x="369680" y="98017"/>
                </a:lnTo>
                <a:lnTo>
                  <a:pt x="369680" y="392069"/>
                </a:lnTo>
                <a:close/>
              </a:path>
            </a:pathLst>
          </a:custGeom>
          <a:solidFill>
            <a:srgbClr val="CC99FF"/>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txBody>
          <a:bodyPr spcFirstLastPara="0" vert="horz" wrap="square" lIns="110904" tIns="98018" rIns="0" bIns="98016" numCol="1" spcCol="1270" anchor="ctr" anchorCtr="0">
            <a:noAutofit/>
          </a:bodyPr>
          <a:lstStyle/>
          <a:p>
            <a:pPr lvl="0" algn="ctr" defTabSz="577850">
              <a:lnSpc>
                <a:spcPct val="90000"/>
              </a:lnSpc>
              <a:spcBef>
                <a:spcPct val="0"/>
              </a:spcBef>
              <a:spcAft>
                <a:spcPct val="35000"/>
              </a:spcAft>
            </a:pPr>
            <a:endParaRPr lang="en-US" sz="1300" kern="1200"/>
          </a:p>
        </p:txBody>
      </p:sp>
      <p:sp>
        <p:nvSpPr>
          <p:cNvPr id="12" name="Freeform 11"/>
          <p:cNvSpPr/>
          <p:nvPr/>
        </p:nvSpPr>
        <p:spPr>
          <a:xfrm>
            <a:off x="4396095" y="3193398"/>
            <a:ext cx="2460727" cy="1452107"/>
          </a:xfrm>
          <a:custGeom>
            <a:avLst/>
            <a:gdLst>
              <a:gd name="connsiteX0" fmla="*/ 0 w 2460727"/>
              <a:gd name="connsiteY0" fmla="*/ 726054 h 1452107"/>
              <a:gd name="connsiteX1" fmla="*/ 1230364 w 2460727"/>
              <a:gd name="connsiteY1" fmla="*/ 0 h 1452107"/>
              <a:gd name="connsiteX2" fmla="*/ 2460728 w 2460727"/>
              <a:gd name="connsiteY2" fmla="*/ 726054 h 1452107"/>
              <a:gd name="connsiteX3" fmla="*/ 1230364 w 2460727"/>
              <a:gd name="connsiteY3" fmla="*/ 1452108 h 1452107"/>
              <a:gd name="connsiteX4" fmla="*/ 0 w 2460727"/>
              <a:gd name="connsiteY4" fmla="*/ 726054 h 1452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727" h="1452107">
                <a:moveTo>
                  <a:pt x="0" y="726054"/>
                </a:moveTo>
                <a:cubicBezTo>
                  <a:pt x="0" y="325065"/>
                  <a:pt x="550853" y="0"/>
                  <a:pt x="1230364" y="0"/>
                </a:cubicBezTo>
                <a:cubicBezTo>
                  <a:pt x="1909875" y="0"/>
                  <a:pt x="2460728" y="325065"/>
                  <a:pt x="2460728" y="726054"/>
                </a:cubicBezTo>
                <a:cubicBezTo>
                  <a:pt x="2460728" y="1127043"/>
                  <a:pt x="1909875" y="1452108"/>
                  <a:pt x="1230364" y="1452108"/>
                </a:cubicBezTo>
                <a:cubicBezTo>
                  <a:pt x="550853" y="1452108"/>
                  <a:pt x="0" y="1127043"/>
                  <a:pt x="0" y="726054"/>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80685" tIns="232976" rIns="380685" bIns="232976" numCol="1" spcCol="1270" anchor="ctr" anchorCtr="0">
            <a:noAutofit/>
          </a:bodyPr>
          <a:lstStyle/>
          <a:p>
            <a:pPr lvl="0" algn="ctr" defTabSz="711200">
              <a:lnSpc>
                <a:spcPct val="90000"/>
              </a:lnSpc>
              <a:spcBef>
                <a:spcPct val="0"/>
              </a:spcBef>
              <a:spcAft>
                <a:spcPct val="35000"/>
              </a:spcAft>
            </a:pPr>
            <a:r>
              <a:rPr lang="en-US" sz="1600" dirty="0"/>
              <a:t>Keep a record of your analyses</a:t>
            </a:r>
            <a:endParaRPr lang="en-US" sz="1600" kern="1200" dirty="0"/>
          </a:p>
        </p:txBody>
      </p:sp>
      <p:sp>
        <p:nvSpPr>
          <p:cNvPr id="13" name="Freeform 12"/>
          <p:cNvSpPr/>
          <p:nvPr/>
        </p:nvSpPr>
        <p:spPr>
          <a:xfrm rot="19302442">
            <a:off x="6456183" y="2850807"/>
            <a:ext cx="426823" cy="490086"/>
          </a:xfrm>
          <a:custGeom>
            <a:avLst/>
            <a:gdLst>
              <a:gd name="connsiteX0" fmla="*/ 0 w 426823"/>
              <a:gd name="connsiteY0" fmla="*/ 98017 h 490086"/>
              <a:gd name="connsiteX1" fmla="*/ 213412 w 426823"/>
              <a:gd name="connsiteY1" fmla="*/ 98017 h 490086"/>
              <a:gd name="connsiteX2" fmla="*/ 213412 w 426823"/>
              <a:gd name="connsiteY2" fmla="*/ 0 h 490086"/>
              <a:gd name="connsiteX3" fmla="*/ 426823 w 426823"/>
              <a:gd name="connsiteY3" fmla="*/ 245043 h 490086"/>
              <a:gd name="connsiteX4" fmla="*/ 213412 w 426823"/>
              <a:gd name="connsiteY4" fmla="*/ 490086 h 490086"/>
              <a:gd name="connsiteX5" fmla="*/ 213412 w 426823"/>
              <a:gd name="connsiteY5" fmla="*/ 392069 h 490086"/>
              <a:gd name="connsiteX6" fmla="*/ 0 w 426823"/>
              <a:gd name="connsiteY6" fmla="*/ 392069 h 490086"/>
              <a:gd name="connsiteX7" fmla="*/ 0 w 426823"/>
              <a:gd name="connsiteY7" fmla="*/ 98017 h 49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6823" h="490086">
                <a:moveTo>
                  <a:pt x="0" y="98017"/>
                </a:moveTo>
                <a:lnTo>
                  <a:pt x="213412" y="98017"/>
                </a:lnTo>
                <a:lnTo>
                  <a:pt x="213412" y="0"/>
                </a:lnTo>
                <a:lnTo>
                  <a:pt x="426823" y="245043"/>
                </a:lnTo>
                <a:lnTo>
                  <a:pt x="213412" y="490086"/>
                </a:lnTo>
                <a:lnTo>
                  <a:pt x="213412" y="392069"/>
                </a:lnTo>
                <a:lnTo>
                  <a:pt x="0" y="392069"/>
                </a:lnTo>
                <a:lnTo>
                  <a:pt x="0" y="98017"/>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98017" rIns="128047" bIns="98016" numCol="1" spcCol="1270" anchor="ctr" anchorCtr="0">
            <a:noAutofit/>
          </a:bodyPr>
          <a:lstStyle/>
          <a:p>
            <a:pPr lvl="0" algn="ctr" defTabSz="577850">
              <a:lnSpc>
                <a:spcPct val="90000"/>
              </a:lnSpc>
              <a:spcBef>
                <a:spcPct val="0"/>
              </a:spcBef>
              <a:spcAft>
                <a:spcPct val="35000"/>
              </a:spcAft>
            </a:pPr>
            <a:endParaRPr lang="en-US" sz="1300" kern="1200"/>
          </a:p>
        </p:txBody>
      </p:sp>
      <p:sp>
        <p:nvSpPr>
          <p:cNvPr id="14" name="TextBox 13"/>
          <p:cNvSpPr txBox="1"/>
          <p:nvPr/>
        </p:nvSpPr>
        <p:spPr>
          <a:xfrm>
            <a:off x="12072135" y="1471214"/>
            <a:ext cx="184731" cy="369332"/>
          </a:xfrm>
          <a:prstGeom prst="rect">
            <a:avLst/>
          </a:prstGeom>
          <a:noFill/>
        </p:spPr>
        <p:txBody>
          <a:bodyPr wrap="none" rtlCol="0">
            <a:spAutoFit/>
          </a:bodyPr>
          <a:lstStyle/>
          <a:p>
            <a:endParaRPr lang="en-US" dirty="0"/>
          </a:p>
        </p:txBody>
      </p:sp>
      <p:sp>
        <p:nvSpPr>
          <p:cNvPr id="15" name="Rectangle 14"/>
          <p:cNvSpPr/>
          <p:nvPr/>
        </p:nvSpPr>
        <p:spPr>
          <a:xfrm rot="19623276">
            <a:off x="8917247" y="2092757"/>
            <a:ext cx="1408748" cy="707886"/>
          </a:xfrm>
          <a:prstGeom prst="rect">
            <a:avLst/>
          </a:prstGeom>
          <a:noFill/>
        </p:spPr>
        <p:txBody>
          <a:bodyPr wrap="squar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Really plan</a:t>
            </a:r>
          </a:p>
          <a:p>
            <a:pPr algn="ctr"/>
            <a:r>
              <a:rPr lang="en-US" sz="2000" b="0" cap="none" spc="0" dirty="0">
                <a:ln w="0"/>
                <a:solidFill>
                  <a:schemeClr val="tx1"/>
                </a:solidFill>
                <a:effectLst>
                  <a:outerShdw blurRad="38100" dist="19050" dir="2700000" algn="tl" rotWithShape="0">
                    <a:schemeClr val="dk1">
                      <a:alpha val="40000"/>
                    </a:schemeClr>
                  </a:outerShdw>
                </a:effectLst>
              </a:rPr>
              <a:t>Ahead</a:t>
            </a:r>
          </a:p>
        </p:txBody>
      </p:sp>
      <p:sp>
        <p:nvSpPr>
          <p:cNvPr id="16" name="Rectangle 15"/>
          <p:cNvSpPr/>
          <p:nvPr/>
        </p:nvSpPr>
        <p:spPr>
          <a:xfrm rot="1275952">
            <a:off x="9185682" y="5052897"/>
            <a:ext cx="2614114" cy="707886"/>
          </a:xfrm>
          <a:prstGeom prst="rect">
            <a:avLst/>
          </a:prstGeom>
          <a:noFill/>
        </p:spPr>
        <p:txBody>
          <a:bodyPr wrap="none" lIns="91440" tIns="45720" rIns="91440" bIns="45720">
            <a:spAutoFit/>
          </a:bodyPr>
          <a:lstStyle/>
          <a:p>
            <a:pPr lvl="0"/>
            <a:r>
              <a:rPr lang="en-US" sz="2000" dirty="0"/>
              <a:t>Discuss your approach/</a:t>
            </a:r>
          </a:p>
          <a:p>
            <a:pPr lvl="0"/>
            <a:r>
              <a:rPr lang="en-US" sz="2000" dirty="0"/>
              <a:t>analysis with others</a:t>
            </a:r>
          </a:p>
        </p:txBody>
      </p:sp>
      <p:sp>
        <p:nvSpPr>
          <p:cNvPr id="17" name="Rectangle 16"/>
          <p:cNvSpPr/>
          <p:nvPr/>
        </p:nvSpPr>
        <p:spPr>
          <a:xfrm rot="19453723">
            <a:off x="5182819" y="4945959"/>
            <a:ext cx="1499578" cy="707886"/>
          </a:xfrm>
          <a:prstGeom prst="rect">
            <a:avLst/>
          </a:prstGeom>
          <a:noFill/>
        </p:spPr>
        <p:txBody>
          <a:bodyPr wrap="none" lIns="91440" tIns="45720" rIns="91440" bIns="45720">
            <a:spAutoFit/>
          </a:bodyPr>
          <a:lstStyle/>
          <a:p>
            <a:pPr lvl="0"/>
            <a:r>
              <a:rPr lang="en-US" sz="2000" dirty="0"/>
              <a:t>Check your</a:t>
            </a:r>
          </a:p>
          <a:p>
            <a:pPr lvl="0"/>
            <a:r>
              <a:rPr lang="en-US" sz="2000" dirty="0"/>
              <a:t>assumptions</a:t>
            </a:r>
          </a:p>
        </p:txBody>
      </p:sp>
      <p:sp>
        <p:nvSpPr>
          <p:cNvPr id="18" name="Rectangle 17"/>
          <p:cNvSpPr/>
          <p:nvPr/>
        </p:nvSpPr>
        <p:spPr>
          <a:xfrm rot="1432913">
            <a:off x="4150841" y="1814731"/>
            <a:ext cx="2444663" cy="923330"/>
          </a:xfrm>
          <a:prstGeom prst="rect">
            <a:avLst/>
          </a:prstGeom>
          <a:noFill/>
        </p:spPr>
        <p:txBody>
          <a:bodyPr wrap="square" lIns="91440" tIns="45720" rIns="91440" bIns="45720">
            <a:spAutoFit/>
          </a:bodyPr>
          <a:lstStyle/>
          <a:p>
            <a:pPr lvl="0" algn="ctr" defTabSz="711200">
              <a:lnSpc>
                <a:spcPct val="90000"/>
              </a:lnSpc>
              <a:spcBef>
                <a:spcPct val="0"/>
              </a:spcBef>
            </a:pPr>
            <a:r>
              <a:rPr lang="en-US" sz="2000" dirty="0"/>
              <a:t>Revisit the question. </a:t>
            </a:r>
          </a:p>
          <a:p>
            <a:pPr lvl="0" algn="ctr" defTabSz="711200">
              <a:lnSpc>
                <a:spcPct val="90000"/>
              </a:lnSpc>
              <a:spcBef>
                <a:spcPct val="0"/>
              </a:spcBef>
            </a:pPr>
            <a:r>
              <a:rPr lang="en-US" sz="2000" dirty="0"/>
              <a:t>Does your approach</a:t>
            </a:r>
          </a:p>
          <a:p>
            <a:pPr lvl="0" algn="ctr" defTabSz="711200">
              <a:lnSpc>
                <a:spcPct val="90000"/>
              </a:lnSpc>
              <a:spcBef>
                <a:spcPct val="0"/>
              </a:spcBef>
            </a:pPr>
            <a:r>
              <a:rPr lang="en-US" sz="2000" dirty="0"/>
              <a:t> still answer it?</a:t>
            </a:r>
          </a:p>
        </p:txBody>
      </p:sp>
    </p:spTree>
    <p:extLst>
      <p:ext uri="{BB962C8B-B14F-4D97-AF65-F5344CB8AC3E}">
        <p14:creationId xmlns:p14="http://schemas.microsoft.com/office/powerpoint/2010/main" val="3106844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5" grpId="0"/>
      <p:bldP spid="16" grpId="0"/>
      <p:bldP spid="17" grpId="0"/>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526608" y="1892909"/>
            <a:ext cx="10515600" cy="3304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“Extra variability means extra uncertainty in the conclusions, and this uncertainty needs to be reported. Such reporting is invaluable for planning the next investigation.”</a:t>
            </a:r>
          </a:p>
          <a:p>
            <a:pPr lvl="1"/>
            <a:r>
              <a:rPr lang="en-US" sz="2800" dirty="0"/>
              <a:t>Be aware of sources of error</a:t>
            </a:r>
          </a:p>
          <a:p>
            <a:pPr lvl="1"/>
            <a:r>
              <a:rPr lang="en-US" sz="2800" dirty="0"/>
              <a:t>Provide assessments of variability</a:t>
            </a:r>
          </a:p>
          <a:p>
            <a:pPr lvl="1"/>
            <a:endParaRPr lang="en-US" sz="2800" dirty="0"/>
          </a:p>
          <a:p>
            <a:r>
              <a:rPr lang="en-US" sz="3600" dirty="0"/>
              <a:t>Don’t cut corners! </a:t>
            </a:r>
          </a:p>
          <a:p>
            <a:endParaRPr lang="en-US" dirty="0"/>
          </a:p>
          <a:p>
            <a:pPr marL="457200" lvl="1" indent="0">
              <a:buFont typeface="Arial" panose="020B0604020202020204" pitchFamily="34" charset="0"/>
              <a:buNone/>
            </a:pPr>
            <a:endParaRPr lang="en-US" dirty="0"/>
          </a:p>
        </p:txBody>
      </p:sp>
      <p:sp>
        <p:nvSpPr>
          <p:cNvPr id="2" name="Date Placeholder 1"/>
          <p:cNvSpPr>
            <a:spLocks noGrp="1"/>
          </p:cNvSpPr>
          <p:nvPr>
            <p:ph type="dt" sz="half" idx="10"/>
          </p:nvPr>
        </p:nvSpPr>
        <p:spPr/>
        <p:txBody>
          <a:bodyPr/>
          <a:lstStyle/>
          <a:p>
            <a:r>
              <a:rPr lang="en-US"/>
              <a:t>11/5/2018</a:t>
            </a:r>
            <a:endParaRPr lang="en-US" dirty="0"/>
          </a:p>
        </p:txBody>
      </p:sp>
      <p:sp>
        <p:nvSpPr>
          <p:cNvPr id="3" name="Footer Placeholder 2"/>
          <p:cNvSpPr>
            <a:spLocks noGrp="1"/>
          </p:cNvSpPr>
          <p:nvPr>
            <p:ph type="ftr" sz="quarter" idx="11"/>
          </p:nvPr>
        </p:nvSpPr>
        <p:spPr/>
        <p:txBody>
          <a:bodyPr/>
          <a:lstStyle/>
          <a:p>
            <a:r>
              <a:rPr lang="en-US" dirty="0" err="1"/>
              <a:t>Kaas</a:t>
            </a:r>
            <a:r>
              <a:rPr lang="en-US" dirty="0"/>
              <a:t>, et al. 2016, </a:t>
            </a:r>
            <a:r>
              <a:rPr lang="en-US" i="1" dirty="0"/>
              <a:t>PLOS Computational Biology</a:t>
            </a:r>
            <a:endParaRPr lang="en-US" dirty="0"/>
          </a:p>
          <a:p>
            <a:r>
              <a:rPr lang="en-US" dirty="0"/>
              <a:t>Quote from Lindsey’s Spring presentation</a:t>
            </a:r>
          </a:p>
        </p:txBody>
      </p:sp>
      <p:sp>
        <p:nvSpPr>
          <p:cNvPr id="5" name="Title 1"/>
          <p:cNvSpPr txBox="1">
            <a:spLocks/>
          </p:cNvSpPr>
          <p:nvPr/>
        </p:nvSpPr>
        <p:spPr>
          <a:xfrm>
            <a:off x="629478" y="1279526"/>
            <a:ext cx="10515600" cy="8076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Other good practices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0820" y="2734006"/>
            <a:ext cx="4584258" cy="3438194"/>
          </a:xfrm>
          <a:prstGeom prst="rect">
            <a:avLst/>
          </a:prstGeom>
        </p:spPr>
      </p:pic>
    </p:spTree>
    <p:extLst>
      <p:ext uri="{BB962C8B-B14F-4D97-AF65-F5344CB8AC3E}">
        <p14:creationId xmlns:p14="http://schemas.microsoft.com/office/powerpoint/2010/main" val="1495375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CA684-78CF-423C-B246-2573E96D5790}"/>
              </a:ext>
            </a:extLst>
          </p:cNvPr>
          <p:cNvSpPr>
            <a:spLocks noGrp="1"/>
          </p:cNvSpPr>
          <p:nvPr>
            <p:ph type="ctrTitle"/>
          </p:nvPr>
        </p:nvSpPr>
        <p:spPr/>
        <p:txBody>
          <a:bodyPr anchor="ctr">
            <a:normAutofit/>
          </a:bodyPr>
          <a:lstStyle/>
          <a:p>
            <a:r>
              <a:rPr lang="en-US" sz="5400" dirty="0"/>
              <a:t>Keeping reproducibility in mind!</a:t>
            </a:r>
          </a:p>
        </p:txBody>
      </p:sp>
      <p:sp>
        <p:nvSpPr>
          <p:cNvPr id="3" name="Subtitle 2">
            <a:extLst>
              <a:ext uri="{FF2B5EF4-FFF2-40B4-BE49-F238E27FC236}">
                <a16:creationId xmlns:a16="http://schemas.microsoft.com/office/drawing/2014/main" id="{AAC11617-CEB8-4D64-A9A6-C7E3A936760A}"/>
              </a:ext>
            </a:extLst>
          </p:cNvPr>
          <p:cNvSpPr>
            <a:spLocks noGrp="1"/>
          </p:cNvSpPr>
          <p:nvPr>
            <p:ph type="subTitle" idx="1"/>
          </p:nvPr>
        </p:nvSpPr>
        <p:spPr/>
        <p:txBody>
          <a:bodyPr vert="horz" lIns="91440" tIns="45720" rIns="91440" bIns="45720" rtlCol="0" anchor="t">
            <a:normAutofit/>
          </a:bodyPr>
          <a:lstStyle/>
          <a:p>
            <a:r>
              <a:rPr lang="en-US" dirty="0"/>
              <a:t>Derek Norton</a:t>
            </a:r>
          </a:p>
        </p:txBody>
      </p:sp>
    </p:spTree>
    <p:extLst>
      <p:ext uri="{BB962C8B-B14F-4D97-AF65-F5344CB8AC3E}">
        <p14:creationId xmlns:p14="http://schemas.microsoft.com/office/powerpoint/2010/main" val="4262986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4000" dirty="0"/>
              <a:t>Reproducible Research</a:t>
            </a:r>
          </a:p>
        </p:txBody>
      </p:sp>
      <p:sp>
        <p:nvSpPr>
          <p:cNvPr id="6" name="Content Placeholder 5"/>
          <p:cNvSpPr>
            <a:spLocks noGrp="1"/>
          </p:cNvSpPr>
          <p:nvPr>
            <p:ph idx="1"/>
          </p:nvPr>
        </p:nvSpPr>
        <p:spPr/>
        <p:txBody>
          <a:bodyPr>
            <a:normAutofit/>
          </a:bodyPr>
          <a:lstStyle/>
          <a:p>
            <a:r>
              <a:rPr lang="en-US" dirty="0"/>
              <a:t>Making projects reproducible is a journey, not a destination</a:t>
            </a:r>
          </a:p>
          <a:p>
            <a:pPr lvl="1"/>
            <a:r>
              <a:rPr lang="en-US" dirty="0"/>
              <a:t>Don’t need to do everything that is recommended</a:t>
            </a:r>
          </a:p>
          <a:p>
            <a:pPr lvl="2"/>
            <a:r>
              <a:rPr lang="en-US" dirty="0"/>
              <a:t>No project will be perfect</a:t>
            </a:r>
          </a:p>
          <a:p>
            <a:pPr lvl="2"/>
            <a:r>
              <a:rPr lang="en-US" dirty="0"/>
              <a:t>Try and make the next project better</a:t>
            </a:r>
          </a:p>
          <a:p>
            <a:pPr lvl="1"/>
            <a:r>
              <a:rPr lang="en-US" dirty="0"/>
              <a:t>Use what works for you and your process, project, institution, etc.</a:t>
            </a:r>
          </a:p>
          <a:p>
            <a:r>
              <a:rPr lang="en-US" dirty="0"/>
              <a:t>Who benefits from it?  Mostly you!</a:t>
            </a:r>
          </a:p>
          <a:p>
            <a:pPr lvl="1"/>
            <a:r>
              <a:rPr lang="en-US" dirty="0"/>
              <a:t>“Your closest collaborator is you 6 months ago.”</a:t>
            </a:r>
          </a:p>
          <a:p>
            <a:pPr marL="914400" lvl="2" indent="0">
              <a:buNone/>
            </a:pPr>
            <a:r>
              <a:rPr lang="en-US" dirty="0"/>
              <a:t>- Karl Broman</a:t>
            </a:r>
          </a:p>
        </p:txBody>
      </p:sp>
    </p:spTree>
    <p:extLst>
      <p:ext uri="{BB962C8B-B14F-4D97-AF65-F5344CB8AC3E}">
        <p14:creationId xmlns:p14="http://schemas.microsoft.com/office/powerpoint/2010/main" val="2024249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3600" dirty="0"/>
              <a:t>The digital domain (aka, “Where’d my lab book go?!”)</a:t>
            </a:r>
          </a:p>
        </p:txBody>
      </p:sp>
      <p:sp>
        <p:nvSpPr>
          <p:cNvPr id="6" name="Content Placeholder 5"/>
          <p:cNvSpPr>
            <a:spLocks noGrp="1"/>
          </p:cNvSpPr>
          <p:nvPr>
            <p:ph idx="1"/>
          </p:nvPr>
        </p:nvSpPr>
        <p:spPr/>
        <p:txBody>
          <a:bodyPr>
            <a:normAutofit/>
          </a:bodyPr>
          <a:lstStyle/>
          <a:p>
            <a:r>
              <a:rPr lang="en-US" dirty="0"/>
              <a:t>Think about the logistics of conducting modern research</a:t>
            </a:r>
          </a:p>
          <a:p>
            <a:pPr lvl="1"/>
            <a:r>
              <a:rPr lang="en-US" dirty="0"/>
              <a:t>The vast majority of your work and documentation will be digital</a:t>
            </a:r>
          </a:p>
          <a:p>
            <a:pPr lvl="1"/>
            <a:r>
              <a:rPr lang="en-US" dirty="0"/>
              <a:t>Use of statistical (and other) software will be involved</a:t>
            </a:r>
          </a:p>
          <a:p>
            <a:pPr lvl="1"/>
            <a:r>
              <a:rPr lang="en-US" dirty="0"/>
              <a:t>Use common directory structures to organize projects (“There’s my file cabinet!”)</a:t>
            </a:r>
          </a:p>
          <a:p>
            <a:pPr lvl="1"/>
            <a:r>
              <a:rPr lang="en-US" dirty="0"/>
              <a:t>In scripts (and other digital documents), use comments; put in thoughts, observations, and logic (“There’s my lab book!”)</a:t>
            </a:r>
          </a:p>
          <a:p>
            <a:pPr lvl="1"/>
            <a:r>
              <a:rPr lang="en-US" dirty="0"/>
              <a:t>Document what you are going to do / have done, and update as the project progresses</a:t>
            </a:r>
          </a:p>
          <a:p>
            <a:pPr lvl="1"/>
            <a:endParaRPr lang="en-US" dirty="0"/>
          </a:p>
        </p:txBody>
      </p:sp>
    </p:spTree>
    <p:extLst>
      <p:ext uri="{BB962C8B-B14F-4D97-AF65-F5344CB8AC3E}">
        <p14:creationId xmlns:p14="http://schemas.microsoft.com/office/powerpoint/2010/main" val="1101019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1172847"/>
            <a:ext cx="10515600" cy="655953"/>
          </a:xfrm>
        </p:spPr>
        <p:txBody>
          <a:bodyPr anchor="t">
            <a:normAutofit/>
          </a:bodyPr>
          <a:lstStyle/>
          <a:p>
            <a:r>
              <a:rPr lang="en-US" sz="3600" dirty="0"/>
              <a:t>File structure example</a:t>
            </a:r>
          </a:p>
        </p:txBody>
      </p:sp>
      <p:sp>
        <p:nvSpPr>
          <p:cNvPr id="7" name="TextBox 6"/>
          <p:cNvSpPr txBox="1"/>
          <p:nvPr/>
        </p:nvSpPr>
        <p:spPr>
          <a:xfrm>
            <a:off x="838200" y="2071396"/>
            <a:ext cx="2078182" cy="369332"/>
          </a:xfrm>
          <a:prstGeom prst="rect">
            <a:avLst/>
          </a:prstGeom>
          <a:noFill/>
        </p:spPr>
        <p:txBody>
          <a:bodyPr wrap="square" rtlCol="0">
            <a:spAutoFit/>
          </a:bodyPr>
          <a:lstStyle/>
          <a:p>
            <a:r>
              <a:rPr lang="en-US" dirty="0" err="1"/>
              <a:t>collaborator_name</a:t>
            </a:r>
            <a:endParaRPr lang="en-US" dirty="0"/>
          </a:p>
        </p:txBody>
      </p:sp>
      <p:sp>
        <p:nvSpPr>
          <p:cNvPr id="8" name="TextBox 7"/>
          <p:cNvSpPr txBox="1"/>
          <p:nvPr/>
        </p:nvSpPr>
        <p:spPr>
          <a:xfrm>
            <a:off x="838200" y="3786589"/>
            <a:ext cx="2078182" cy="369332"/>
          </a:xfrm>
          <a:prstGeom prst="rect">
            <a:avLst/>
          </a:prstGeom>
          <a:noFill/>
        </p:spPr>
        <p:txBody>
          <a:bodyPr wrap="square" rtlCol="0">
            <a:spAutoFit/>
          </a:bodyPr>
          <a:lstStyle/>
          <a:p>
            <a:r>
              <a:rPr lang="en-US" dirty="0" err="1"/>
              <a:t>project_name</a:t>
            </a:r>
            <a:endParaRPr lang="en-US" dirty="0"/>
          </a:p>
        </p:txBody>
      </p:sp>
      <p:sp>
        <p:nvSpPr>
          <p:cNvPr id="9" name="TextBox 8"/>
          <p:cNvSpPr txBox="1"/>
          <p:nvPr/>
        </p:nvSpPr>
        <p:spPr>
          <a:xfrm>
            <a:off x="3538449" y="2368251"/>
            <a:ext cx="953193" cy="369332"/>
          </a:xfrm>
          <a:prstGeom prst="rect">
            <a:avLst/>
          </a:prstGeom>
          <a:noFill/>
        </p:spPr>
        <p:txBody>
          <a:bodyPr wrap="square" rtlCol="0">
            <a:spAutoFit/>
          </a:bodyPr>
          <a:lstStyle/>
          <a:p>
            <a:r>
              <a:rPr lang="en-US" dirty="0"/>
              <a:t>data</a:t>
            </a:r>
          </a:p>
        </p:txBody>
      </p:sp>
      <p:sp>
        <p:nvSpPr>
          <p:cNvPr id="10" name="TextBox 9"/>
          <p:cNvSpPr txBox="1"/>
          <p:nvPr/>
        </p:nvSpPr>
        <p:spPr>
          <a:xfrm>
            <a:off x="3538449" y="3318056"/>
            <a:ext cx="720436" cy="369332"/>
          </a:xfrm>
          <a:prstGeom prst="rect">
            <a:avLst/>
          </a:prstGeom>
          <a:noFill/>
        </p:spPr>
        <p:txBody>
          <a:bodyPr wrap="square" rtlCol="0">
            <a:spAutoFit/>
          </a:bodyPr>
          <a:lstStyle/>
          <a:p>
            <a:r>
              <a:rPr lang="en-US" dirty="0"/>
              <a:t>docs</a:t>
            </a:r>
          </a:p>
        </p:txBody>
      </p:sp>
      <p:sp>
        <p:nvSpPr>
          <p:cNvPr id="11" name="TextBox 10"/>
          <p:cNvSpPr txBox="1"/>
          <p:nvPr/>
        </p:nvSpPr>
        <p:spPr>
          <a:xfrm>
            <a:off x="3538449" y="4358749"/>
            <a:ext cx="1039091" cy="369332"/>
          </a:xfrm>
          <a:prstGeom prst="rect">
            <a:avLst/>
          </a:prstGeom>
          <a:noFill/>
        </p:spPr>
        <p:txBody>
          <a:bodyPr wrap="square" rtlCol="0">
            <a:spAutoFit/>
          </a:bodyPr>
          <a:lstStyle/>
          <a:p>
            <a:r>
              <a:rPr lang="en-US" dirty="0"/>
              <a:t>outputs</a:t>
            </a:r>
          </a:p>
        </p:txBody>
      </p:sp>
      <p:sp>
        <p:nvSpPr>
          <p:cNvPr id="12" name="TextBox 11"/>
          <p:cNvSpPr txBox="1"/>
          <p:nvPr/>
        </p:nvSpPr>
        <p:spPr>
          <a:xfrm>
            <a:off x="3538449" y="5496698"/>
            <a:ext cx="845128" cy="369332"/>
          </a:xfrm>
          <a:prstGeom prst="rect">
            <a:avLst/>
          </a:prstGeom>
          <a:noFill/>
        </p:spPr>
        <p:txBody>
          <a:bodyPr wrap="square" rtlCol="0">
            <a:spAutoFit/>
          </a:bodyPr>
          <a:lstStyle/>
          <a:p>
            <a:r>
              <a:rPr lang="en-US" dirty="0"/>
              <a:t>scripts</a:t>
            </a:r>
          </a:p>
        </p:txBody>
      </p:sp>
      <p:sp>
        <p:nvSpPr>
          <p:cNvPr id="13" name="TextBox 12"/>
          <p:cNvSpPr txBox="1"/>
          <p:nvPr/>
        </p:nvSpPr>
        <p:spPr>
          <a:xfrm>
            <a:off x="4900288" y="2718456"/>
            <a:ext cx="953193" cy="369332"/>
          </a:xfrm>
          <a:prstGeom prst="rect">
            <a:avLst/>
          </a:prstGeom>
          <a:noFill/>
        </p:spPr>
        <p:txBody>
          <a:bodyPr wrap="square" rtlCol="0">
            <a:spAutoFit/>
          </a:bodyPr>
          <a:lstStyle/>
          <a:p>
            <a:r>
              <a:rPr lang="en-US" dirty="0"/>
              <a:t>clean</a:t>
            </a:r>
          </a:p>
        </p:txBody>
      </p:sp>
      <p:sp>
        <p:nvSpPr>
          <p:cNvPr id="14" name="TextBox 13"/>
          <p:cNvSpPr txBox="1"/>
          <p:nvPr/>
        </p:nvSpPr>
        <p:spPr>
          <a:xfrm>
            <a:off x="4943411" y="2089298"/>
            <a:ext cx="953193" cy="369332"/>
          </a:xfrm>
          <a:prstGeom prst="rect">
            <a:avLst/>
          </a:prstGeom>
          <a:noFill/>
        </p:spPr>
        <p:txBody>
          <a:bodyPr wrap="square" rtlCol="0">
            <a:spAutoFit/>
          </a:bodyPr>
          <a:lstStyle/>
          <a:p>
            <a:r>
              <a:rPr lang="en-US" dirty="0"/>
              <a:t>raw</a:t>
            </a:r>
          </a:p>
        </p:txBody>
      </p:sp>
      <p:sp>
        <p:nvSpPr>
          <p:cNvPr id="15" name="TextBox 14"/>
          <p:cNvSpPr txBox="1"/>
          <p:nvPr/>
        </p:nvSpPr>
        <p:spPr>
          <a:xfrm>
            <a:off x="8839504" y="2071396"/>
            <a:ext cx="1172095" cy="369332"/>
          </a:xfrm>
          <a:prstGeom prst="rect">
            <a:avLst/>
          </a:prstGeom>
          <a:noFill/>
        </p:spPr>
        <p:txBody>
          <a:bodyPr wrap="square" rtlCol="0">
            <a:spAutoFit/>
          </a:bodyPr>
          <a:lstStyle/>
          <a:p>
            <a:r>
              <a:rPr lang="en-US" dirty="0"/>
              <a:t>abstracts</a:t>
            </a:r>
          </a:p>
        </p:txBody>
      </p:sp>
      <p:sp>
        <p:nvSpPr>
          <p:cNvPr id="16" name="TextBox 15"/>
          <p:cNvSpPr txBox="1"/>
          <p:nvPr/>
        </p:nvSpPr>
        <p:spPr>
          <a:xfrm>
            <a:off x="6392206" y="3741732"/>
            <a:ext cx="1108364" cy="369332"/>
          </a:xfrm>
          <a:prstGeom prst="rect">
            <a:avLst/>
          </a:prstGeom>
          <a:noFill/>
        </p:spPr>
        <p:txBody>
          <a:bodyPr wrap="square" rtlCol="0">
            <a:spAutoFit/>
          </a:bodyPr>
          <a:lstStyle/>
          <a:p>
            <a:r>
              <a:rPr lang="en-US" dirty="0"/>
              <a:t>graphics</a:t>
            </a:r>
          </a:p>
        </p:txBody>
      </p:sp>
      <p:sp>
        <p:nvSpPr>
          <p:cNvPr id="17" name="TextBox 16"/>
          <p:cNvSpPr txBox="1"/>
          <p:nvPr/>
        </p:nvSpPr>
        <p:spPr>
          <a:xfrm>
            <a:off x="6392206" y="4355612"/>
            <a:ext cx="1108364" cy="369332"/>
          </a:xfrm>
          <a:prstGeom prst="rect">
            <a:avLst/>
          </a:prstGeom>
          <a:noFill/>
        </p:spPr>
        <p:txBody>
          <a:bodyPr wrap="square" rtlCol="0">
            <a:spAutoFit/>
          </a:bodyPr>
          <a:lstStyle/>
          <a:p>
            <a:r>
              <a:rPr lang="en-US" dirty="0"/>
              <a:t>models</a:t>
            </a:r>
          </a:p>
        </p:txBody>
      </p:sp>
      <p:sp>
        <p:nvSpPr>
          <p:cNvPr id="18" name="TextBox 17"/>
          <p:cNvSpPr txBox="1"/>
          <p:nvPr/>
        </p:nvSpPr>
        <p:spPr>
          <a:xfrm>
            <a:off x="6392206" y="4930911"/>
            <a:ext cx="1108364" cy="369332"/>
          </a:xfrm>
          <a:prstGeom prst="rect">
            <a:avLst/>
          </a:prstGeom>
          <a:noFill/>
        </p:spPr>
        <p:txBody>
          <a:bodyPr wrap="square" rtlCol="0">
            <a:spAutoFit/>
          </a:bodyPr>
          <a:lstStyle/>
          <a:p>
            <a:r>
              <a:rPr lang="en-US" dirty="0"/>
              <a:t>tables</a:t>
            </a:r>
          </a:p>
        </p:txBody>
      </p:sp>
      <p:sp>
        <p:nvSpPr>
          <p:cNvPr id="19" name="TextBox 18"/>
          <p:cNvSpPr txBox="1"/>
          <p:nvPr/>
        </p:nvSpPr>
        <p:spPr>
          <a:xfrm>
            <a:off x="8839504" y="2620588"/>
            <a:ext cx="1490751" cy="369332"/>
          </a:xfrm>
          <a:prstGeom prst="rect">
            <a:avLst/>
          </a:prstGeom>
          <a:noFill/>
        </p:spPr>
        <p:txBody>
          <a:bodyPr wrap="square" rtlCol="0">
            <a:spAutoFit/>
          </a:bodyPr>
          <a:lstStyle/>
          <a:p>
            <a:r>
              <a:rPr lang="en-US" dirty="0"/>
              <a:t>manuscripts</a:t>
            </a:r>
          </a:p>
        </p:txBody>
      </p:sp>
      <p:sp>
        <p:nvSpPr>
          <p:cNvPr id="20" name="TextBox 19"/>
          <p:cNvSpPr txBox="1"/>
          <p:nvPr/>
        </p:nvSpPr>
        <p:spPr>
          <a:xfrm>
            <a:off x="8839504" y="3093313"/>
            <a:ext cx="953193" cy="369332"/>
          </a:xfrm>
          <a:prstGeom prst="rect">
            <a:avLst/>
          </a:prstGeom>
          <a:noFill/>
        </p:spPr>
        <p:txBody>
          <a:bodyPr wrap="square" rtlCol="0">
            <a:spAutoFit/>
          </a:bodyPr>
          <a:lstStyle/>
          <a:p>
            <a:r>
              <a:rPr lang="en-US" dirty="0"/>
              <a:t>posters</a:t>
            </a:r>
          </a:p>
        </p:txBody>
      </p:sp>
      <p:sp>
        <p:nvSpPr>
          <p:cNvPr id="21" name="TextBox 20"/>
          <p:cNvSpPr txBox="1"/>
          <p:nvPr/>
        </p:nvSpPr>
        <p:spPr>
          <a:xfrm>
            <a:off x="8839504" y="3647023"/>
            <a:ext cx="1532314" cy="369332"/>
          </a:xfrm>
          <a:prstGeom prst="rect">
            <a:avLst/>
          </a:prstGeom>
          <a:noFill/>
        </p:spPr>
        <p:txBody>
          <a:bodyPr wrap="square" rtlCol="0">
            <a:spAutoFit/>
          </a:bodyPr>
          <a:lstStyle/>
          <a:p>
            <a:r>
              <a:rPr lang="en-US" dirty="0"/>
              <a:t>presentations</a:t>
            </a:r>
          </a:p>
        </p:txBody>
      </p:sp>
      <p:sp>
        <p:nvSpPr>
          <p:cNvPr id="22" name="TextBox 21"/>
          <p:cNvSpPr txBox="1"/>
          <p:nvPr/>
        </p:nvSpPr>
        <p:spPr>
          <a:xfrm>
            <a:off x="8845045" y="4223141"/>
            <a:ext cx="1191493" cy="369332"/>
          </a:xfrm>
          <a:prstGeom prst="rect">
            <a:avLst/>
          </a:prstGeom>
          <a:noFill/>
        </p:spPr>
        <p:txBody>
          <a:bodyPr wrap="square" rtlCol="0">
            <a:spAutoFit/>
          </a:bodyPr>
          <a:lstStyle/>
          <a:p>
            <a:r>
              <a:rPr lang="en-US" dirty="0"/>
              <a:t>protocols</a:t>
            </a:r>
          </a:p>
        </p:txBody>
      </p:sp>
      <p:sp>
        <p:nvSpPr>
          <p:cNvPr id="23" name="TextBox 22"/>
          <p:cNvSpPr txBox="1"/>
          <p:nvPr/>
        </p:nvSpPr>
        <p:spPr>
          <a:xfrm>
            <a:off x="8839504" y="4812432"/>
            <a:ext cx="1346663" cy="369332"/>
          </a:xfrm>
          <a:prstGeom prst="rect">
            <a:avLst/>
          </a:prstGeom>
          <a:noFill/>
        </p:spPr>
        <p:txBody>
          <a:bodyPr wrap="square" rtlCol="0">
            <a:spAutoFit/>
          </a:bodyPr>
          <a:lstStyle/>
          <a:p>
            <a:r>
              <a:rPr lang="en-US" dirty="0"/>
              <a:t>references</a:t>
            </a:r>
          </a:p>
        </p:txBody>
      </p:sp>
      <p:cxnSp>
        <p:nvCxnSpPr>
          <p:cNvPr id="25" name="Straight Connector 24"/>
          <p:cNvCxnSpPr>
            <a:stCxn id="7" idx="2"/>
            <a:endCxn id="8" idx="0"/>
          </p:cNvCxnSpPr>
          <p:nvPr/>
        </p:nvCxnSpPr>
        <p:spPr>
          <a:xfrm>
            <a:off x="1877291" y="2440728"/>
            <a:ext cx="0" cy="1345861"/>
          </a:xfrm>
          <a:prstGeom prst="line">
            <a:avLst/>
          </a:prstGeom>
          <a:ln w="34925">
            <a:tailEnd type="triangle"/>
          </a:ln>
        </p:spPr>
        <p:style>
          <a:lnRef idx="3">
            <a:schemeClr val="dk1"/>
          </a:lnRef>
          <a:fillRef idx="0">
            <a:schemeClr val="dk1"/>
          </a:fillRef>
          <a:effectRef idx="2">
            <a:schemeClr val="dk1"/>
          </a:effectRef>
          <a:fontRef idx="minor">
            <a:schemeClr val="tx1"/>
          </a:fontRef>
        </p:style>
      </p:cxnSp>
      <p:cxnSp>
        <p:nvCxnSpPr>
          <p:cNvPr id="26" name="Straight Connector 25"/>
          <p:cNvCxnSpPr/>
          <p:nvPr/>
        </p:nvCxnSpPr>
        <p:spPr>
          <a:xfrm>
            <a:off x="2346932" y="4012531"/>
            <a:ext cx="1001259" cy="3824"/>
          </a:xfrm>
          <a:prstGeom prst="line">
            <a:avLst/>
          </a:prstGeom>
          <a:ln w="34925"/>
        </p:spPr>
        <p:style>
          <a:lnRef idx="3">
            <a:schemeClr val="dk1"/>
          </a:lnRef>
          <a:fillRef idx="0">
            <a:schemeClr val="dk1"/>
          </a:fillRef>
          <a:effectRef idx="2">
            <a:schemeClr val="dk1"/>
          </a:effectRef>
          <a:fontRef idx="minor">
            <a:schemeClr val="tx1"/>
          </a:fontRef>
        </p:style>
      </p:cxnSp>
      <p:cxnSp>
        <p:nvCxnSpPr>
          <p:cNvPr id="28" name="Straight Connector 27"/>
          <p:cNvCxnSpPr/>
          <p:nvPr/>
        </p:nvCxnSpPr>
        <p:spPr>
          <a:xfrm>
            <a:off x="4191322" y="2574589"/>
            <a:ext cx="598029" cy="11024"/>
          </a:xfrm>
          <a:prstGeom prst="line">
            <a:avLst/>
          </a:prstGeom>
          <a:ln w="34925"/>
        </p:spPr>
        <p:style>
          <a:lnRef idx="3">
            <a:schemeClr val="dk1"/>
          </a:lnRef>
          <a:fillRef idx="0">
            <a:schemeClr val="dk1"/>
          </a:fillRef>
          <a:effectRef idx="2">
            <a:schemeClr val="dk1"/>
          </a:effectRef>
          <a:fontRef idx="minor">
            <a:schemeClr val="tx1"/>
          </a:fontRef>
        </p:style>
      </p:cxnSp>
      <p:cxnSp>
        <p:nvCxnSpPr>
          <p:cNvPr id="30" name="Straight Connector 29"/>
          <p:cNvCxnSpPr>
            <a:stCxn id="11" idx="3"/>
          </p:cNvCxnSpPr>
          <p:nvPr/>
        </p:nvCxnSpPr>
        <p:spPr>
          <a:xfrm>
            <a:off x="4577540" y="4543415"/>
            <a:ext cx="1688530" cy="3400"/>
          </a:xfrm>
          <a:prstGeom prst="line">
            <a:avLst/>
          </a:prstGeom>
          <a:ln w="34925"/>
        </p:spPr>
        <p:style>
          <a:lnRef idx="3">
            <a:schemeClr val="dk1"/>
          </a:lnRef>
          <a:fillRef idx="0">
            <a:schemeClr val="dk1"/>
          </a:fillRef>
          <a:effectRef idx="2">
            <a:schemeClr val="dk1"/>
          </a:effectRef>
          <a:fontRef idx="minor">
            <a:schemeClr val="tx1"/>
          </a:fontRef>
        </p:style>
      </p:cxnSp>
      <p:cxnSp>
        <p:nvCxnSpPr>
          <p:cNvPr id="32" name="Straight Connector 31"/>
          <p:cNvCxnSpPr>
            <a:stCxn id="10" idx="3"/>
          </p:cNvCxnSpPr>
          <p:nvPr/>
        </p:nvCxnSpPr>
        <p:spPr>
          <a:xfrm>
            <a:off x="4258885" y="3502722"/>
            <a:ext cx="4348661" cy="0"/>
          </a:xfrm>
          <a:prstGeom prst="line">
            <a:avLst/>
          </a:prstGeom>
          <a:ln w="34925"/>
        </p:spPr>
        <p:style>
          <a:lnRef idx="3">
            <a:schemeClr val="dk1"/>
          </a:lnRef>
          <a:fillRef idx="0">
            <a:schemeClr val="dk1"/>
          </a:fillRef>
          <a:effectRef idx="2">
            <a:schemeClr val="dk1"/>
          </a:effectRef>
          <a:fontRef idx="minor">
            <a:schemeClr val="tx1"/>
          </a:fontRef>
        </p:style>
      </p:cxnSp>
      <p:cxnSp>
        <p:nvCxnSpPr>
          <p:cNvPr id="35" name="Straight Connector 34"/>
          <p:cNvCxnSpPr/>
          <p:nvPr/>
        </p:nvCxnSpPr>
        <p:spPr>
          <a:xfrm>
            <a:off x="4789351" y="2286460"/>
            <a:ext cx="2" cy="642532"/>
          </a:xfrm>
          <a:prstGeom prst="line">
            <a:avLst/>
          </a:prstGeom>
          <a:ln w="34925"/>
        </p:spPr>
        <p:style>
          <a:lnRef idx="3">
            <a:schemeClr val="dk1"/>
          </a:lnRef>
          <a:fillRef idx="0">
            <a:schemeClr val="dk1"/>
          </a:fillRef>
          <a:effectRef idx="2">
            <a:schemeClr val="dk1"/>
          </a:effectRef>
          <a:fontRef idx="minor">
            <a:schemeClr val="tx1"/>
          </a:fontRef>
        </p:style>
      </p:cxnSp>
      <p:cxnSp>
        <p:nvCxnSpPr>
          <p:cNvPr id="42" name="Straight Connector 41"/>
          <p:cNvCxnSpPr/>
          <p:nvPr/>
        </p:nvCxnSpPr>
        <p:spPr>
          <a:xfrm>
            <a:off x="6266070" y="3926398"/>
            <a:ext cx="0" cy="1248405"/>
          </a:xfrm>
          <a:prstGeom prst="line">
            <a:avLst/>
          </a:prstGeom>
          <a:ln w="34925"/>
        </p:spPr>
        <p:style>
          <a:lnRef idx="3">
            <a:schemeClr val="dk1"/>
          </a:lnRef>
          <a:fillRef idx="0">
            <a:schemeClr val="dk1"/>
          </a:fillRef>
          <a:effectRef idx="2">
            <a:schemeClr val="dk1"/>
          </a:effectRef>
          <a:fontRef idx="minor">
            <a:schemeClr val="tx1"/>
          </a:fontRef>
        </p:style>
      </p:cxnSp>
      <p:cxnSp>
        <p:nvCxnSpPr>
          <p:cNvPr id="46" name="Straight Connector 45"/>
          <p:cNvCxnSpPr/>
          <p:nvPr/>
        </p:nvCxnSpPr>
        <p:spPr>
          <a:xfrm>
            <a:off x="8607546" y="2286460"/>
            <a:ext cx="0" cy="2761225"/>
          </a:xfrm>
          <a:prstGeom prst="line">
            <a:avLst/>
          </a:prstGeom>
          <a:ln w="34925"/>
        </p:spPr>
        <p:style>
          <a:lnRef idx="3">
            <a:schemeClr val="dk1"/>
          </a:lnRef>
          <a:fillRef idx="0">
            <a:schemeClr val="dk1"/>
          </a:fillRef>
          <a:effectRef idx="2">
            <a:schemeClr val="dk1"/>
          </a:effectRef>
          <a:fontRef idx="minor">
            <a:schemeClr val="tx1"/>
          </a:fontRef>
        </p:style>
      </p:cxnSp>
      <p:cxnSp>
        <p:nvCxnSpPr>
          <p:cNvPr id="47" name="Straight Connector 46"/>
          <p:cNvCxnSpPr/>
          <p:nvPr/>
        </p:nvCxnSpPr>
        <p:spPr>
          <a:xfrm>
            <a:off x="3348191" y="2574589"/>
            <a:ext cx="0" cy="3106599"/>
          </a:xfrm>
          <a:prstGeom prst="line">
            <a:avLst/>
          </a:prstGeom>
          <a:ln w="34925"/>
        </p:spPr>
        <p:style>
          <a:lnRef idx="3">
            <a:schemeClr val="dk1"/>
          </a:lnRef>
          <a:fillRef idx="0">
            <a:schemeClr val="dk1"/>
          </a:fillRef>
          <a:effectRef idx="2">
            <a:schemeClr val="dk1"/>
          </a:effectRef>
          <a:fontRef idx="minor">
            <a:schemeClr val="tx1"/>
          </a:fontRef>
        </p:style>
      </p:cxnSp>
      <p:cxnSp>
        <p:nvCxnSpPr>
          <p:cNvPr id="60" name="Straight Connector 59"/>
          <p:cNvCxnSpPr/>
          <p:nvPr/>
        </p:nvCxnSpPr>
        <p:spPr>
          <a:xfrm flipV="1">
            <a:off x="6292811" y="3938989"/>
            <a:ext cx="159892" cy="5293"/>
          </a:xfrm>
          <a:prstGeom prst="line">
            <a:avLst/>
          </a:prstGeom>
          <a:ln w="34925">
            <a:tailEnd type="triangle"/>
          </a:ln>
        </p:spPr>
        <p:style>
          <a:lnRef idx="3">
            <a:schemeClr val="dk1"/>
          </a:lnRef>
          <a:fillRef idx="0">
            <a:schemeClr val="dk1"/>
          </a:fillRef>
          <a:effectRef idx="2">
            <a:schemeClr val="dk1"/>
          </a:effectRef>
          <a:fontRef idx="minor">
            <a:schemeClr val="tx1"/>
          </a:fontRef>
        </p:style>
      </p:cxnSp>
      <p:cxnSp>
        <p:nvCxnSpPr>
          <p:cNvPr id="63" name="Straight Connector 62"/>
          <p:cNvCxnSpPr/>
          <p:nvPr/>
        </p:nvCxnSpPr>
        <p:spPr>
          <a:xfrm>
            <a:off x="6263466" y="4531339"/>
            <a:ext cx="167951" cy="3400"/>
          </a:xfrm>
          <a:prstGeom prst="line">
            <a:avLst/>
          </a:prstGeom>
          <a:ln w="34925">
            <a:tailEnd type="triangle"/>
          </a:ln>
        </p:spPr>
        <p:style>
          <a:lnRef idx="3">
            <a:schemeClr val="dk1"/>
          </a:lnRef>
          <a:fillRef idx="0">
            <a:schemeClr val="dk1"/>
          </a:fillRef>
          <a:effectRef idx="2">
            <a:schemeClr val="dk1"/>
          </a:effectRef>
          <a:fontRef idx="minor">
            <a:schemeClr val="tx1"/>
          </a:fontRef>
        </p:style>
      </p:cxnSp>
      <p:cxnSp>
        <p:nvCxnSpPr>
          <p:cNvPr id="64" name="Straight Connector 63"/>
          <p:cNvCxnSpPr/>
          <p:nvPr/>
        </p:nvCxnSpPr>
        <p:spPr>
          <a:xfrm flipV="1">
            <a:off x="6263466" y="5169904"/>
            <a:ext cx="197296" cy="4899"/>
          </a:xfrm>
          <a:prstGeom prst="line">
            <a:avLst/>
          </a:prstGeom>
          <a:ln w="34925">
            <a:tailEnd type="triangle"/>
          </a:ln>
        </p:spPr>
        <p:style>
          <a:lnRef idx="3">
            <a:schemeClr val="dk1"/>
          </a:lnRef>
          <a:fillRef idx="0">
            <a:schemeClr val="dk1"/>
          </a:fillRef>
          <a:effectRef idx="2">
            <a:schemeClr val="dk1"/>
          </a:effectRef>
          <a:fontRef idx="minor">
            <a:schemeClr val="tx1"/>
          </a:fontRef>
        </p:style>
      </p:cxnSp>
      <p:cxnSp>
        <p:nvCxnSpPr>
          <p:cNvPr id="65" name="Straight Connector 64"/>
          <p:cNvCxnSpPr/>
          <p:nvPr/>
        </p:nvCxnSpPr>
        <p:spPr>
          <a:xfrm>
            <a:off x="4783393" y="2288728"/>
            <a:ext cx="167951" cy="3400"/>
          </a:xfrm>
          <a:prstGeom prst="line">
            <a:avLst/>
          </a:prstGeom>
          <a:ln w="34925">
            <a:tailEnd type="triangle"/>
          </a:ln>
        </p:spPr>
        <p:style>
          <a:lnRef idx="3">
            <a:schemeClr val="dk1"/>
          </a:lnRef>
          <a:fillRef idx="0">
            <a:schemeClr val="dk1"/>
          </a:fillRef>
          <a:effectRef idx="2">
            <a:schemeClr val="dk1"/>
          </a:effectRef>
          <a:fontRef idx="minor">
            <a:schemeClr val="tx1"/>
          </a:fontRef>
        </p:style>
      </p:cxnSp>
      <p:cxnSp>
        <p:nvCxnSpPr>
          <p:cNvPr id="66" name="Straight Connector 65"/>
          <p:cNvCxnSpPr/>
          <p:nvPr/>
        </p:nvCxnSpPr>
        <p:spPr>
          <a:xfrm>
            <a:off x="4809605" y="2913234"/>
            <a:ext cx="167951" cy="3400"/>
          </a:xfrm>
          <a:prstGeom prst="line">
            <a:avLst/>
          </a:prstGeom>
          <a:ln w="34925">
            <a:tailEnd type="triangle"/>
          </a:ln>
        </p:spPr>
        <p:style>
          <a:lnRef idx="3">
            <a:schemeClr val="dk1"/>
          </a:lnRef>
          <a:fillRef idx="0">
            <a:schemeClr val="dk1"/>
          </a:fillRef>
          <a:effectRef idx="2">
            <a:schemeClr val="dk1"/>
          </a:effectRef>
          <a:fontRef idx="minor">
            <a:schemeClr val="tx1"/>
          </a:fontRef>
        </p:style>
      </p:cxnSp>
      <p:cxnSp>
        <p:nvCxnSpPr>
          <p:cNvPr id="72" name="Straight Connector 71"/>
          <p:cNvCxnSpPr>
            <a:endCxn id="20" idx="1"/>
          </p:cNvCxnSpPr>
          <p:nvPr/>
        </p:nvCxnSpPr>
        <p:spPr>
          <a:xfrm>
            <a:off x="8607546" y="3277979"/>
            <a:ext cx="231958" cy="0"/>
          </a:xfrm>
          <a:prstGeom prst="line">
            <a:avLst/>
          </a:prstGeom>
          <a:ln w="34925">
            <a:tailEnd type="triangle"/>
          </a:ln>
        </p:spPr>
        <p:style>
          <a:lnRef idx="3">
            <a:schemeClr val="dk1"/>
          </a:lnRef>
          <a:fillRef idx="0">
            <a:schemeClr val="dk1"/>
          </a:fillRef>
          <a:effectRef idx="2">
            <a:schemeClr val="dk1"/>
          </a:effectRef>
          <a:fontRef idx="minor">
            <a:schemeClr val="tx1"/>
          </a:fontRef>
        </p:style>
      </p:cxnSp>
      <p:cxnSp>
        <p:nvCxnSpPr>
          <p:cNvPr id="77" name="Straight Connector 76"/>
          <p:cNvCxnSpPr/>
          <p:nvPr/>
        </p:nvCxnSpPr>
        <p:spPr>
          <a:xfrm>
            <a:off x="8621598" y="2298670"/>
            <a:ext cx="231958" cy="0"/>
          </a:xfrm>
          <a:prstGeom prst="line">
            <a:avLst/>
          </a:prstGeom>
          <a:ln w="34925">
            <a:tailEnd type="triangle"/>
          </a:ln>
        </p:spPr>
        <p:style>
          <a:lnRef idx="3">
            <a:schemeClr val="dk1"/>
          </a:lnRef>
          <a:fillRef idx="0">
            <a:schemeClr val="dk1"/>
          </a:fillRef>
          <a:effectRef idx="2">
            <a:schemeClr val="dk1"/>
          </a:effectRef>
          <a:fontRef idx="minor">
            <a:schemeClr val="tx1"/>
          </a:fontRef>
        </p:style>
      </p:cxnSp>
      <p:cxnSp>
        <p:nvCxnSpPr>
          <p:cNvPr id="78" name="Straight Connector 77"/>
          <p:cNvCxnSpPr/>
          <p:nvPr/>
        </p:nvCxnSpPr>
        <p:spPr>
          <a:xfrm>
            <a:off x="8607546" y="2814409"/>
            <a:ext cx="231958" cy="0"/>
          </a:xfrm>
          <a:prstGeom prst="line">
            <a:avLst/>
          </a:prstGeom>
          <a:ln w="34925">
            <a:tailEnd type="triangle"/>
          </a:ln>
        </p:spPr>
        <p:style>
          <a:lnRef idx="3">
            <a:schemeClr val="dk1"/>
          </a:lnRef>
          <a:fillRef idx="0">
            <a:schemeClr val="dk1"/>
          </a:fillRef>
          <a:effectRef idx="2">
            <a:schemeClr val="dk1"/>
          </a:effectRef>
          <a:fontRef idx="minor">
            <a:schemeClr val="tx1"/>
          </a:fontRef>
        </p:style>
      </p:cxnSp>
      <p:cxnSp>
        <p:nvCxnSpPr>
          <p:cNvPr id="79" name="Straight Connector 78"/>
          <p:cNvCxnSpPr/>
          <p:nvPr/>
        </p:nvCxnSpPr>
        <p:spPr>
          <a:xfrm>
            <a:off x="8607546" y="3843954"/>
            <a:ext cx="231958" cy="0"/>
          </a:xfrm>
          <a:prstGeom prst="line">
            <a:avLst/>
          </a:prstGeom>
          <a:ln w="34925">
            <a:tailEnd type="triangle"/>
          </a:ln>
        </p:spPr>
        <p:style>
          <a:lnRef idx="3">
            <a:schemeClr val="dk1"/>
          </a:lnRef>
          <a:fillRef idx="0">
            <a:schemeClr val="dk1"/>
          </a:fillRef>
          <a:effectRef idx="2">
            <a:schemeClr val="dk1"/>
          </a:effectRef>
          <a:fontRef idx="minor">
            <a:schemeClr val="tx1"/>
          </a:fontRef>
        </p:style>
      </p:cxnSp>
      <p:cxnSp>
        <p:nvCxnSpPr>
          <p:cNvPr id="80" name="Straight Connector 79"/>
          <p:cNvCxnSpPr/>
          <p:nvPr/>
        </p:nvCxnSpPr>
        <p:spPr>
          <a:xfrm>
            <a:off x="8610059" y="4441843"/>
            <a:ext cx="231958" cy="0"/>
          </a:xfrm>
          <a:prstGeom prst="line">
            <a:avLst/>
          </a:prstGeom>
          <a:ln w="34925">
            <a:tailEnd type="triangle"/>
          </a:ln>
        </p:spPr>
        <p:style>
          <a:lnRef idx="3">
            <a:schemeClr val="dk1"/>
          </a:lnRef>
          <a:fillRef idx="0">
            <a:schemeClr val="dk1"/>
          </a:fillRef>
          <a:effectRef idx="2">
            <a:schemeClr val="dk1"/>
          </a:effectRef>
          <a:fontRef idx="minor">
            <a:schemeClr val="tx1"/>
          </a:fontRef>
        </p:style>
      </p:cxnSp>
      <p:cxnSp>
        <p:nvCxnSpPr>
          <p:cNvPr id="81" name="Straight Connector 80"/>
          <p:cNvCxnSpPr/>
          <p:nvPr/>
        </p:nvCxnSpPr>
        <p:spPr>
          <a:xfrm>
            <a:off x="8621598" y="5047685"/>
            <a:ext cx="231958" cy="0"/>
          </a:xfrm>
          <a:prstGeom prst="line">
            <a:avLst/>
          </a:prstGeom>
          <a:ln w="34925">
            <a:tailEnd type="triangle"/>
          </a:ln>
        </p:spPr>
        <p:style>
          <a:lnRef idx="3">
            <a:schemeClr val="dk1"/>
          </a:lnRef>
          <a:fillRef idx="0">
            <a:schemeClr val="dk1"/>
          </a:fillRef>
          <a:effectRef idx="2">
            <a:schemeClr val="dk1"/>
          </a:effectRef>
          <a:fontRef idx="minor">
            <a:schemeClr val="tx1"/>
          </a:fontRef>
        </p:style>
      </p:cxnSp>
      <p:cxnSp>
        <p:nvCxnSpPr>
          <p:cNvPr id="83" name="Straight Connector 82"/>
          <p:cNvCxnSpPr/>
          <p:nvPr/>
        </p:nvCxnSpPr>
        <p:spPr>
          <a:xfrm>
            <a:off x="9941733" y="4441843"/>
            <a:ext cx="388522" cy="0"/>
          </a:xfrm>
          <a:prstGeom prst="line">
            <a:avLst/>
          </a:prstGeom>
          <a:ln w="34925">
            <a:tailEnd type="triangle"/>
          </a:ln>
        </p:spPr>
        <p:style>
          <a:lnRef idx="3">
            <a:schemeClr val="dk1"/>
          </a:lnRef>
          <a:fillRef idx="0">
            <a:schemeClr val="dk1"/>
          </a:fillRef>
          <a:effectRef idx="2">
            <a:schemeClr val="dk1"/>
          </a:effectRef>
          <a:fontRef idx="minor">
            <a:schemeClr val="tx1"/>
          </a:fontRef>
        </p:style>
      </p:cxnSp>
      <p:cxnSp>
        <p:nvCxnSpPr>
          <p:cNvPr id="84" name="Straight Connector 83"/>
          <p:cNvCxnSpPr/>
          <p:nvPr/>
        </p:nvCxnSpPr>
        <p:spPr>
          <a:xfrm>
            <a:off x="3348191" y="5681188"/>
            <a:ext cx="265573" cy="0"/>
          </a:xfrm>
          <a:prstGeom prst="line">
            <a:avLst/>
          </a:prstGeom>
          <a:ln w="34925">
            <a:tailEnd type="triangle"/>
          </a:ln>
        </p:spPr>
        <p:style>
          <a:lnRef idx="3">
            <a:schemeClr val="dk1"/>
          </a:lnRef>
          <a:fillRef idx="0">
            <a:schemeClr val="dk1"/>
          </a:fillRef>
          <a:effectRef idx="2">
            <a:schemeClr val="dk1"/>
          </a:effectRef>
          <a:fontRef idx="minor">
            <a:schemeClr val="tx1"/>
          </a:fontRef>
        </p:style>
      </p:cxnSp>
      <p:cxnSp>
        <p:nvCxnSpPr>
          <p:cNvPr id="85" name="Straight Connector 84"/>
          <p:cNvCxnSpPr/>
          <p:nvPr/>
        </p:nvCxnSpPr>
        <p:spPr>
          <a:xfrm>
            <a:off x="3348191" y="2552917"/>
            <a:ext cx="231958" cy="1099"/>
          </a:xfrm>
          <a:prstGeom prst="line">
            <a:avLst/>
          </a:prstGeom>
          <a:ln w="34925">
            <a:tailEnd type="triangle"/>
          </a:ln>
        </p:spPr>
        <p:style>
          <a:lnRef idx="3">
            <a:schemeClr val="dk1"/>
          </a:lnRef>
          <a:fillRef idx="0">
            <a:schemeClr val="dk1"/>
          </a:fillRef>
          <a:effectRef idx="2">
            <a:schemeClr val="dk1"/>
          </a:effectRef>
          <a:fontRef idx="minor">
            <a:schemeClr val="tx1"/>
          </a:fontRef>
        </p:style>
      </p:cxnSp>
      <p:cxnSp>
        <p:nvCxnSpPr>
          <p:cNvPr id="90" name="Straight Connector 89"/>
          <p:cNvCxnSpPr/>
          <p:nvPr/>
        </p:nvCxnSpPr>
        <p:spPr>
          <a:xfrm>
            <a:off x="4383279" y="5681188"/>
            <a:ext cx="388522" cy="0"/>
          </a:xfrm>
          <a:prstGeom prst="line">
            <a:avLst/>
          </a:prstGeom>
          <a:ln w="34925">
            <a:tailEnd type="triangle"/>
          </a:ln>
        </p:spPr>
        <p:style>
          <a:lnRef idx="3">
            <a:schemeClr val="dk1"/>
          </a:lnRef>
          <a:fillRef idx="0">
            <a:schemeClr val="dk1"/>
          </a:fillRef>
          <a:effectRef idx="2">
            <a:schemeClr val="dk1"/>
          </a:effectRef>
          <a:fontRef idx="minor">
            <a:schemeClr val="tx1"/>
          </a:fontRef>
        </p:style>
      </p:cxnSp>
      <p:sp>
        <p:nvSpPr>
          <p:cNvPr id="91" name="TextBox 90"/>
          <p:cNvSpPr txBox="1"/>
          <p:nvPr/>
        </p:nvSpPr>
        <p:spPr>
          <a:xfrm>
            <a:off x="4867368" y="5496522"/>
            <a:ext cx="1785359" cy="369332"/>
          </a:xfrm>
          <a:prstGeom prst="rect">
            <a:avLst/>
          </a:prstGeom>
          <a:noFill/>
          <a:ln w="15875" cap="rnd">
            <a:solidFill>
              <a:srgbClr val="FF0000">
                <a:alpha val="20000"/>
              </a:srgbClr>
            </a:solidFill>
            <a:round/>
          </a:ln>
          <a:effectLst>
            <a:outerShdw blurRad="50800" dist="50800" dir="5400000" algn="ctr" rotWithShape="0">
              <a:schemeClr val="bg1"/>
            </a:outerShdw>
          </a:effectLst>
        </p:spPr>
        <p:txBody>
          <a:bodyPr wrap="square" rtlCol="0">
            <a:spAutoFit/>
          </a:bodyPr>
          <a:lstStyle/>
          <a:p>
            <a:r>
              <a:rPr lang="en-US" dirty="0" err="1"/>
              <a:t>script_template</a:t>
            </a:r>
            <a:endParaRPr lang="en-US" dirty="0"/>
          </a:p>
        </p:txBody>
      </p:sp>
      <p:sp>
        <p:nvSpPr>
          <p:cNvPr id="92" name="TextBox 91"/>
          <p:cNvSpPr txBox="1"/>
          <p:nvPr/>
        </p:nvSpPr>
        <p:spPr>
          <a:xfrm>
            <a:off x="10375039" y="4223141"/>
            <a:ext cx="1474192" cy="369332"/>
          </a:xfrm>
          <a:prstGeom prst="rect">
            <a:avLst/>
          </a:prstGeom>
          <a:noFill/>
          <a:ln w="15875">
            <a:solidFill>
              <a:srgbClr val="FF0000">
                <a:alpha val="20000"/>
              </a:srgbClr>
            </a:solidFill>
          </a:ln>
        </p:spPr>
        <p:txBody>
          <a:bodyPr wrap="square" rtlCol="0">
            <a:spAutoFit/>
          </a:bodyPr>
          <a:lstStyle/>
          <a:p>
            <a:r>
              <a:rPr lang="en-US" dirty="0" err="1"/>
              <a:t>sap_template</a:t>
            </a:r>
            <a:endParaRPr lang="en-US" dirty="0"/>
          </a:p>
        </p:txBody>
      </p:sp>
      <p:cxnSp>
        <p:nvCxnSpPr>
          <p:cNvPr id="93" name="Straight Connector 92"/>
          <p:cNvCxnSpPr/>
          <p:nvPr/>
        </p:nvCxnSpPr>
        <p:spPr>
          <a:xfrm>
            <a:off x="3350946" y="3501623"/>
            <a:ext cx="231958" cy="1099"/>
          </a:xfrm>
          <a:prstGeom prst="line">
            <a:avLst/>
          </a:prstGeom>
          <a:ln w="34925">
            <a:tailEnd type="triangle"/>
          </a:ln>
        </p:spPr>
        <p:style>
          <a:lnRef idx="3">
            <a:schemeClr val="dk1"/>
          </a:lnRef>
          <a:fillRef idx="0">
            <a:schemeClr val="dk1"/>
          </a:fillRef>
          <a:effectRef idx="2">
            <a:schemeClr val="dk1"/>
          </a:effectRef>
          <a:fontRef idx="minor">
            <a:schemeClr val="tx1"/>
          </a:fontRef>
        </p:style>
      </p:cxnSp>
      <p:cxnSp>
        <p:nvCxnSpPr>
          <p:cNvPr id="94" name="Straight Connector 93"/>
          <p:cNvCxnSpPr/>
          <p:nvPr/>
        </p:nvCxnSpPr>
        <p:spPr>
          <a:xfrm>
            <a:off x="3348191" y="4546815"/>
            <a:ext cx="231958" cy="1099"/>
          </a:xfrm>
          <a:prstGeom prst="line">
            <a:avLst/>
          </a:prstGeom>
          <a:ln w="34925">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0065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1172847"/>
            <a:ext cx="10515600" cy="655953"/>
          </a:xfrm>
        </p:spPr>
        <p:txBody>
          <a:bodyPr anchor="t">
            <a:normAutofit/>
          </a:bodyPr>
          <a:lstStyle/>
          <a:p>
            <a:r>
              <a:rPr lang="en-US" sz="3600" dirty="0"/>
              <a:t>Statistical analysis plan (SAP) structure example</a:t>
            </a:r>
          </a:p>
        </p:txBody>
      </p:sp>
      <p:pic>
        <p:nvPicPr>
          <p:cNvPr id="2" name="Picture 1"/>
          <p:cNvPicPr>
            <a:picLocks noChangeAspect="1"/>
          </p:cNvPicPr>
          <p:nvPr/>
        </p:nvPicPr>
        <p:blipFill>
          <a:blip r:embed="rId2"/>
          <a:stretch>
            <a:fillRect/>
          </a:stretch>
        </p:blipFill>
        <p:spPr>
          <a:xfrm>
            <a:off x="549435" y="2074942"/>
            <a:ext cx="3164633" cy="2052462"/>
          </a:xfrm>
          <a:prstGeom prst="rect">
            <a:avLst/>
          </a:prstGeom>
        </p:spPr>
      </p:pic>
      <p:pic>
        <p:nvPicPr>
          <p:cNvPr id="3" name="Picture 2"/>
          <p:cNvPicPr>
            <a:picLocks noChangeAspect="1"/>
          </p:cNvPicPr>
          <p:nvPr/>
        </p:nvPicPr>
        <p:blipFill>
          <a:blip r:embed="rId3"/>
          <a:stretch>
            <a:fillRect/>
          </a:stretch>
        </p:blipFill>
        <p:spPr>
          <a:xfrm>
            <a:off x="3714068" y="2071224"/>
            <a:ext cx="3163077" cy="2052635"/>
          </a:xfrm>
          <a:prstGeom prst="rect">
            <a:avLst/>
          </a:prstGeom>
        </p:spPr>
      </p:pic>
      <p:pic>
        <p:nvPicPr>
          <p:cNvPr id="4" name="Picture 3"/>
          <p:cNvPicPr>
            <a:picLocks noChangeAspect="1"/>
          </p:cNvPicPr>
          <p:nvPr/>
        </p:nvPicPr>
        <p:blipFill>
          <a:blip r:embed="rId4"/>
          <a:stretch>
            <a:fillRect/>
          </a:stretch>
        </p:blipFill>
        <p:spPr>
          <a:xfrm>
            <a:off x="558281" y="4123859"/>
            <a:ext cx="3164633" cy="2053645"/>
          </a:xfrm>
          <a:prstGeom prst="rect">
            <a:avLst/>
          </a:prstGeom>
        </p:spPr>
      </p:pic>
      <p:pic>
        <p:nvPicPr>
          <p:cNvPr id="6" name="Picture 5"/>
          <p:cNvPicPr>
            <a:picLocks noChangeAspect="1"/>
          </p:cNvPicPr>
          <p:nvPr/>
        </p:nvPicPr>
        <p:blipFill>
          <a:blip r:embed="rId5"/>
          <a:stretch>
            <a:fillRect/>
          </a:stretch>
        </p:blipFill>
        <p:spPr>
          <a:xfrm>
            <a:off x="3714068" y="4120314"/>
            <a:ext cx="3171923" cy="2057190"/>
          </a:xfrm>
          <a:prstGeom prst="rect">
            <a:avLst/>
          </a:prstGeom>
        </p:spPr>
      </p:pic>
      <p:pic>
        <p:nvPicPr>
          <p:cNvPr id="24" name="Picture 23"/>
          <p:cNvPicPr>
            <a:picLocks noChangeAspect="1"/>
          </p:cNvPicPr>
          <p:nvPr/>
        </p:nvPicPr>
        <p:blipFill>
          <a:blip r:embed="rId6"/>
          <a:stretch>
            <a:fillRect/>
          </a:stretch>
        </p:blipFill>
        <p:spPr>
          <a:xfrm>
            <a:off x="6878701" y="4120314"/>
            <a:ext cx="3163077" cy="2051452"/>
          </a:xfrm>
          <a:prstGeom prst="rect">
            <a:avLst/>
          </a:prstGeom>
        </p:spPr>
      </p:pic>
      <p:sp>
        <p:nvSpPr>
          <p:cNvPr id="51" name="TextBox 50"/>
          <p:cNvSpPr txBox="1"/>
          <p:nvPr/>
        </p:nvSpPr>
        <p:spPr>
          <a:xfrm>
            <a:off x="7509589" y="2374392"/>
            <a:ext cx="3946849" cy="1200329"/>
          </a:xfrm>
          <a:prstGeom prst="rect">
            <a:avLst/>
          </a:prstGeom>
          <a:noFill/>
        </p:spPr>
        <p:txBody>
          <a:bodyPr wrap="square" rtlCol="0">
            <a:spAutoFit/>
          </a:bodyPr>
          <a:lstStyle/>
          <a:p>
            <a:r>
              <a:rPr lang="en-US" i="1" dirty="0"/>
              <a:t>Ideally</a:t>
            </a:r>
            <a:r>
              <a:rPr lang="en-US" dirty="0"/>
              <a:t>, the information contained in this document should be discussed and detailed </a:t>
            </a:r>
            <a:r>
              <a:rPr lang="en-US" b="1" u="sng" dirty="0"/>
              <a:t>before looking at any data </a:t>
            </a:r>
            <a:r>
              <a:rPr lang="en-US" dirty="0"/>
              <a:t>(for as much as that is feasible)</a:t>
            </a:r>
          </a:p>
        </p:txBody>
      </p:sp>
    </p:spTree>
    <p:extLst>
      <p:ext uri="{BB962C8B-B14F-4D97-AF65-F5344CB8AC3E}">
        <p14:creationId xmlns:p14="http://schemas.microsoft.com/office/powerpoint/2010/main" val="180376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1172847"/>
            <a:ext cx="10515600" cy="655953"/>
          </a:xfrm>
        </p:spPr>
        <p:txBody>
          <a:bodyPr anchor="t">
            <a:normAutofit/>
          </a:bodyPr>
          <a:lstStyle/>
          <a:p>
            <a:r>
              <a:rPr lang="en-US" sz="3600" dirty="0"/>
              <a:t>Statistical analysis plan (SAP) structure example</a:t>
            </a:r>
          </a:p>
        </p:txBody>
      </p:sp>
      <p:pic>
        <p:nvPicPr>
          <p:cNvPr id="7" name="Picture 6"/>
          <p:cNvPicPr>
            <a:picLocks noChangeAspect="1"/>
          </p:cNvPicPr>
          <p:nvPr/>
        </p:nvPicPr>
        <p:blipFill>
          <a:blip r:embed="rId2"/>
          <a:stretch>
            <a:fillRect/>
          </a:stretch>
        </p:blipFill>
        <p:spPr>
          <a:xfrm>
            <a:off x="838200" y="2156926"/>
            <a:ext cx="1390650" cy="838200"/>
          </a:xfrm>
          <a:prstGeom prst="rect">
            <a:avLst/>
          </a:prstGeom>
        </p:spPr>
      </p:pic>
      <p:sp>
        <p:nvSpPr>
          <p:cNvPr id="8" name="Rounded Rectangle 7"/>
          <p:cNvSpPr/>
          <p:nvPr/>
        </p:nvSpPr>
        <p:spPr>
          <a:xfrm>
            <a:off x="690464" y="2071396"/>
            <a:ext cx="1623527" cy="927618"/>
          </a:xfrm>
          <a:prstGeom prst="roundRect">
            <a:avLst/>
          </a:prstGeom>
          <a:noFill/>
          <a:ln>
            <a:solidFill>
              <a:srgbClr val="FF0000">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461727" y="2212039"/>
            <a:ext cx="3946849" cy="646331"/>
          </a:xfrm>
          <a:prstGeom prst="rect">
            <a:avLst/>
          </a:prstGeom>
          <a:noFill/>
        </p:spPr>
        <p:txBody>
          <a:bodyPr wrap="square" rtlCol="0">
            <a:spAutoFit/>
          </a:bodyPr>
          <a:lstStyle/>
          <a:p>
            <a:r>
              <a:rPr lang="en-US" dirty="0"/>
              <a:t>Use some form of header</a:t>
            </a:r>
          </a:p>
          <a:p>
            <a:r>
              <a:rPr lang="en-US" dirty="0"/>
              <a:t>Dates and versions can be very helpful</a:t>
            </a:r>
          </a:p>
        </p:txBody>
      </p:sp>
      <p:pic>
        <p:nvPicPr>
          <p:cNvPr id="10" name="Picture 9"/>
          <p:cNvPicPr>
            <a:picLocks noChangeAspect="1"/>
          </p:cNvPicPr>
          <p:nvPr/>
        </p:nvPicPr>
        <p:blipFill>
          <a:blip r:embed="rId3"/>
          <a:stretch>
            <a:fillRect/>
          </a:stretch>
        </p:blipFill>
        <p:spPr>
          <a:xfrm>
            <a:off x="690464" y="3297592"/>
            <a:ext cx="5248275" cy="952500"/>
          </a:xfrm>
          <a:prstGeom prst="rect">
            <a:avLst/>
          </a:prstGeom>
        </p:spPr>
      </p:pic>
      <p:sp>
        <p:nvSpPr>
          <p:cNvPr id="12" name="Rounded Rectangle 11"/>
          <p:cNvSpPr/>
          <p:nvPr/>
        </p:nvSpPr>
        <p:spPr>
          <a:xfrm>
            <a:off x="605323" y="3241609"/>
            <a:ext cx="5608865" cy="1162439"/>
          </a:xfrm>
          <a:prstGeom prst="roundRect">
            <a:avLst/>
          </a:prstGeom>
          <a:noFill/>
          <a:ln>
            <a:solidFill>
              <a:srgbClr val="FF0000">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6299329" y="3450676"/>
            <a:ext cx="3946849" cy="646331"/>
          </a:xfrm>
          <a:prstGeom prst="rect">
            <a:avLst/>
          </a:prstGeom>
          <a:noFill/>
        </p:spPr>
        <p:txBody>
          <a:bodyPr wrap="square" rtlCol="0">
            <a:spAutoFit/>
          </a:bodyPr>
          <a:lstStyle/>
          <a:p>
            <a:r>
              <a:rPr lang="en-US" dirty="0"/>
              <a:t>Give a </a:t>
            </a:r>
            <a:r>
              <a:rPr lang="en-US" i="1" u="sng" dirty="0"/>
              <a:t>brief</a:t>
            </a:r>
            <a:r>
              <a:rPr lang="en-US" dirty="0"/>
              <a:t> background and context for the research being done</a:t>
            </a:r>
          </a:p>
        </p:txBody>
      </p:sp>
      <p:pic>
        <p:nvPicPr>
          <p:cNvPr id="11" name="Picture 10"/>
          <p:cNvPicPr>
            <a:picLocks noChangeAspect="1"/>
          </p:cNvPicPr>
          <p:nvPr/>
        </p:nvPicPr>
        <p:blipFill>
          <a:blip r:embed="rId4"/>
          <a:stretch>
            <a:fillRect/>
          </a:stretch>
        </p:blipFill>
        <p:spPr>
          <a:xfrm>
            <a:off x="605323" y="4784860"/>
            <a:ext cx="5172075" cy="990600"/>
          </a:xfrm>
          <a:prstGeom prst="rect">
            <a:avLst/>
          </a:prstGeom>
        </p:spPr>
      </p:pic>
      <p:sp>
        <p:nvSpPr>
          <p:cNvPr id="15" name="Rounded Rectangle 14"/>
          <p:cNvSpPr/>
          <p:nvPr/>
        </p:nvSpPr>
        <p:spPr>
          <a:xfrm>
            <a:off x="510168" y="4698940"/>
            <a:ext cx="5608865" cy="1162439"/>
          </a:xfrm>
          <a:prstGeom prst="roundRect">
            <a:avLst/>
          </a:prstGeom>
          <a:noFill/>
          <a:ln>
            <a:solidFill>
              <a:srgbClr val="FF0000">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6214188" y="4956993"/>
            <a:ext cx="5551714" cy="369332"/>
          </a:xfrm>
          <a:prstGeom prst="rect">
            <a:avLst/>
          </a:prstGeom>
          <a:noFill/>
        </p:spPr>
        <p:txBody>
          <a:bodyPr wrap="square" rtlCol="0">
            <a:spAutoFit/>
          </a:bodyPr>
          <a:lstStyle/>
          <a:p>
            <a:r>
              <a:rPr lang="en-US" dirty="0"/>
              <a:t>Clearly state the questions / hypotheses of your research</a:t>
            </a:r>
          </a:p>
        </p:txBody>
      </p:sp>
    </p:spTree>
    <p:extLst>
      <p:ext uri="{BB962C8B-B14F-4D97-AF65-F5344CB8AC3E}">
        <p14:creationId xmlns:p14="http://schemas.microsoft.com/office/powerpoint/2010/main" val="7564825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1172847"/>
            <a:ext cx="10515600" cy="655953"/>
          </a:xfrm>
        </p:spPr>
        <p:txBody>
          <a:bodyPr anchor="t">
            <a:normAutofit/>
          </a:bodyPr>
          <a:lstStyle/>
          <a:p>
            <a:r>
              <a:rPr lang="en-US" sz="3600" dirty="0"/>
              <a:t>Statistical analysis plan (SAP) structure example</a:t>
            </a:r>
          </a:p>
        </p:txBody>
      </p:sp>
      <p:sp>
        <p:nvSpPr>
          <p:cNvPr id="9" name="TextBox 8"/>
          <p:cNvSpPr txBox="1"/>
          <p:nvPr/>
        </p:nvSpPr>
        <p:spPr>
          <a:xfrm>
            <a:off x="6219190" y="2294373"/>
            <a:ext cx="4557667" cy="923330"/>
          </a:xfrm>
          <a:prstGeom prst="rect">
            <a:avLst/>
          </a:prstGeom>
          <a:noFill/>
        </p:spPr>
        <p:txBody>
          <a:bodyPr wrap="square" rtlCol="0">
            <a:spAutoFit/>
          </a:bodyPr>
          <a:lstStyle/>
          <a:p>
            <a:r>
              <a:rPr lang="en-US" dirty="0"/>
              <a:t>Clearly state where your data is coming from, the target population, and all inclusion exclusion criteria</a:t>
            </a:r>
          </a:p>
        </p:txBody>
      </p:sp>
      <p:sp>
        <p:nvSpPr>
          <p:cNvPr id="12" name="Rounded Rectangle 11"/>
          <p:cNvSpPr/>
          <p:nvPr/>
        </p:nvSpPr>
        <p:spPr>
          <a:xfrm>
            <a:off x="679968" y="2064993"/>
            <a:ext cx="5439065" cy="1235315"/>
          </a:xfrm>
          <a:prstGeom prst="roundRect">
            <a:avLst/>
          </a:prstGeom>
          <a:noFill/>
          <a:ln>
            <a:solidFill>
              <a:srgbClr val="FF0000">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679968" y="3452327"/>
            <a:ext cx="5160995" cy="1642187"/>
          </a:xfrm>
          <a:prstGeom prst="roundRect">
            <a:avLst/>
          </a:prstGeom>
          <a:noFill/>
          <a:ln>
            <a:solidFill>
              <a:srgbClr val="FF0000">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stretch>
            <a:fillRect/>
          </a:stretch>
        </p:blipFill>
        <p:spPr>
          <a:xfrm>
            <a:off x="780125" y="2113007"/>
            <a:ext cx="5238750" cy="1114425"/>
          </a:xfrm>
          <a:prstGeom prst="rect">
            <a:avLst/>
          </a:prstGeom>
        </p:spPr>
      </p:pic>
      <p:pic>
        <p:nvPicPr>
          <p:cNvPr id="3" name="Picture 2"/>
          <p:cNvPicPr>
            <a:picLocks noChangeAspect="1"/>
          </p:cNvPicPr>
          <p:nvPr/>
        </p:nvPicPr>
        <p:blipFill>
          <a:blip r:embed="rId3"/>
          <a:stretch>
            <a:fillRect/>
          </a:stretch>
        </p:blipFill>
        <p:spPr>
          <a:xfrm>
            <a:off x="838200" y="3536501"/>
            <a:ext cx="4752975" cy="1483368"/>
          </a:xfrm>
          <a:prstGeom prst="rect">
            <a:avLst/>
          </a:prstGeom>
        </p:spPr>
      </p:pic>
      <p:sp>
        <p:nvSpPr>
          <p:cNvPr id="14" name="TextBox 13"/>
          <p:cNvSpPr txBox="1"/>
          <p:nvPr/>
        </p:nvSpPr>
        <p:spPr>
          <a:xfrm>
            <a:off x="5999195" y="3693005"/>
            <a:ext cx="4842976" cy="923330"/>
          </a:xfrm>
          <a:prstGeom prst="rect">
            <a:avLst/>
          </a:prstGeom>
          <a:noFill/>
        </p:spPr>
        <p:txBody>
          <a:bodyPr wrap="square" rtlCol="0">
            <a:spAutoFit/>
          </a:bodyPr>
          <a:lstStyle/>
          <a:p>
            <a:r>
              <a:rPr lang="en-US" dirty="0"/>
              <a:t>Clearly state the outcome / response variables of interest, and precisely how you will be defining them…</a:t>
            </a:r>
          </a:p>
        </p:txBody>
      </p:sp>
      <p:pic>
        <p:nvPicPr>
          <p:cNvPr id="4" name="Picture 3"/>
          <p:cNvPicPr>
            <a:picLocks noChangeAspect="1"/>
          </p:cNvPicPr>
          <p:nvPr/>
        </p:nvPicPr>
        <p:blipFill>
          <a:blip r:embed="rId4"/>
          <a:stretch>
            <a:fillRect/>
          </a:stretch>
        </p:blipFill>
        <p:spPr>
          <a:xfrm>
            <a:off x="679968" y="5246533"/>
            <a:ext cx="5191125" cy="971550"/>
          </a:xfrm>
          <a:prstGeom prst="rect">
            <a:avLst/>
          </a:prstGeom>
        </p:spPr>
      </p:pic>
      <p:sp>
        <p:nvSpPr>
          <p:cNvPr id="16" name="Rounded Rectangle 15"/>
          <p:cNvSpPr/>
          <p:nvPr/>
        </p:nvSpPr>
        <p:spPr>
          <a:xfrm>
            <a:off x="587829" y="5178688"/>
            <a:ext cx="5283264" cy="1119475"/>
          </a:xfrm>
          <a:prstGeom prst="roundRect">
            <a:avLst/>
          </a:prstGeom>
          <a:noFill/>
          <a:ln>
            <a:solidFill>
              <a:srgbClr val="FF0000">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5963232" y="5409142"/>
            <a:ext cx="4842976" cy="646331"/>
          </a:xfrm>
          <a:prstGeom prst="rect">
            <a:avLst/>
          </a:prstGeom>
          <a:noFill/>
        </p:spPr>
        <p:txBody>
          <a:bodyPr wrap="square" rtlCol="0">
            <a:spAutoFit/>
          </a:bodyPr>
          <a:lstStyle/>
          <a:p>
            <a:r>
              <a:rPr lang="en-US" dirty="0"/>
              <a:t>… and repeat that process for all your covariates / independent variables!</a:t>
            </a:r>
          </a:p>
        </p:txBody>
      </p:sp>
    </p:spTree>
    <p:extLst>
      <p:ext uri="{BB962C8B-B14F-4D97-AF65-F5344CB8AC3E}">
        <p14:creationId xmlns:p14="http://schemas.microsoft.com/office/powerpoint/2010/main" val="17874445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1172847"/>
            <a:ext cx="10515600" cy="655953"/>
          </a:xfrm>
        </p:spPr>
        <p:txBody>
          <a:bodyPr anchor="t">
            <a:normAutofit/>
          </a:bodyPr>
          <a:lstStyle/>
          <a:p>
            <a:r>
              <a:rPr lang="en-US" sz="3600" dirty="0"/>
              <a:t>Statistical analysis plan (SAP) structure example</a:t>
            </a:r>
          </a:p>
        </p:txBody>
      </p:sp>
      <p:sp>
        <p:nvSpPr>
          <p:cNvPr id="16" name="Rounded Rectangle 15"/>
          <p:cNvSpPr/>
          <p:nvPr/>
        </p:nvSpPr>
        <p:spPr>
          <a:xfrm>
            <a:off x="615820" y="1754156"/>
            <a:ext cx="2789853" cy="4469362"/>
          </a:xfrm>
          <a:prstGeom prst="roundRect">
            <a:avLst/>
          </a:prstGeom>
          <a:noFill/>
          <a:ln>
            <a:solidFill>
              <a:srgbClr val="FF0000">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3732411" y="1894196"/>
            <a:ext cx="7536634" cy="646331"/>
          </a:xfrm>
          <a:prstGeom prst="rect">
            <a:avLst/>
          </a:prstGeom>
          <a:noFill/>
        </p:spPr>
        <p:txBody>
          <a:bodyPr wrap="square" rtlCol="0">
            <a:spAutoFit/>
          </a:bodyPr>
          <a:lstStyle/>
          <a:p>
            <a:r>
              <a:rPr lang="en-US" dirty="0"/>
              <a:t>Then, … yep…, “clearly state” what you are going to be doing with the data you just described / defined!</a:t>
            </a:r>
          </a:p>
        </p:txBody>
      </p:sp>
      <p:pic>
        <p:nvPicPr>
          <p:cNvPr id="6" name="Picture 5"/>
          <p:cNvPicPr>
            <a:picLocks noChangeAspect="1"/>
          </p:cNvPicPr>
          <p:nvPr/>
        </p:nvPicPr>
        <p:blipFill>
          <a:blip r:embed="rId2"/>
          <a:stretch>
            <a:fillRect/>
          </a:stretch>
        </p:blipFill>
        <p:spPr>
          <a:xfrm>
            <a:off x="838200" y="1888575"/>
            <a:ext cx="2295525" cy="2562225"/>
          </a:xfrm>
          <a:prstGeom prst="rect">
            <a:avLst/>
          </a:prstGeom>
        </p:spPr>
      </p:pic>
      <p:pic>
        <p:nvPicPr>
          <p:cNvPr id="8" name="Picture 7"/>
          <p:cNvPicPr>
            <a:picLocks noChangeAspect="1"/>
          </p:cNvPicPr>
          <p:nvPr/>
        </p:nvPicPr>
        <p:blipFill>
          <a:blip r:embed="rId3"/>
          <a:stretch>
            <a:fillRect/>
          </a:stretch>
        </p:blipFill>
        <p:spPr>
          <a:xfrm>
            <a:off x="829745" y="4588717"/>
            <a:ext cx="2286000" cy="1562100"/>
          </a:xfrm>
          <a:prstGeom prst="rect">
            <a:avLst/>
          </a:prstGeom>
        </p:spPr>
      </p:pic>
      <p:sp>
        <p:nvSpPr>
          <p:cNvPr id="17" name="TextBox 16"/>
          <p:cNvSpPr txBox="1"/>
          <p:nvPr/>
        </p:nvSpPr>
        <p:spPr>
          <a:xfrm>
            <a:off x="3732412" y="2918291"/>
            <a:ext cx="7706141" cy="1292662"/>
          </a:xfrm>
          <a:prstGeom prst="rect">
            <a:avLst/>
          </a:prstGeom>
          <a:noFill/>
        </p:spPr>
        <p:txBody>
          <a:bodyPr wrap="square" rtlCol="0">
            <a:spAutoFit/>
          </a:bodyPr>
          <a:lstStyle/>
          <a:p>
            <a:r>
              <a:rPr lang="en-US" dirty="0"/>
              <a:t>For models, state the entire structure of the model including type of model, dependent variables, all independent variables, interactions, random effects, etc.</a:t>
            </a:r>
          </a:p>
          <a:p>
            <a:r>
              <a:rPr lang="en-US" sz="1400" dirty="0"/>
              <a:t>(E.g.: Linear mixed effects with the Verbal Learning Factor as the outcome variable; Sex, Age, APOE e4 indicator, and the interaction between Sex and APOE indicator as covariates; person-specific random intercepts and slopes.  Fit using REML.)</a:t>
            </a:r>
          </a:p>
        </p:txBody>
      </p:sp>
      <p:sp>
        <p:nvSpPr>
          <p:cNvPr id="19" name="TextBox 18"/>
          <p:cNvSpPr txBox="1"/>
          <p:nvPr/>
        </p:nvSpPr>
        <p:spPr>
          <a:xfrm>
            <a:off x="3732412" y="4588717"/>
            <a:ext cx="7706141" cy="369332"/>
          </a:xfrm>
          <a:prstGeom prst="rect">
            <a:avLst/>
          </a:prstGeom>
          <a:noFill/>
        </p:spPr>
        <p:txBody>
          <a:bodyPr wrap="square" rtlCol="0">
            <a:spAutoFit/>
          </a:bodyPr>
          <a:lstStyle/>
          <a:p>
            <a:r>
              <a:rPr lang="en-US" dirty="0"/>
              <a:t>State the statistic(s) that will be testing your hypotheses.</a:t>
            </a:r>
          </a:p>
        </p:txBody>
      </p:sp>
      <p:sp>
        <p:nvSpPr>
          <p:cNvPr id="9" name="TextBox 8"/>
          <p:cNvSpPr txBox="1"/>
          <p:nvPr/>
        </p:nvSpPr>
        <p:spPr>
          <a:xfrm>
            <a:off x="3732412" y="5336711"/>
            <a:ext cx="7706141" cy="923330"/>
          </a:xfrm>
          <a:prstGeom prst="rect">
            <a:avLst/>
          </a:prstGeom>
          <a:noFill/>
        </p:spPr>
        <p:txBody>
          <a:bodyPr wrap="square" rtlCol="0">
            <a:spAutoFit/>
          </a:bodyPr>
          <a:lstStyle/>
          <a:p>
            <a:r>
              <a:rPr lang="en-US" dirty="0"/>
              <a:t>Include all decision points / rules you’ll be using throughout the process (How will you decide between competing models / covariates?  What is the cutoff for a statistically significant finding?)</a:t>
            </a:r>
          </a:p>
        </p:txBody>
      </p:sp>
    </p:spTree>
    <p:extLst>
      <p:ext uri="{BB962C8B-B14F-4D97-AF65-F5344CB8AC3E}">
        <p14:creationId xmlns:p14="http://schemas.microsoft.com/office/powerpoint/2010/main" val="1033544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1172847"/>
            <a:ext cx="10515600" cy="655953"/>
          </a:xfrm>
        </p:spPr>
        <p:txBody>
          <a:bodyPr anchor="t">
            <a:normAutofit/>
          </a:bodyPr>
          <a:lstStyle/>
          <a:p>
            <a:r>
              <a:rPr lang="en-US" sz="3600" dirty="0"/>
              <a:t>Statistical analysis plan (SAP) structure example</a:t>
            </a:r>
          </a:p>
        </p:txBody>
      </p:sp>
      <p:sp>
        <p:nvSpPr>
          <p:cNvPr id="16" name="Rounded Rectangle 15"/>
          <p:cNvSpPr/>
          <p:nvPr/>
        </p:nvSpPr>
        <p:spPr>
          <a:xfrm>
            <a:off x="450282" y="2321714"/>
            <a:ext cx="4310743" cy="2995126"/>
          </a:xfrm>
          <a:prstGeom prst="roundRect">
            <a:avLst/>
          </a:prstGeom>
          <a:noFill/>
          <a:ln>
            <a:solidFill>
              <a:srgbClr val="FF0000">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5091873" y="2321714"/>
            <a:ext cx="6692851" cy="3416320"/>
          </a:xfrm>
          <a:prstGeom prst="rect">
            <a:avLst/>
          </a:prstGeom>
          <a:noFill/>
        </p:spPr>
        <p:txBody>
          <a:bodyPr wrap="square" rtlCol="0">
            <a:spAutoFit/>
          </a:bodyPr>
          <a:lstStyle/>
          <a:p>
            <a:r>
              <a:rPr lang="en-US" dirty="0"/>
              <a:t>Make sure all relevant information is included for complete understanding and how to execute the plan.</a:t>
            </a:r>
          </a:p>
          <a:p>
            <a:endParaRPr lang="en-US" dirty="0"/>
          </a:p>
          <a:p>
            <a:r>
              <a:rPr lang="en-US" dirty="0"/>
              <a:t>Use appendices or references if needed.</a:t>
            </a:r>
          </a:p>
          <a:p>
            <a:endParaRPr lang="en-US" dirty="0"/>
          </a:p>
          <a:p>
            <a:r>
              <a:rPr lang="en-US" b="1" dirty="0"/>
              <a:t>Remember, the purpose of a SAP is clear communication on what will be done.</a:t>
            </a:r>
          </a:p>
          <a:p>
            <a:endParaRPr lang="en-US" dirty="0"/>
          </a:p>
          <a:p>
            <a:r>
              <a:rPr lang="en-US" dirty="0"/>
              <a:t>The science, reasons, and discussion is for the manuscript.</a:t>
            </a:r>
          </a:p>
          <a:p>
            <a:endParaRPr lang="en-US" dirty="0"/>
          </a:p>
          <a:p>
            <a:r>
              <a:rPr lang="en-US" dirty="0"/>
              <a:t>There are no word limits here, so use that freedom to make sure your methods are clear.</a:t>
            </a:r>
          </a:p>
        </p:txBody>
      </p:sp>
      <p:pic>
        <p:nvPicPr>
          <p:cNvPr id="2" name="Picture 1"/>
          <p:cNvPicPr>
            <a:picLocks noChangeAspect="1"/>
          </p:cNvPicPr>
          <p:nvPr/>
        </p:nvPicPr>
        <p:blipFill>
          <a:blip r:embed="rId2"/>
          <a:stretch>
            <a:fillRect/>
          </a:stretch>
        </p:blipFill>
        <p:spPr>
          <a:xfrm>
            <a:off x="781130" y="2496273"/>
            <a:ext cx="3543300" cy="2552700"/>
          </a:xfrm>
          <a:prstGeom prst="rect">
            <a:avLst/>
          </a:prstGeom>
        </p:spPr>
      </p:pic>
    </p:spTree>
    <p:extLst>
      <p:ext uri="{BB962C8B-B14F-4D97-AF65-F5344CB8AC3E}">
        <p14:creationId xmlns:p14="http://schemas.microsoft.com/office/powerpoint/2010/main" val="18459041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1172847"/>
            <a:ext cx="10515600" cy="655953"/>
          </a:xfrm>
        </p:spPr>
        <p:txBody>
          <a:bodyPr anchor="t">
            <a:normAutofit/>
          </a:bodyPr>
          <a:lstStyle/>
          <a:p>
            <a:r>
              <a:rPr lang="en-US" sz="3600" dirty="0"/>
              <a:t>Script structure example</a:t>
            </a:r>
          </a:p>
        </p:txBody>
      </p:sp>
      <p:sp>
        <p:nvSpPr>
          <p:cNvPr id="19" name="TextBox 18"/>
          <p:cNvSpPr txBox="1"/>
          <p:nvPr/>
        </p:nvSpPr>
        <p:spPr>
          <a:xfrm>
            <a:off x="3819525" y="2151965"/>
            <a:ext cx="7706141" cy="646331"/>
          </a:xfrm>
          <a:prstGeom prst="rect">
            <a:avLst/>
          </a:prstGeom>
          <a:noFill/>
        </p:spPr>
        <p:txBody>
          <a:bodyPr wrap="square" rtlCol="0">
            <a:spAutoFit/>
          </a:bodyPr>
          <a:lstStyle/>
          <a:p>
            <a:r>
              <a:rPr lang="en-US" dirty="0"/>
              <a:t>Start developing other standardized / template structures for other aspects of your work, such as the start of scripts!</a:t>
            </a:r>
          </a:p>
        </p:txBody>
      </p:sp>
      <p:pic>
        <p:nvPicPr>
          <p:cNvPr id="3" name="Picture 2"/>
          <p:cNvPicPr>
            <a:picLocks noChangeAspect="1"/>
          </p:cNvPicPr>
          <p:nvPr/>
        </p:nvPicPr>
        <p:blipFill>
          <a:blip r:embed="rId2"/>
          <a:stretch>
            <a:fillRect/>
          </a:stretch>
        </p:blipFill>
        <p:spPr>
          <a:xfrm>
            <a:off x="838200" y="2151965"/>
            <a:ext cx="2981325" cy="2590800"/>
          </a:xfrm>
          <a:prstGeom prst="rect">
            <a:avLst/>
          </a:prstGeom>
        </p:spPr>
      </p:pic>
      <p:pic>
        <p:nvPicPr>
          <p:cNvPr id="4" name="Picture 3"/>
          <p:cNvPicPr>
            <a:picLocks noChangeAspect="1"/>
          </p:cNvPicPr>
          <p:nvPr/>
        </p:nvPicPr>
        <p:blipFill>
          <a:blip r:embed="rId3"/>
          <a:stretch>
            <a:fillRect/>
          </a:stretch>
        </p:blipFill>
        <p:spPr>
          <a:xfrm>
            <a:off x="4880855" y="3137139"/>
            <a:ext cx="6334125" cy="2228850"/>
          </a:xfrm>
          <a:prstGeom prst="rect">
            <a:avLst/>
          </a:prstGeom>
        </p:spPr>
      </p:pic>
      <p:sp>
        <p:nvSpPr>
          <p:cNvPr id="8" name="TextBox 7"/>
          <p:cNvSpPr txBox="1"/>
          <p:nvPr/>
        </p:nvSpPr>
        <p:spPr>
          <a:xfrm>
            <a:off x="4796880" y="5365989"/>
            <a:ext cx="6838393" cy="923330"/>
          </a:xfrm>
          <a:prstGeom prst="rect">
            <a:avLst/>
          </a:prstGeom>
          <a:noFill/>
        </p:spPr>
        <p:txBody>
          <a:bodyPr wrap="square" rtlCol="0">
            <a:spAutoFit/>
          </a:bodyPr>
          <a:lstStyle/>
          <a:p>
            <a:r>
              <a:rPr lang="en-US" b="1" u="sng" dirty="0"/>
              <a:t>And use comments liberally!</a:t>
            </a:r>
          </a:p>
          <a:p>
            <a:r>
              <a:rPr lang="en-US" dirty="0"/>
              <a:t>Use them for section headers, detailing what chunks of code are doing, along with important thoughts and observation!</a:t>
            </a:r>
          </a:p>
        </p:txBody>
      </p:sp>
    </p:spTree>
    <p:extLst>
      <p:ext uri="{BB962C8B-B14F-4D97-AF65-F5344CB8AC3E}">
        <p14:creationId xmlns:p14="http://schemas.microsoft.com/office/powerpoint/2010/main" val="30852625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1172847"/>
            <a:ext cx="10515600" cy="655953"/>
          </a:xfrm>
        </p:spPr>
        <p:txBody>
          <a:bodyPr anchor="t">
            <a:normAutofit/>
          </a:bodyPr>
          <a:lstStyle/>
          <a:p>
            <a:r>
              <a:rPr lang="en-US" sz="3600" dirty="0"/>
              <a:t>Suggested Do’s and Don’ts</a:t>
            </a:r>
          </a:p>
        </p:txBody>
      </p:sp>
      <p:sp>
        <p:nvSpPr>
          <p:cNvPr id="19" name="TextBox 18"/>
          <p:cNvSpPr txBox="1"/>
          <p:nvPr/>
        </p:nvSpPr>
        <p:spPr>
          <a:xfrm>
            <a:off x="838200" y="2049327"/>
            <a:ext cx="4825482" cy="3816429"/>
          </a:xfrm>
          <a:prstGeom prst="rect">
            <a:avLst/>
          </a:prstGeom>
          <a:noFill/>
        </p:spPr>
        <p:txBody>
          <a:bodyPr wrap="square" rtlCol="0">
            <a:spAutoFit/>
          </a:bodyPr>
          <a:lstStyle/>
          <a:p>
            <a:r>
              <a:rPr lang="en-US" dirty="0"/>
              <a:t>DO</a:t>
            </a:r>
          </a:p>
          <a:p>
            <a:pPr marL="285750" indent="-285750">
              <a:buFont typeface="Arial" panose="020B0604020202020204" pitchFamily="34" charset="0"/>
              <a:buChar char="•"/>
            </a:pPr>
            <a:r>
              <a:rPr lang="en-US" dirty="0"/>
              <a:t>Break-up major tasks into different scripts, if it make sense for the project</a:t>
            </a:r>
          </a:p>
          <a:p>
            <a:pPr marL="742950" lvl="1" indent="-285750">
              <a:buFont typeface="Arial" panose="020B0604020202020204" pitchFamily="34" charset="0"/>
              <a:buChar char="•"/>
            </a:pPr>
            <a:r>
              <a:rPr lang="en-US" sz="1600" dirty="0"/>
              <a:t>Import and clean data</a:t>
            </a:r>
          </a:p>
          <a:p>
            <a:pPr marL="742950" lvl="1" indent="-285750">
              <a:buFont typeface="Arial" panose="020B0604020202020204" pitchFamily="34" charset="0"/>
              <a:buChar char="•"/>
            </a:pPr>
            <a:r>
              <a:rPr lang="en-US" sz="1600" dirty="0"/>
              <a:t>Fit models</a:t>
            </a:r>
          </a:p>
          <a:p>
            <a:pPr marL="742950" lvl="1" indent="-285750">
              <a:buFont typeface="Arial" panose="020B0604020202020204" pitchFamily="34" charset="0"/>
              <a:buChar char="•"/>
            </a:pPr>
            <a:r>
              <a:rPr lang="en-US" sz="1600" dirty="0"/>
              <a:t>Check model fits</a:t>
            </a:r>
          </a:p>
          <a:p>
            <a:pPr marL="742950" lvl="1" indent="-285750">
              <a:buFont typeface="Arial" panose="020B0604020202020204" pitchFamily="34" charset="0"/>
              <a:buChar char="•"/>
            </a:pPr>
            <a:r>
              <a:rPr lang="en-US" sz="1600" dirty="0"/>
              <a:t>Make figures</a:t>
            </a:r>
          </a:p>
          <a:p>
            <a:pPr marL="742950" lvl="1" indent="-285750">
              <a:buFont typeface="Arial" panose="020B0604020202020204" pitchFamily="34" charset="0"/>
              <a:buChar char="•"/>
            </a:pPr>
            <a:r>
              <a:rPr lang="en-US" sz="1600" dirty="0"/>
              <a:t>Make tables</a:t>
            </a:r>
          </a:p>
          <a:p>
            <a:endParaRPr lang="en-US" dirty="0"/>
          </a:p>
          <a:p>
            <a:pPr marL="285750" indent="-285750">
              <a:buFont typeface="Arial" panose="020B0604020202020204" pitchFamily="34" charset="0"/>
              <a:buChar char="•"/>
            </a:pPr>
            <a:r>
              <a:rPr lang="en-US" dirty="0"/>
              <a:t>Try and make the next project more reproducible than the last!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As much a priori planning as you can before looking at any data!</a:t>
            </a:r>
          </a:p>
        </p:txBody>
      </p:sp>
      <p:sp>
        <p:nvSpPr>
          <p:cNvPr id="7" name="TextBox 6"/>
          <p:cNvSpPr txBox="1"/>
          <p:nvPr/>
        </p:nvSpPr>
        <p:spPr>
          <a:xfrm>
            <a:off x="6096000" y="2049328"/>
            <a:ext cx="4708849" cy="2769989"/>
          </a:xfrm>
          <a:prstGeom prst="rect">
            <a:avLst/>
          </a:prstGeom>
          <a:noFill/>
        </p:spPr>
        <p:txBody>
          <a:bodyPr wrap="square" rtlCol="0">
            <a:spAutoFit/>
          </a:bodyPr>
          <a:lstStyle/>
          <a:p>
            <a:r>
              <a:rPr lang="en-US" dirty="0"/>
              <a:t>DON’T</a:t>
            </a:r>
          </a:p>
          <a:p>
            <a:pPr marL="285750" indent="-285750">
              <a:buFont typeface="Arial" panose="020B0604020202020204" pitchFamily="34" charset="0"/>
              <a:buChar char="•"/>
            </a:pPr>
            <a:r>
              <a:rPr lang="en-US" dirty="0"/>
              <a:t>Use “point and click” methods</a:t>
            </a:r>
          </a:p>
          <a:p>
            <a:pPr marL="742950" lvl="1" indent="-285750">
              <a:buFont typeface="Arial" panose="020B0604020202020204" pitchFamily="34" charset="0"/>
              <a:buChar char="•"/>
            </a:pPr>
            <a:r>
              <a:rPr lang="en-US" sz="1600" dirty="0"/>
              <a:t>Implies not using Excel</a:t>
            </a:r>
          </a:p>
          <a:p>
            <a:endParaRPr lang="en-US" dirty="0"/>
          </a:p>
          <a:p>
            <a:pPr marL="285750" indent="-285750">
              <a:buFont typeface="Arial" panose="020B0604020202020204" pitchFamily="34" charset="0"/>
              <a:buChar char="•"/>
            </a:pPr>
            <a:r>
              <a:rPr lang="en-US" dirty="0"/>
              <a:t>Sacrifice progression for perfection</a:t>
            </a:r>
          </a:p>
          <a:p>
            <a:pPr marL="742950" lvl="1" indent="-285750">
              <a:buFont typeface="Arial" panose="020B0604020202020204" pitchFamily="34" charset="0"/>
              <a:buChar char="•"/>
            </a:pPr>
            <a:r>
              <a:rPr lang="en-US" sz="1600" dirty="0"/>
              <a:t>“The perfect is the enemy of the good.”</a:t>
            </a:r>
          </a:p>
          <a:p>
            <a:pPr marL="742950" lvl="1"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dirty="0"/>
              <a:t>Overwrite an original data extract!</a:t>
            </a:r>
          </a:p>
          <a:p>
            <a:pPr marL="742950" lvl="1" indent="-285750">
              <a:buFont typeface="Arial" panose="020B0604020202020204" pitchFamily="34" charset="0"/>
              <a:buChar char="•"/>
            </a:pPr>
            <a:r>
              <a:rPr lang="en-US" sz="1600" dirty="0"/>
              <a:t>Always preserve the “most raw form” of the data you have</a:t>
            </a:r>
          </a:p>
        </p:txBody>
      </p:sp>
    </p:spTree>
    <p:extLst>
      <p:ext uri="{BB962C8B-B14F-4D97-AF65-F5344CB8AC3E}">
        <p14:creationId xmlns:p14="http://schemas.microsoft.com/office/powerpoint/2010/main" val="26993142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1172847"/>
            <a:ext cx="10515600" cy="655953"/>
          </a:xfrm>
        </p:spPr>
        <p:txBody>
          <a:bodyPr anchor="t">
            <a:normAutofit/>
          </a:bodyPr>
          <a:lstStyle/>
          <a:p>
            <a:r>
              <a:rPr lang="en-US" sz="3600" dirty="0"/>
              <a:t>Additional resources on reproducible research</a:t>
            </a:r>
          </a:p>
        </p:txBody>
      </p:sp>
      <p:sp>
        <p:nvSpPr>
          <p:cNvPr id="2" name="TextBox 1"/>
          <p:cNvSpPr txBox="1"/>
          <p:nvPr/>
        </p:nvSpPr>
        <p:spPr>
          <a:xfrm>
            <a:off x="838200" y="2146041"/>
            <a:ext cx="10769082" cy="3970318"/>
          </a:xfrm>
          <a:prstGeom prst="rect">
            <a:avLst/>
          </a:prstGeom>
          <a:noFill/>
        </p:spPr>
        <p:txBody>
          <a:bodyPr wrap="square" rtlCol="0">
            <a:spAutoFit/>
          </a:bodyPr>
          <a:lstStyle/>
          <a:p>
            <a:pPr marL="285750" indent="-285750">
              <a:buFont typeface="Arial" panose="020B0604020202020204" pitchFamily="34" charset="0"/>
              <a:buChar char="•"/>
            </a:pPr>
            <a:r>
              <a:rPr lang="en-US" dirty="0"/>
              <a:t>Karl Broman’s website</a:t>
            </a:r>
          </a:p>
          <a:p>
            <a:pPr marL="742950" lvl="1" indent="-285750">
              <a:buFont typeface="Arial" panose="020B0604020202020204" pitchFamily="34" charset="0"/>
              <a:buChar char="•"/>
            </a:pPr>
            <a:r>
              <a:rPr lang="en-US" dirty="0"/>
              <a:t>kbroman.org/pages/tutorials.html</a:t>
            </a:r>
          </a:p>
          <a:p>
            <a:pPr marL="742950" lvl="1" indent="-285750">
              <a:buFont typeface="Arial" panose="020B0604020202020204" pitchFamily="34" charset="0"/>
              <a:buChar char="•"/>
            </a:pPr>
            <a:r>
              <a:rPr lang="en-US" dirty="0"/>
              <a:t>Is a UW Madison BMI professor, and advocate / practitioner of reproducible research</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UW Madison course offerings</a:t>
            </a:r>
          </a:p>
          <a:p>
            <a:pPr marL="742950" lvl="1" indent="-285750">
              <a:buFont typeface="Arial" panose="020B0604020202020204" pitchFamily="34" charset="0"/>
              <a:buChar char="•"/>
            </a:pPr>
            <a:r>
              <a:rPr lang="en-US" dirty="0"/>
              <a:t>Full courses are sometimes available (BMI 826 in the past)</a:t>
            </a:r>
          </a:p>
          <a:p>
            <a:pPr marL="742950" lvl="1" indent="-285750">
              <a:buFont typeface="Arial" panose="020B0604020202020204" pitchFamily="34" charset="0"/>
              <a:buChar char="•"/>
            </a:pPr>
            <a:r>
              <a:rPr lang="en-US" dirty="0"/>
              <a:t>UW Madison Software and Data Carpentry short courses</a:t>
            </a:r>
          </a:p>
          <a:p>
            <a:pPr marL="1200150" lvl="2" indent="-285750">
              <a:buFont typeface="Arial" panose="020B0604020202020204" pitchFamily="34" charset="0"/>
              <a:buChar char="•"/>
            </a:pPr>
            <a:r>
              <a:rPr lang="en-US" dirty="0"/>
              <a:t>Take place twice a year.  Last two days each.</a:t>
            </a:r>
          </a:p>
          <a:p>
            <a:pPr marL="1200150" lvl="2" indent="-285750">
              <a:buFont typeface="Arial" panose="020B0604020202020204" pitchFamily="34" charset="0"/>
              <a:buChar char="•"/>
            </a:pPr>
            <a:r>
              <a:rPr lang="en-US" dirty="0"/>
              <a:t>Unfortunately, URL’s appear tied to the date of courses, so Google is your best resource for finding upcoming courses (or looking at past ones)</a:t>
            </a:r>
          </a:p>
          <a:p>
            <a:pPr marL="1200150" lvl="2"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Your fellow researchers, collaborators, and mentors!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and Google…</a:t>
            </a:r>
          </a:p>
        </p:txBody>
      </p:sp>
    </p:spTree>
    <p:extLst>
      <p:ext uri="{BB962C8B-B14F-4D97-AF65-F5344CB8AC3E}">
        <p14:creationId xmlns:p14="http://schemas.microsoft.com/office/powerpoint/2010/main" val="19226568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45867-A2EB-4169-9F62-78338399D811}"/>
              </a:ext>
            </a:extLst>
          </p:cNvPr>
          <p:cNvSpPr>
            <a:spLocks noGrp="1"/>
          </p:cNvSpPr>
          <p:nvPr>
            <p:ph type="ctrTitle"/>
          </p:nvPr>
        </p:nvSpPr>
        <p:spPr/>
        <p:txBody>
          <a:bodyPr/>
          <a:lstStyle/>
          <a:p>
            <a:r>
              <a:rPr lang="en-US" dirty="0"/>
              <a:t>Multiple comparisons</a:t>
            </a:r>
          </a:p>
        </p:txBody>
      </p:sp>
      <p:sp>
        <p:nvSpPr>
          <p:cNvPr id="3" name="Subtitle 2">
            <a:extLst>
              <a:ext uri="{FF2B5EF4-FFF2-40B4-BE49-F238E27FC236}">
                <a16:creationId xmlns:a16="http://schemas.microsoft.com/office/drawing/2014/main" id="{EBC31B4B-4B18-4E70-9623-4315ADF3F7EE}"/>
              </a:ext>
            </a:extLst>
          </p:cNvPr>
          <p:cNvSpPr>
            <a:spLocks noGrp="1"/>
          </p:cNvSpPr>
          <p:nvPr>
            <p:ph type="subTitle" idx="1"/>
          </p:nvPr>
        </p:nvSpPr>
        <p:spPr/>
        <p:txBody>
          <a:bodyPr/>
          <a:lstStyle/>
          <a:p>
            <a:r>
              <a:rPr lang="en-US" dirty="0"/>
              <a:t>Erin Jonaitis</a:t>
            </a:r>
          </a:p>
        </p:txBody>
      </p:sp>
      <p:sp>
        <p:nvSpPr>
          <p:cNvPr id="4" name="Date Placeholder 3">
            <a:extLst>
              <a:ext uri="{FF2B5EF4-FFF2-40B4-BE49-F238E27FC236}">
                <a16:creationId xmlns:a16="http://schemas.microsoft.com/office/drawing/2014/main" id="{ED3B1A3C-955F-47A8-86CB-D67863B39438}"/>
              </a:ext>
            </a:extLst>
          </p:cNvPr>
          <p:cNvSpPr>
            <a:spLocks noGrp="1"/>
          </p:cNvSpPr>
          <p:nvPr>
            <p:ph type="dt" sz="half" idx="10"/>
          </p:nvPr>
        </p:nvSpPr>
        <p:spPr/>
        <p:txBody>
          <a:bodyPr/>
          <a:lstStyle/>
          <a:p>
            <a:r>
              <a:rPr lang="en-US" dirty="0">
                <a:solidFill>
                  <a:schemeClr val="bg1"/>
                </a:solidFill>
              </a:rPr>
              <a:t>11/5/2018</a:t>
            </a:r>
          </a:p>
        </p:txBody>
      </p:sp>
      <p:sp>
        <p:nvSpPr>
          <p:cNvPr id="5" name="Footer Placeholder 4">
            <a:extLst>
              <a:ext uri="{FF2B5EF4-FFF2-40B4-BE49-F238E27FC236}">
                <a16:creationId xmlns:a16="http://schemas.microsoft.com/office/drawing/2014/main" id="{F44AE0DF-1FD2-4C3E-B3AE-A61DEA75F36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7994058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8163-D250-4D32-A12E-C990F06F1782}"/>
              </a:ext>
            </a:extLst>
          </p:cNvPr>
          <p:cNvSpPr>
            <a:spLocks noGrp="1"/>
          </p:cNvSpPr>
          <p:nvPr>
            <p:ph type="title"/>
          </p:nvPr>
        </p:nvSpPr>
        <p:spPr/>
        <p:txBody>
          <a:bodyPr/>
          <a:lstStyle/>
          <a:p>
            <a:r>
              <a:rPr lang="en-US" dirty="0"/>
              <a:t>Multiple comparisons</a:t>
            </a:r>
          </a:p>
        </p:txBody>
      </p:sp>
      <p:pic>
        <p:nvPicPr>
          <p:cNvPr id="12" name="Content Placeholder 11">
            <a:extLst>
              <a:ext uri="{FF2B5EF4-FFF2-40B4-BE49-F238E27FC236}">
                <a16:creationId xmlns:a16="http://schemas.microsoft.com/office/drawing/2014/main" id="{5182A6A0-E04B-4D37-88F5-04D4A65FEA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703412"/>
            <a:ext cx="5144218" cy="2981741"/>
          </a:xfrm>
        </p:spPr>
      </p:pic>
      <p:pic>
        <p:nvPicPr>
          <p:cNvPr id="14" name="Picture 13">
            <a:extLst>
              <a:ext uri="{FF2B5EF4-FFF2-40B4-BE49-F238E27FC236}">
                <a16:creationId xmlns:a16="http://schemas.microsoft.com/office/drawing/2014/main" id="{11999EF9-E1C5-4045-AE0E-F30E034A8E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5474" y="1176703"/>
            <a:ext cx="3522681" cy="5179647"/>
          </a:xfrm>
          <a:prstGeom prst="rect">
            <a:avLst/>
          </a:prstGeom>
        </p:spPr>
      </p:pic>
      <p:sp>
        <p:nvSpPr>
          <p:cNvPr id="16" name="Date Placeholder 15">
            <a:extLst>
              <a:ext uri="{FF2B5EF4-FFF2-40B4-BE49-F238E27FC236}">
                <a16:creationId xmlns:a16="http://schemas.microsoft.com/office/drawing/2014/main" id="{14AADC84-19A0-44D5-9C28-FF6ABFD8F1D1}"/>
              </a:ext>
            </a:extLst>
          </p:cNvPr>
          <p:cNvSpPr>
            <a:spLocks noGrp="1"/>
          </p:cNvSpPr>
          <p:nvPr>
            <p:ph type="dt" sz="half" idx="10"/>
          </p:nvPr>
        </p:nvSpPr>
        <p:spPr/>
        <p:txBody>
          <a:bodyPr/>
          <a:lstStyle/>
          <a:p>
            <a:r>
              <a:rPr lang="en-US" dirty="0">
                <a:solidFill>
                  <a:schemeClr val="bg1"/>
                </a:solidFill>
              </a:rPr>
              <a:t>11/5/2018</a:t>
            </a:r>
          </a:p>
        </p:txBody>
      </p:sp>
      <p:sp>
        <p:nvSpPr>
          <p:cNvPr id="17" name="Footer Placeholder 16">
            <a:extLst>
              <a:ext uri="{FF2B5EF4-FFF2-40B4-BE49-F238E27FC236}">
                <a16:creationId xmlns:a16="http://schemas.microsoft.com/office/drawing/2014/main" id="{4D5F2E8B-0767-4602-A4E8-A980265196B5}"/>
              </a:ext>
            </a:extLst>
          </p:cNvPr>
          <p:cNvSpPr>
            <a:spLocks noGrp="1"/>
          </p:cNvSpPr>
          <p:nvPr>
            <p:ph type="ftr" sz="quarter" idx="11"/>
          </p:nvPr>
        </p:nvSpPr>
        <p:spPr/>
        <p:txBody>
          <a:bodyPr/>
          <a:lstStyle/>
          <a:p>
            <a:endParaRPr lang="en-US" dirty="0"/>
          </a:p>
        </p:txBody>
      </p:sp>
      <p:sp>
        <p:nvSpPr>
          <p:cNvPr id="3" name="TextBox 2">
            <a:extLst>
              <a:ext uri="{FF2B5EF4-FFF2-40B4-BE49-F238E27FC236}">
                <a16:creationId xmlns:a16="http://schemas.microsoft.com/office/drawing/2014/main" id="{CF03D068-6EF1-44C5-B3FA-0AED071C3F33}"/>
              </a:ext>
            </a:extLst>
          </p:cNvPr>
          <p:cNvSpPr txBox="1"/>
          <p:nvPr/>
        </p:nvSpPr>
        <p:spPr>
          <a:xfrm>
            <a:off x="742950" y="5886450"/>
            <a:ext cx="6096000" cy="24622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chemeClr val="bg1">
                    <a:lumMod val="75000"/>
                  </a:schemeClr>
                </a:solidFill>
                <a:cs typeface="Calibri"/>
                <a:hlinkClick r:id="rId4"/>
              </a:rPr>
              <a:t>Significant</a:t>
            </a:r>
            <a:r>
              <a:rPr lang="en-US" sz="1000" dirty="0">
                <a:solidFill>
                  <a:schemeClr val="bg1">
                    <a:lumMod val="75000"/>
                  </a:schemeClr>
                </a:solidFill>
                <a:cs typeface="Calibri"/>
              </a:rPr>
              <a:t> by Randall Munroe, used under CC-BY // format modified to fit screen</a:t>
            </a:r>
          </a:p>
        </p:txBody>
      </p:sp>
    </p:spTree>
    <p:extLst>
      <p:ext uri="{BB962C8B-B14F-4D97-AF65-F5344CB8AC3E}">
        <p14:creationId xmlns:p14="http://schemas.microsoft.com/office/powerpoint/2010/main" val="1207660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8163-D250-4D32-A12E-C990F06F1782}"/>
              </a:ext>
            </a:extLst>
          </p:cNvPr>
          <p:cNvSpPr>
            <a:spLocks noGrp="1"/>
          </p:cNvSpPr>
          <p:nvPr>
            <p:ph type="title"/>
          </p:nvPr>
        </p:nvSpPr>
        <p:spPr/>
        <p:txBody>
          <a:bodyPr/>
          <a:lstStyle/>
          <a:p>
            <a:r>
              <a:rPr lang="en-US" dirty="0"/>
              <a:t>Multiple comparisons: Why it matters</a:t>
            </a:r>
          </a:p>
        </p:txBody>
      </p:sp>
      <p:sp>
        <p:nvSpPr>
          <p:cNvPr id="4" name="Content Placeholder 3">
            <a:extLst>
              <a:ext uri="{FF2B5EF4-FFF2-40B4-BE49-F238E27FC236}">
                <a16:creationId xmlns:a16="http://schemas.microsoft.com/office/drawing/2014/main" id="{43082BDD-BD1D-42E6-B526-D36FFAA9F4BF}"/>
              </a:ext>
            </a:extLst>
          </p:cNvPr>
          <p:cNvSpPr>
            <a:spLocks noGrp="1"/>
          </p:cNvSpPr>
          <p:nvPr>
            <p:ph idx="1"/>
          </p:nvPr>
        </p:nvSpPr>
        <p:spPr/>
        <p:txBody>
          <a:bodyPr/>
          <a:lstStyle/>
          <a:p>
            <a:r>
              <a:rPr lang="en-US" dirty="0"/>
              <a:t>Null hypothesis testing is meant to help us </a:t>
            </a:r>
            <a:r>
              <a:rPr lang="en-US" b="1" dirty="0"/>
              <a:t>avoid wishful thinking</a:t>
            </a:r>
          </a:p>
          <a:p>
            <a:pPr lvl="1"/>
            <a:r>
              <a:rPr lang="en-US" dirty="0"/>
              <a:t>We build a </a:t>
            </a:r>
            <a:r>
              <a:rPr lang="en-US" b="1" dirty="0"/>
              <a:t>statistical model</a:t>
            </a:r>
            <a:r>
              <a:rPr lang="en-US" dirty="0"/>
              <a:t> of what we would expect if nothing interesting is going on – like flipping a coin a certain number of times</a:t>
            </a:r>
          </a:p>
          <a:p>
            <a:pPr lvl="1"/>
            <a:r>
              <a:rPr lang="en-US" dirty="0"/>
              <a:t>We compare our data to that model</a:t>
            </a:r>
          </a:p>
          <a:p>
            <a:pPr>
              <a:tabLst>
                <a:tab pos="1944688" algn="dec"/>
              </a:tabLst>
            </a:pPr>
            <a:r>
              <a:rPr lang="en-US" dirty="0"/>
              <a:t>More tests 	</a:t>
            </a:r>
            <a:r>
              <a:rPr lang="en-US" dirty="0">
                <a:solidFill>
                  <a:schemeClr val="bg1"/>
                </a:solidFill>
              </a:rPr>
              <a:t>.</a:t>
            </a:r>
            <a:r>
              <a:rPr lang="en-US" dirty="0"/>
              <a:t>=   more coin flip experiments </a:t>
            </a:r>
            <a:br>
              <a:rPr lang="en-US" dirty="0"/>
            </a:br>
            <a:r>
              <a:rPr lang="en-US" dirty="0"/>
              <a:t>	</a:t>
            </a:r>
            <a:r>
              <a:rPr lang="en-US" dirty="0">
                <a:solidFill>
                  <a:schemeClr val="bg1"/>
                </a:solidFill>
              </a:rPr>
              <a:t>.</a:t>
            </a:r>
            <a:r>
              <a:rPr lang="en-US" dirty="0"/>
              <a:t>=   more false positives </a:t>
            </a:r>
            <a:br>
              <a:rPr lang="en-US" dirty="0"/>
            </a:br>
            <a:r>
              <a:rPr lang="en-US" dirty="0"/>
              <a:t>	</a:t>
            </a:r>
            <a:r>
              <a:rPr lang="en-US" dirty="0">
                <a:solidFill>
                  <a:schemeClr val="bg1"/>
                </a:solidFill>
              </a:rPr>
              <a:t>.</a:t>
            </a:r>
            <a:r>
              <a:rPr lang="en-US" dirty="0"/>
              <a:t>=   more wishful thinking</a:t>
            </a:r>
            <a:br>
              <a:rPr lang="en-US" dirty="0"/>
            </a:br>
            <a:r>
              <a:rPr lang="en-US" dirty="0"/>
              <a:t>	</a:t>
            </a:r>
            <a:r>
              <a:rPr lang="en-US" dirty="0">
                <a:solidFill>
                  <a:schemeClr val="bg1"/>
                </a:solidFill>
              </a:rPr>
              <a:t>.</a:t>
            </a:r>
            <a:r>
              <a:rPr lang="en-US" dirty="0"/>
              <a:t>=   more </a:t>
            </a:r>
            <a:r>
              <a:rPr lang="en-US" b="1" dirty="0"/>
              <a:t>wasted time</a:t>
            </a:r>
            <a:r>
              <a:rPr lang="en-US" dirty="0"/>
              <a:t>!</a:t>
            </a:r>
          </a:p>
          <a:p>
            <a:pPr>
              <a:tabLst>
                <a:tab pos="1944688" algn="dec"/>
              </a:tabLst>
            </a:pPr>
            <a:endParaRPr lang="en-US" dirty="0"/>
          </a:p>
          <a:p>
            <a:pPr>
              <a:tabLst>
                <a:tab pos="1828800" algn="dec"/>
              </a:tabLst>
            </a:pPr>
            <a:endParaRPr lang="en-US" dirty="0"/>
          </a:p>
          <a:p>
            <a:endParaRPr lang="en-US" b="1" dirty="0"/>
          </a:p>
        </p:txBody>
      </p:sp>
      <p:sp>
        <p:nvSpPr>
          <p:cNvPr id="5" name="Date Placeholder 4">
            <a:extLst>
              <a:ext uri="{FF2B5EF4-FFF2-40B4-BE49-F238E27FC236}">
                <a16:creationId xmlns:a16="http://schemas.microsoft.com/office/drawing/2014/main" id="{0CE9FAF2-8487-4776-8895-38AC7F8752C9}"/>
              </a:ext>
            </a:extLst>
          </p:cNvPr>
          <p:cNvSpPr>
            <a:spLocks noGrp="1"/>
          </p:cNvSpPr>
          <p:nvPr>
            <p:ph type="dt" sz="half" idx="10"/>
          </p:nvPr>
        </p:nvSpPr>
        <p:spPr/>
        <p:txBody>
          <a:bodyPr/>
          <a:lstStyle/>
          <a:p>
            <a:r>
              <a:rPr lang="en-US" dirty="0"/>
              <a:t>11/5/2018</a:t>
            </a:r>
          </a:p>
        </p:txBody>
      </p:sp>
      <p:sp>
        <p:nvSpPr>
          <p:cNvPr id="7" name="Footer Placeholder 6">
            <a:extLst>
              <a:ext uri="{FF2B5EF4-FFF2-40B4-BE49-F238E27FC236}">
                <a16:creationId xmlns:a16="http://schemas.microsoft.com/office/drawing/2014/main" id="{D1306B00-77C1-4376-9898-AA470F20C119}"/>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8154972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8163-D250-4D32-A12E-C990F06F1782}"/>
              </a:ext>
            </a:extLst>
          </p:cNvPr>
          <p:cNvSpPr>
            <a:spLocks noGrp="1"/>
          </p:cNvSpPr>
          <p:nvPr>
            <p:ph type="title"/>
          </p:nvPr>
        </p:nvSpPr>
        <p:spPr/>
        <p:txBody>
          <a:bodyPr/>
          <a:lstStyle/>
          <a:p>
            <a:r>
              <a:rPr lang="en-US" dirty="0"/>
              <a:t>Multiple comparisons: Basic terminology</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3082BDD-BD1D-42E6-B526-D36FFAA9F4BF}"/>
                  </a:ext>
                </a:extLst>
              </p:cNvPr>
              <p:cNvSpPr>
                <a:spLocks noGrp="1"/>
              </p:cNvSpPr>
              <p:nvPr>
                <p:ph idx="1"/>
              </p:nvPr>
            </p:nvSpPr>
            <p:spPr>
              <a:xfrm>
                <a:off x="838200" y="2498410"/>
                <a:ext cx="10515600" cy="3857940"/>
              </a:xfrm>
            </p:spPr>
            <p:txBody>
              <a:bodyPr/>
              <a:lstStyle/>
              <a:p>
                <a:r>
                  <a:rPr lang="en-US" dirty="0"/>
                  <a:t>H</a:t>
                </a:r>
                <a:r>
                  <a:rPr lang="en-US" baseline="-25000" dirty="0"/>
                  <a:t>0</a:t>
                </a:r>
                <a:r>
                  <a:rPr lang="en-US" dirty="0"/>
                  <a:t>: the </a:t>
                </a:r>
                <a:r>
                  <a:rPr lang="en-US" u="sng" dirty="0"/>
                  <a:t>null hypothesis</a:t>
                </a:r>
              </a:p>
              <a:p>
                <a14:m>
                  <m:oMath xmlns:m="http://schemas.openxmlformats.org/officeDocument/2006/math">
                    <m:r>
                      <a:rPr lang="en-US" i="1">
                        <a:latin typeface="Cambria Math" panose="02040503050406030204" pitchFamily="18" charset="0"/>
                      </a:rPr>
                      <m:t>𝑚</m:t>
                    </m:r>
                  </m:oMath>
                </a14:m>
                <a:r>
                  <a:rPr lang="en-US" dirty="0"/>
                  <a:t>: the number of comparisons</a:t>
                </a:r>
              </a:p>
              <a:p>
                <a14:m>
                  <m:oMath xmlns:m="http://schemas.openxmlformats.org/officeDocument/2006/math">
                    <m:r>
                      <a:rPr lang="en-US" i="1">
                        <a:latin typeface="Cambria Math" panose="02040503050406030204" pitchFamily="18" charset="0"/>
                      </a:rPr>
                      <m:t>𝛼</m:t>
                    </m:r>
                  </m:oMath>
                </a14:m>
                <a:r>
                  <a:rPr lang="en-US" dirty="0"/>
                  <a:t>: the threshold for rejecting H</a:t>
                </a:r>
                <a:r>
                  <a:rPr lang="en-US" baseline="-25000" dirty="0"/>
                  <a:t>0</a:t>
                </a:r>
                <a:r>
                  <a:rPr lang="en-US" dirty="0"/>
                  <a:t/>
                </a:r>
                <a:br>
                  <a:rPr lang="en-US" dirty="0"/>
                </a:br>
                <a:endParaRPr lang="en-US" dirty="0"/>
              </a:p>
              <a:p>
                <a:endParaRPr lang="en-US" dirty="0"/>
              </a:p>
            </p:txBody>
          </p:sp>
        </mc:Choice>
        <mc:Fallback xmlns="">
          <p:sp>
            <p:nvSpPr>
              <p:cNvPr id="4" name="Content Placeholder 3">
                <a:extLst>
                  <a:ext uri="{FF2B5EF4-FFF2-40B4-BE49-F238E27FC236}">
                    <a16:creationId xmlns:a16="http://schemas.microsoft.com/office/drawing/2014/main" id="{43082BDD-BD1D-42E6-B526-D36FFAA9F4BF}"/>
                  </a:ext>
                </a:extLst>
              </p:cNvPr>
              <p:cNvSpPr>
                <a:spLocks noGrp="1" noRot="1" noChangeAspect="1" noMove="1" noResize="1" noEditPoints="1" noAdjustHandles="1" noChangeArrowheads="1" noChangeShapeType="1" noTextEdit="1"/>
              </p:cNvSpPr>
              <p:nvPr>
                <p:ph idx="1"/>
              </p:nvPr>
            </p:nvSpPr>
            <p:spPr>
              <a:xfrm>
                <a:off x="838200" y="2498410"/>
                <a:ext cx="10515600" cy="3857940"/>
              </a:xfrm>
              <a:blipFill>
                <a:blip r:embed="rId2"/>
                <a:stretch>
                  <a:fillRect l="-1043" t="-2686"/>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0CE9FAF2-8487-4776-8895-38AC7F8752C9}"/>
              </a:ext>
            </a:extLst>
          </p:cNvPr>
          <p:cNvSpPr>
            <a:spLocks noGrp="1"/>
          </p:cNvSpPr>
          <p:nvPr>
            <p:ph type="dt" sz="half" idx="10"/>
          </p:nvPr>
        </p:nvSpPr>
        <p:spPr/>
        <p:txBody>
          <a:bodyPr/>
          <a:lstStyle/>
          <a:p>
            <a:r>
              <a:rPr lang="en-US" dirty="0"/>
              <a:t>11/5/2018</a:t>
            </a:r>
          </a:p>
        </p:txBody>
      </p:sp>
      <p:sp>
        <p:nvSpPr>
          <p:cNvPr id="7" name="Footer Placeholder 6">
            <a:extLst>
              <a:ext uri="{FF2B5EF4-FFF2-40B4-BE49-F238E27FC236}">
                <a16:creationId xmlns:a16="http://schemas.microsoft.com/office/drawing/2014/main" id="{D1306B00-77C1-4376-9898-AA470F20C119}"/>
              </a:ext>
            </a:extLst>
          </p:cNvPr>
          <p:cNvSpPr>
            <a:spLocks noGrp="1"/>
          </p:cNvSpPr>
          <p:nvPr>
            <p:ph type="ftr" sz="quarter" idx="11"/>
          </p:nvPr>
        </p:nvSpPr>
        <p:spPr/>
        <p:txBody>
          <a:bodyPr/>
          <a:lstStyle/>
          <a:p>
            <a:endParaRPr lang="en-US"/>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111E9E29-85E0-4C7B-88FF-C8254A7D3230}"/>
                  </a:ext>
                </a:extLst>
              </p:cNvPr>
              <p:cNvGraphicFramePr>
                <a:graphicFrameLocks noGrp="1"/>
              </p:cNvGraphicFramePr>
              <p:nvPr>
                <p:extLst/>
              </p:nvPr>
            </p:nvGraphicFramePr>
            <p:xfrm>
              <a:off x="943408" y="4185751"/>
              <a:ext cx="5625834" cy="1752600"/>
            </p:xfrm>
            <a:graphic>
              <a:graphicData uri="http://schemas.openxmlformats.org/drawingml/2006/table">
                <a:tbl>
                  <a:tblPr firstRow="1" bandRow="1">
                    <a:tableStyleId>{793D81CF-94F2-401A-BA57-92F5A7B2D0C5}</a:tableStyleId>
                  </a:tblPr>
                  <a:tblGrid>
                    <a:gridCol w="1609559">
                      <a:extLst>
                        <a:ext uri="{9D8B030D-6E8A-4147-A177-3AD203B41FA5}">
                          <a16:colId xmlns:a16="http://schemas.microsoft.com/office/drawing/2014/main" val="401406677"/>
                        </a:ext>
                      </a:extLst>
                    </a:gridCol>
                    <a:gridCol w="1387642">
                      <a:extLst>
                        <a:ext uri="{9D8B030D-6E8A-4147-A177-3AD203B41FA5}">
                          <a16:colId xmlns:a16="http://schemas.microsoft.com/office/drawing/2014/main" val="4131383732"/>
                        </a:ext>
                      </a:extLst>
                    </a:gridCol>
                    <a:gridCol w="1232970">
                      <a:extLst>
                        <a:ext uri="{9D8B030D-6E8A-4147-A177-3AD203B41FA5}">
                          <a16:colId xmlns:a16="http://schemas.microsoft.com/office/drawing/2014/main" val="1733547884"/>
                        </a:ext>
                      </a:extLst>
                    </a:gridCol>
                    <a:gridCol w="1395663">
                      <a:extLst>
                        <a:ext uri="{9D8B030D-6E8A-4147-A177-3AD203B41FA5}">
                          <a16:colId xmlns:a16="http://schemas.microsoft.com/office/drawing/2014/main" val="601576611"/>
                        </a:ext>
                      </a:extLst>
                    </a:gridCol>
                  </a:tblGrid>
                  <a:tr h="370840">
                    <a:tc gridSpan="3">
                      <a:txBody>
                        <a:bodyPr/>
                        <a:lstStyle/>
                        <a:p>
                          <a:pPr>
                            <a:tabLst>
                              <a:tab pos="228600" algn="dec"/>
                            </a:tabLst>
                          </a:pPr>
                          <a:r>
                            <a:rPr lang="en-US" dirty="0"/>
                            <a:t>Conventional </a:t>
                          </a:r>
                          <a14:m>
                            <m:oMath xmlns:m="http://schemas.openxmlformats.org/officeDocument/2006/math">
                              <m:r>
                                <a:rPr lang="en-US" smtClean="0">
                                  <a:latin typeface="Cambria Math" panose="02040503050406030204" pitchFamily="18" charset="0"/>
                                </a:rPr>
                                <m:t>𝜶</m:t>
                              </m:r>
                            </m:oMath>
                          </a14:m>
                          <a:r>
                            <a:rPr lang="en-US" dirty="0"/>
                            <a:t> by field</a:t>
                          </a:r>
                          <a:endParaRPr lang="en-US" b="1" dirty="0"/>
                        </a:p>
                      </a:txBody>
                      <a:tcPr anchor="b"/>
                    </a:tc>
                    <a:tc hMerge="1">
                      <a:txBody>
                        <a:bodyPr/>
                        <a:lstStyle/>
                        <a:p>
                          <a:endParaRPr lang="en-US" dirty="0"/>
                        </a:p>
                      </a:txBody>
                      <a:tcPr/>
                    </a:tc>
                    <a:tc hMerge="1">
                      <a:txBody>
                        <a:bodyPr/>
                        <a:lstStyle/>
                        <a:p>
                          <a:endParaRPr lang="en-US"/>
                        </a:p>
                      </a:txBody>
                      <a:tcPr/>
                    </a:tc>
                    <a:tc>
                      <a:txBody>
                        <a:bodyPr/>
                        <a:lstStyle/>
                        <a:p>
                          <a:r>
                            <a:rPr lang="en-US" dirty="0"/>
                            <a:t>Coin-flip equivalence</a:t>
                          </a:r>
                        </a:p>
                      </a:txBody>
                      <a:tcPr anchor="b"/>
                    </a:tc>
                    <a:extLst>
                      <a:ext uri="{0D108BD9-81ED-4DB2-BD59-A6C34878D82A}">
                        <a16:rowId xmlns:a16="http://schemas.microsoft.com/office/drawing/2014/main" val="2736502607"/>
                      </a:ext>
                    </a:extLst>
                  </a:tr>
                  <a:tr h="370840">
                    <a:tc>
                      <a:txBody>
                        <a:bodyPr/>
                        <a:lstStyle/>
                        <a:p>
                          <a:r>
                            <a:rPr lang="en-US" dirty="0"/>
                            <a:t>Social sciences</a:t>
                          </a:r>
                        </a:p>
                      </a:txBody>
                      <a:tcPr/>
                    </a:tc>
                    <a:tc>
                      <a:txBody>
                        <a:bodyPr/>
                        <a:lstStyle/>
                        <a:p>
                          <a:r>
                            <a:rPr lang="en-US" dirty="0"/>
                            <a:t>.05</a:t>
                          </a:r>
                        </a:p>
                      </a:txBody>
                      <a:tcPr/>
                    </a:tc>
                    <a:tc>
                      <a:txBody>
                        <a:bodyPr/>
                        <a:lstStyle/>
                        <a:p>
                          <a:pPr algn="r"/>
                          <a:r>
                            <a:rPr lang="en-US" dirty="0"/>
                            <a:t>5 x 10</a:t>
                          </a:r>
                          <a:r>
                            <a:rPr lang="en-US" baseline="30000" dirty="0"/>
                            <a:t>-2</a:t>
                          </a:r>
                          <a:endParaRPr lang="en-US" dirty="0"/>
                        </a:p>
                      </a:txBody>
                      <a:tcPr/>
                    </a:tc>
                    <a:tc>
                      <a:txBody>
                        <a:bodyPr/>
                        <a:lstStyle/>
                        <a:p>
                          <a:pPr algn="ctr" defTabSz="115888">
                            <a:tabLst>
                              <a:tab pos="228600" algn="dec"/>
                            </a:tabLst>
                          </a:pPr>
                          <a:r>
                            <a:rPr lang="en-US" baseline="0" dirty="0"/>
                            <a:t>	4.3</a:t>
                          </a:r>
                        </a:p>
                      </a:txBody>
                      <a:tcPr/>
                    </a:tc>
                    <a:extLst>
                      <a:ext uri="{0D108BD9-81ED-4DB2-BD59-A6C34878D82A}">
                        <a16:rowId xmlns:a16="http://schemas.microsoft.com/office/drawing/2014/main" val="696962232"/>
                      </a:ext>
                    </a:extLst>
                  </a:tr>
                  <a:tr h="370840">
                    <a:tc>
                      <a:txBody>
                        <a:bodyPr/>
                        <a:lstStyle/>
                        <a:p>
                          <a:r>
                            <a:rPr lang="en-US" dirty="0"/>
                            <a:t>Physics</a:t>
                          </a:r>
                        </a:p>
                      </a:txBody>
                      <a:tcPr/>
                    </a:tc>
                    <a:tc>
                      <a:txBody>
                        <a:bodyPr/>
                        <a:lstStyle/>
                        <a:p>
                          <a:r>
                            <a:rPr lang="en-US" dirty="0">
                              <a:effectLst/>
                            </a:rPr>
                            <a:t>.000000287</a:t>
                          </a:r>
                          <a:endParaRPr lang="en-US" baseline="30000" dirty="0"/>
                        </a:p>
                      </a:txBody>
                      <a:tcPr/>
                    </a:tc>
                    <a:tc>
                      <a:txBody>
                        <a:bodyPr/>
                        <a:lstStyle/>
                        <a:p>
                          <a:pPr algn="r"/>
                          <a:r>
                            <a:rPr lang="en-US" dirty="0"/>
                            <a:t>2.87 x 10</a:t>
                          </a:r>
                          <a:r>
                            <a:rPr lang="en-US" baseline="30000" dirty="0"/>
                            <a:t>-7</a:t>
                          </a:r>
                        </a:p>
                      </a:txBody>
                      <a:tcPr/>
                    </a:tc>
                    <a:tc>
                      <a:txBody>
                        <a:bodyPr/>
                        <a:lstStyle/>
                        <a:p>
                          <a:pPr algn="ctr" defTabSz="114300">
                            <a:tabLst>
                              <a:tab pos="228600" algn="dec"/>
                            </a:tabLst>
                          </a:pPr>
                          <a:r>
                            <a:rPr lang="en-US" baseline="0" dirty="0"/>
                            <a:t>	21.7</a:t>
                          </a:r>
                        </a:p>
                      </a:txBody>
                      <a:tcPr/>
                    </a:tc>
                    <a:extLst>
                      <a:ext uri="{0D108BD9-81ED-4DB2-BD59-A6C34878D82A}">
                        <a16:rowId xmlns:a16="http://schemas.microsoft.com/office/drawing/2014/main" val="1888284080"/>
                      </a:ext>
                    </a:extLst>
                  </a:tr>
                  <a:tr h="370840">
                    <a:tc>
                      <a:txBody>
                        <a:bodyPr/>
                        <a:lstStyle/>
                        <a:p>
                          <a:r>
                            <a:rPr lang="en-US" dirty="0"/>
                            <a:t>GWAS studies</a:t>
                          </a:r>
                        </a:p>
                      </a:txBody>
                      <a:tcPr/>
                    </a:tc>
                    <a:tc>
                      <a:txBody>
                        <a:bodyPr/>
                        <a:lstStyle/>
                        <a:p>
                          <a:r>
                            <a:rPr lang="en-US" dirty="0">
                              <a:effectLst/>
                            </a:rPr>
                            <a:t>.00000005</a:t>
                          </a:r>
                          <a:endParaRPr lang="en-US" dirty="0"/>
                        </a:p>
                      </a:txBody>
                      <a:tcPr/>
                    </a:tc>
                    <a:tc>
                      <a:txBody>
                        <a:bodyPr/>
                        <a:lstStyle/>
                        <a:p>
                          <a:pPr algn="r"/>
                          <a:r>
                            <a:rPr lang="en-US" dirty="0"/>
                            <a:t>5 x 10</a:t>
                          </a:r>
                          <a:r>
                            <a:rPr lang="en-US" baseline="30000" dirty="0"/>
                            <a:t>-8</a:t>
                          </a:r>
                          <a:endParaRPr lang="en-US" dirty="0"/>
                        </a:p>
                      </a:txBody>
                      <a:tcPr/>
                    </a:tc>
                    <a:tc>
                      <a:txBody>
                        <a:bodyPr/>
                        <a:lstStyle/>
                        <a:p>
                          <a:pPr algn="ctr" defTabSz="114300">
                            <a:tabLst>
                              <a:tab pos="228600" algn="dec"/>
                            </a:tabLst>
                          </a:pPr>
                          <a:r>
                            <a:rPr lang="en-US" baseline="0" dirty="0"/>
                            <a:t>	24.3</a:t>
                          </a:r>
                        </a:p>
                      </a:txBody>
                      <a:tcPr/>
                    </a:tc>
                    <a:extLst>
                      <a:ext uri="{0D108BD9-81ED-4DB2-BD59-A6C34878D82A}">
                        <a16:rowId xmlns:a16="http://schemas.microsoft.com/office/drawing/2014/main" val="728383640"/>
                      </a:ext>
                    </a:extLst>
                  </a:tr>
                </a:tbl>
              </a:graphicData>
            </a:graphic>
          </p:graphicFrame>
        </mc:Choice>
        <mc:Fallback xmlns="">
          <p:graphicFrame>
            <p:nvGraphicFramePr>
              <p:cNvPr id="3" name="Table 2">
                <a:extLst>
                  <a:ext uri="{FF2B5EF4-FFF2-40B4-BE49-F238E27FC236}">
                    <a16:creationId xmlns:a16="http://schemas.microsoft.com/office/drawing/2014/main" id="{111E9E29-85E0-4C7B-88FF-C8254A7D3230}"/>
                  </a:ext>
                </a:extLst>
              </p:cNvPr>
              <p:cNvGraphicFramePr>
                <a:graphicFrameLocks noGrp="1"/>
              </p:cNvGraphicFramePr>
              <p:nvPr>
                <p:extLst>
                  <p:ext uri="{D42A27DB-BD31-4B8C-83A1-F6EECF244321}">
                    <p14:modId xmlns:p14="http://schemas.microsoft.com/office/powerpoint/2010/main" val="2834664325"/>
                  </p:ext>
                </p:extLst>
              </p:nvPr>
            </p:nvGraphicFramePr>
            <p:xfrm>
              <a:off x="943408" y="4185751"/>
              <a:ext cx="5625834" cy="1752600"/>
            </p:xfrm>
            <a:graphic>
              <a:graphicData uri="http://schemas.openxmlformats.org/drawingml/2006/table">
                <a:tbl>
                  <a:tblPr firstRow="1" bandRow="1">
                    <a:tableStyleId>{793D81CF-94F2-401A-BA57-92F5A7B2D0C5}</a:tableStyleId>
                  </a:tblPr>
                  <a:tblGrid>
                    <a:gridCol w="1609559">
                      <a:extLst>
                        <a:ext uri="{9D8B030D-6E8A-4147-A177-3AD203B41FA5}">
                          <a16:colId xmlns:a16="http://schemas.microsoft.com/office/drawing/2014/main" val="401406677"/>
                        </a:ext>
                      </a:extLst>
                    </a:gridCol>
                    <a:gridCol w="1387642">
                      <a:extLst>
                        <a:ext uri="{9D8B030D-6E8A-4147-A177-3AD203B41FA5}">
                          <a16:colId xmlns:a16="http://schemas.microsoft.com/office/drawing/2014/main" val="4131383732"/>
                        </a:ext>
                      </a:extLst>
                    </a:gridCol>
                    <a:gridCol w="1232970">
                      <a:extLst>
                        <a:ext uri="{9D8B030D-6E8A-4147-A177-3AD203B41FA5}">
                          <a16:colId xmlns:a16="http://schemas.microsoft.com/office/drawing/2014/main" val="1733547884"/>
                        </a:ext>
                      </a:extLst>
                    </a:gridCol>
                    <a:gridCol w="1395663">
                      <a:extLst>
                        <a:ext uri="{9D8B030D-6E8A-4147-A177-3AD203B41FA5}">
                          <a16:colId xmlns:a16="http://schemas.microsoft.com/office/drawing/2014/main" val="601576611"/>
                        </a:ext>
                      </a:extLst>
                    </a:gridCol>
                  </a:tblGrid>
                  <a:tr h="640080">
                    <a:tc gridSpan="3">
                      <a:txBody>
                        <a:bodyPr/>
                        <a:lstStyle/>
                        <a:p>
                          <a:endParaRPr lang="en-US"/>
                        </a:p>
                      </a:txBody>
                      <a:tcPr anchor="b">
                        <a:blipFill>
                          <a:blip r:embed="rId3"/>
                          <a:stretch>
                            <a:fillRect l="-144" t="-4717" r="-33237" b="-185849"/>
                          </a:stretch>
                        </a:blipFill>
                      </a:tcPr>
                    </a:tc>
                    <a:tc hMerge="1">
                      <a:txBody>
                        <a:bodyPr/>
                        <a:lstStyle/>
                        <a:p>
                          <a:endParaRPr lang="en-US" dirty="0"/>
                        </a:p>
                      </a:txBody>
                      <a:tcPr/>
                    </a:tc>
                    <a:tc hMerge="1">
                      <a:txBody>
                        <a:bodyPr/>
                        <a:lstStyle/>
                        <a:p>
                          <a:endParaRPr lang="en-US"/>
                        </a:p>
                      </a:txBody>
                      <a:tcPr/>
                    </a:tc>
                    <a:tc>
                      <a:txBody>
                        <a:bodyPr/>
                        <a:lstStyle/>
                        <a:p>
                          <a:r>
                            <a:rPr lang="en-US" dirty="0"/>
                            <a:t>Coin-flip equivalence</a:t>
                          </a:r>
                        </a:p>
                      </a:txBody>
                      <a:tcPr anchor="b"/>
                    </a:tc>
                    <a:extLst>
                      <a:ext uri="{0D108BD9-81ED-4DB2-BD59-A6C34878D82A}">
                        <a16:rowId xmlns:a16="http://schemas.microsoft.com/office/drawing/2014/main" val="2736502607"/>
                      </a:ext>
                    </a:extLst>
                  </a:tr>
                  <a:tr h="370840">
                    <a:tc>
                      <a:txBody>
                        <a:bodyPr/>
                        <a:lstStyle/>
                        <a:p>
                          <a:r>
                            <a:rPr lang="en-US" dirty="0"/>
                            <a:t>Social sciences</a:t>
                          </a:r>
                        </a:p>
                      </a:txBody>
                      <a:tcPr/>
                    </a:tc>
                    <a:tc>
                      <a:txBody>
                        <a:bodyPr/>
                        <a:lstStyle/>
                        <a:p>
                          <a:r>
                            <a:rPr lang="en-US" dirty="0"/>
                            <a:t>.05</a:t>
                          </a:r>
                        </a:p>
                      </a:txBody>
                      <a:tcPr/>
                    </a:tc>
                    <a:tc>
                      <a:txBody>
                        <a:bodyPr/>
                        <a:lstStyle/>
                        <a:p>
                          <a:pPr algn="r"/>
                          <a:r>
                            <a:rPr lang="en-US" dirty="0"/>
                            <a:t>5 x 10</a:t>
                          </a:r>
                          <a:r>
                            <a:rPr lang="en-US" baseline="30000" dirty="0"/>
                            <a:t>-2</a:t>
                          </a:r>
                          <a:endParaRPr lang="en-US" dirty="0"/>
                        </a:p>
                      </a:txBody>
                      <a:tcPr/>
                    </a:tc>
                    <a:tc>
                      <a:txBody>
                        <a:bodyPr/>
                        <a:lstStyle/>
                        <a:p>
                          <a:pPr algn="ctr" defTabSz="115888">
                            <a:tabLst>
                              <a:tab pos="228600" algn="dec"/>
                            </a:tabLst>
                          </a:pPr>
                          <a:r>
                            <a:rPr lang="en-US" baseline="0" dirty="0"/>
                            <a:t>	4.3</a:t>
                          </a:r>
                        </a:p>
                      </a:txBody>
                      <a:tcPr/>
                    </a:tc>
                    <a:extLst>
                      <a:ext uri="{0D108BD9-81ED-4DB2-BD59-A6C34878D82A}">
                        <a16:rowId xmlns:a16="http://schemas.microsoft.com/office/drawing/2014/main" val="696962232"/>
                      </a:ext>
                    </a:extLst>
                  </a:tr>
                  <a:tr h="370840">
                    <a:tc>
                      <a:txBody>
                        <a:bodyPr/>
                        <a:lstStyle/>
                        <a:p>
                          <a:r>
                            <a:rPr lang="en-US" dirty="0"/>
                            <a:t>Physics</a:t>
                          </a:r>
                        </a:p>
                      </a:txBody>
                      <a:tcPr/>
                    </a:tc>
                    <a:tc>
                      <a:txBody>
                        <a:bodyPr/>
                        <a:lstStyle/>
                        <a:p>
                          <a:r>
                            <a:rPr lang="en-US" dirty="0">
                              <a:effectLst/>
                            </a:rPr>
                            <a:t>.000000287</a:t>
                          </a:r>
                          <a:endParaRPr lang="en-US" baseline="30000" dirty="0"/>
                        </a:p>
                      </a:txBody>
                      <a:tcPr/>
                    </a:tc>
                    <a:tc>
                      <a:txBody>
                        <a:bodyPr/>
                        <a:lstStyle/>
                        <a:p>
                          <a:pPr algn="r"/>
                          <a:r>
                            <a:rPr lang="en-US" dirty="0"/>
                            <a:t>2.87 x 10</a:t>
                          </a:r>
                          <a:r>
                            <a:rPr lang="en-US" baseline="30000" dirty="0"/>
                            <a:t>-7</a:t>
                          </a:r>
                        </a:p>
                      </a:txBody>
                      <a:tcPr/>
                    </a:tc>
                    <a:tc>
                      <a:txBody>
                        <a:bodyPr/>
                        <a:lstStyle/>
                        <a:p>
                          <a:pPr algn="ctr" defTabSz="114300">
                            <a:tabLst>
                              <a:tab pos="228600" algn="dec"/>
                            </a:tabLst>
                          </a:pPr>
                          <a:r>
                            <a:rPr lang="en-US" baseline="0" dirty="0"/>
                            <a:t>	21.7</a:t>
                          </a:r>
                        </a:p>
                      </a:txBody>
                      <a:tcPr/>
                    </a:tc>
                    <a:extLst>
                      <a:ext uri="{0D108BD9-81ED-4DB2-BD59-A6C34878D82A}">
                        <a16:rowId xmlns:a16="http://schemas.microsoft.com/office/drawing/2014/main" val="1888284080"/>
                      </a:ext>
                    </a:extLst>
                  </a:tr>
                  <a:tr h="370840">
                    <a:tc>
                      <a:txBody>
                        <a:bodyPr/>
                        <a:lstStyle/>
                        <a:p>
                          <a:r>
                            <a:rPr lang="en-US" dirty="0"/>
                            <a:t>GWAS studies</a:t>
                          </a:r>
                        </a:p>
                      </a:txBody>
                      <a:tcPr/>
                    </a:tc>
                    <a:tc>
                      <a:txBody>
                        <a:bodyPr/>
                        <a:lstStyle/>
                        <a:p>
                          <a:r>
                            <a:rPr lang="en-US" dirty="0">
                              <a:effectLst/>
                            </a:rPr>
                            <a:t>.00000005</a:t>
                          </a:r>
                          <a:endParaRPr lang="en-US" dirty="0"/>
                        </a:p>
                      </a:txBody>
                      <a:tcPr/>
                    </a:tc>
                    <a:tc>
                      <a:txBody>
                        <a:bodyPr/>
                        <a:lstStyle/>
                        <a:p>
                          <a:pPr algn="r"/>
                          <a:r>
                            <a:rPr lang="en-US" dirty="0"/>
                            <a:t>5 x 10</a:t>
                          </a:r>
                          <a:r>
                            <a:rPr lang="en-US" baseline="30000" dirty="0"/>
                            <a:t>-8</a:t>
                          </a:r>
                          <a:endParaRPr lang="en-US" dirty="0"/>
                        </a:p>
                      </a:txBody>
                      <a:tcPr/>
                    </a:tc>
                    <a:tc>
                      <a:txBody>
                        <a:bodyPr/>
                        <a:lstStyle/>
                        <a:p>
                          <a:pPr algn="ctr" defTabSz="114300">
                            <a:tabLst>
                              <a:tab pos="228600" algn="dec"/>
                            </a:tabLst>
                          </a:pPr>
                          <a:r>
                            <a:rPr lang="en-US" baseline="0" dirty="0"/>
                            <a:t>	24.3</a:t>
                          </a:r>
                        </a:p>
                      </a:txBody>
                      <a:tcPr/>
                    </a:tc>
                    <a:extLst>
                      <a:ext uri="{0D108BD9-81ED-4DB2-BD59-A6C34878D82A}">
                        <a16:rowId xmlns:a16="http://schemas.microsoft.com/office/drawing/2014/main" val="728383640"/>
                      </a:ext>
                    </a:extLst>
                  </a:tr>
                </a:tbl>
              </a:graphicData>
            </a:graphic>
          </p:graphicFrame>
        </mc:Fallback>
      </mc:AlternateContent>
    </p:spTree>
    <p:extLst>
      <p:ext uri="{BB962C8B-B14F-4D97-AF65-F5344CB8AC3E}">
        <p14:creationId xmlns:p14="http://schemas.microsoft.com/office/powerpoint/2010/main" val="31887304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8163-D250-4D32-A12E-C990F06F1782}"/>
              </a:ext>
            </a:extLst>
          </p:cNvPr>
          <p:cNvSpPr>
            <a:spLocks noGrp="1"/>
          </p:cNvSpPr>
          <p:nvPr>
            <p:ph type="title"/>
          </p:nvPr>
        </p:nvSpPr>
        <p:spPr/>
        <p:txBody>
          <a:bodyPr/>
          <a:lstStyle/>
          <a:p>
            <a:r>
              <a:rPr lang="en-US" dirty="0"/>
              <a:t>Multiple comparisons: Some options</a:t>
            </a:r>
          </a:p>
        </p:txBody>
      </p:sp>
      <p:sp>
        <p:nvSpPr>
          <p:cNvPr id="4" name="Content Placeholder 3">
            <a:extLst>
              <a:ext uri="{FF2B5EF4-FFF2-40B4-BE49-F238E27FC236}">
                <a16:creationId xmlns:a16="http://schemas.microsoft.com/office/drawing/2014/main" id="{43082BDD-BD1D-42E6-B526-D36FFAA9F4BF}"/>
              </a:ext>
            </a:extLst>
          </p:cNvPr>
          <p:cNvSpPr>
            <a:spLocks noGrp="1"/>
          </p:cNvSpPr>
          <p:nvPr>
            <p:ph idx="1"/>
          </p:nvPr>
        </p:nvSpPr>
        <p:spPr>
          <a:xfrm>
            <a:off x="838200" y="2498409"/>
            <a:ext cx="10657114" cy="3678553"/>
          </a:xfrm>
        </p:spPr>
        <p:txBody>
          <a:bodyPr/>
          <a:lstStyle/>
          <a:p>
            <a:r>
              <a:rPr lang="en-US" b="1" dirty="0"/>
              <a:t>Familywise error rate (FWER)</a:t>
            </a:r>
            <a:r>
              <a:rPr lang="en-US" dirty="0"/>
              <a:t>: </a:t>
            </a:r>
            <a:br>
              <a:rPr lang="en-US" dirty="0"/>
            </a:br>
            <a:r>
              <a:rPr lang="en-US" dirty="0"/>
              <a:t>probability of making </a:t>
            </a:r>
            <a:r>
              <a:rPr lang="en-US" u="sng" dirty="0"/>
              <a:t>at least one </a:t>
            </a:r>
            <a:r>
              <a:rPr lang="en-US" dirty="0"/>
              <a:t>Type I error, assuming H</a:t>
            </a:r>
            <a:r>
              <a:rPr lang="en-US" baseline="-25000" dirty="0"/>
              <a:t>0</a:t>
            </a:r>
            <a:r>
              <a:rPr lang="en-US" dirty="0"/>
              <a:t> is true</a:t>
            </a:r>
          </a:p>
          <a:p>
            <a:r>
              <a:rPr lang="en-US" b="1" dirty="0"/>
              <a:t>False discovery rate (FDR):</a:t>
            </a:r>
            <a:br>
              <a:rPr lang="en-US" b="1" dirty="0"/>
            </a:br>
            <a:r>
              <a:rPr lang="en-US" dirty="0"/>
              <a:t>expected </a:t>
            </a:r>
            <a:r>
              <a:rPr lang="en-US" u="sng" dirty="0"/>
              <a:t>proportion</a:t>
            </a:r>
            <a:r>
              <a:rPr lang="en-US" dirty="0"/>
              <a:t> of Type I errors, assuming H</a:t>
            </a:r>
            <a:r>
              <a:rPr lang="en-US" baseline="-25000" dirty="0"/>
              <a:t>0 </a:t>
            </a:r>
            <a:r>
              <a:rPr lang="en-US" dirty="0"/>
              <a:t>is true</a:t>
            </a:r>
          </a:p>
          <a:p>
            <a:r>
              <a:rPr lang="en-US" dirty="0"/>
              <a:t>Which approach to use?</a:t>
            </a:r>
          </a:p>
          <a:p>
            <a:pPr lvl="1"/>
            <a:r>
              <a:rPr lang="en-US" dirty="0"/>
              <a:t>Controlling FWER is more</a:t>
            </a:r>
            <a:r>
              <a:rPr lang="en-US" b="1" dirty="0"/>
              <a:t> conservative</a:t>
            </a:r>
            <a:r>
              <a:rPr lang="en-US" dirty="0"/>
              <a:t>, and less</a:t>
            </a:r>
            <a:r>
              <a:rPr lang="en-US" b="1" dirty="0"/>
              <a:t> powerful</a:t>
            </a:r>
          </a:p>
          <a:p>
            <a:pPr lvl="1"/>
            <a:r>
              <a:rPr lang="en-US" dirty="0"/>
              <a:t>What are the costs of being wrong?</a:t>
            </a:r>
          </a:p>
        </p:txBody>
      </p:sp>
      <p:sp>
        <p:nvSpPr>
          <p:cNvPr id="8" name="Date Placeholder 7">
            <a:extLst>
              <a:ext uri="{FF2B5EF4-FFF2-40B4-BE49-F238E27FC236}">
                <a16:creationId xmlns:a16="http://schemas.microsoft.com/office/drawing/2014/main" id="{C3244A40-74BB-47DB-A15A-B1048E1DE8A4}"/>
              </a:ext>
            </a:extLst>
          </p:cNvPr>
          <p:cNvSpPr>
            <a:spLocks noGrp="1"/>
          </p:cNvSpPr>
          <p:nvPr>
            <p:ph type="dt" sz="half" idx="10"/>
          </p:nvPr>
        </p:nvSpPr>
        <p:spPr/>
        <p:txBody>
          <a:bodyPr/>
          <a:lstStyle/>
          <a:p>
            <a:r>
              <a:rPr lang="en-US"/>
              <a:t>11/5/2018</a:t>
            </a:r>
          </a:p>
        </p:txBody>
      </p:sp>
      <p:sp>
        <p:nvSpPr>
          <p:cNvPr id="9" name="Footer Placeholder 8">
            <a:extLst>
              <a:ext uri="{FF2B5EF4-FFF2-40B4-BE49-F238E27FC236}">
                <a16:creationId xmlns:a16="http://schemas.microsoft.com/office/drawing/2014/main" id="{263DE4A6-F3EF-41C3-9C48-E5B6EE87BEA9}"/>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989774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8163-D250-4D32-A12E-C990F06F1782}"/>
              </a:ext>
            </a:extLst>
          </p:cNvPr>
          <p:cNvSpPr>
            <a:spLocks noGrp="1"/>
          </p:cNvSpPr>
          <p:nvPr>
            <p:ph type="title"/>
          </p:nvPr>
        </p:nvSpPr>
        <p:spPr/>
        <p:txBody>
          <a:bodyPr/>
          <a:lstStyle/>
          <a:p>
            <a:r>
              <a:rPr lang="en-US" dirty="0"/>
              <a:t>Multiple comparisons: FWER (single-step)</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3082BDD-BD1D-42E6-B526-D36FFAA9F4BF}"/>
                  </a:ext>
                </a:extLst>
              </p:cNvPr>
              <p:cNvSpPr>
                <a:spLocks noGrp="1"/>
              </p:cNvSpPr>
              <p:nvPr>
                <p:ph idx="1"/>
              </p:nvPr>
            </p:nvSpPr>
            <p:spPr>
              <a:xfrm>
                <a:off x="838200" y="2498410"/>
                <a:ext cx="10515600" cy="3678552"/>
              </a:xfrm>
            </p:spPr>
            <p:txBody>
              <a:bodyPr>
                <a:normAutofit/>
              </a:bodyPr>
              <a:lstStyle/>
              <a:p>
                <a:r>
                  <a:rPr lang="en-US" b="1" dirty="0"/>
                  <a:t>Bonferroni correction</a:t>
                </a:r>
                <a:br>
                  <a:rPr lang="en-US" b="1" dirty="0"/>
                </a:br>
                <a:r>
                  <a:rPr lang="en-US" sz="2400" dirty="0"/>
                  <a:t>For each test, reject H</a:t>
                </a:r>
                <a:r>
                  <a:rPr lang="en-US" sz="2400" baseline="-25000" dirty="0"/>
                  <a:t>0</a:t>
                </a:r>
                <a:r>
                  <a:rPr lang="en-US" sz="2400" dirty="0"/>
                  <a:t> if p &lt;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𝛼</m:t>
                        </m:r>
                      </m:num>
                      <m:den>
                        <m:r>
                          <a:rPr lang="en-US" sz="2400" i="1">
                            <a:latin typeface="Cambria Math" panose="02040503050406030204" pitchFamily="18" charset="0"/>
                          </a:rPr>
                          <m:t>𝑚</m:t>
                        </m:r>
                      </m:den>
                    </m:f>
                  </m:oMath>
                </a14:m>
                <a:endParaRPr lang="en-US" sz="2400" dirty="0"/>
              </a:p>
              <a:p>
                <a:pPr lvl="1">
                  <a:buFont typeface="Calibri" panose="020F0502020204030204" pitchFamily="34" charset="0"/>
                  <a:buChar char="&gt;"/>
                </a:pPr>
                <a:r>
                  <a:rPr lang="en-US" sz="1600" dirty="0" err="1">
                    <a:latin typeface="Courier New" panose="02070309020205020404" pitchFamily="49" charset="0"/>
                    <a:cs typeface="Courier New" panose="02070309020205020404" pitchFamily="49" charset="0"/>
                  </a:rPr>
                  <a:t>p.adjust</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mydata$pvalues</a:t>
                </a:r>
                <a:r>
                  <a:rPr lang="en-US" sz="1600" dirty="0">
                    <a:latin typeface="Courier New" panose="02070309020205020404" pitchFamily="49" charset="0"/>
                    <a:cs typeface="Courier New" panose="02070309020205020404" pitchFamily="49" charset="0"/>
                  </a:rPr>
                  <a:t>, method=“</a:t>
                </a:r>
                <a:r>
                  <a:rPr lang="en-US" sz="1600" dirty="0" err="1">
                    <a:latin typeface="Courier New" panose="02070309020205020404" pitchFamily="49" charset="0"/>
                    <a:cs typeface="Courier New" panose="02070309020205020404" pitchFamily="49" charset="0"/>
                  </a:rPr>
                  <a:t>bonferroni</a:t>
                </a:r>
                <a:r>
                  <a:rPr lang="en-US" sz="1600" dirty="0">
                    <a:latin typeface="Courier New" panose="02070309020205020404" pitchFamily="49" charset="0"/>
                    <a:cs typeface="Courier New" panose="02070309020205020404" pitchFamily="49" charset="0"/>
                  </a:rPr>
                  <a:t>”)</a:t>
                </a:r>
              </a:p>
              <a:p>
                <a:r>
                  <a:rPr lang="en-US" b="1" dirty="0"/>
                  <a:t>Tukey procedure for pairwise comparisons</a:t>
                </a:r>
                <a:br>
                  <a:rPr lang="en-US" b="1" dirty="0"/>
                </a:br>
                <a:r>
                  <a:rPr lang="en-US" sz="2400" dirty="0"/>
                  <a:t>For each pair of means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𝐴</m:t>
                        </m:r>
                      </m:sub>
                    </m:sSub>
                    <m:r>
                      <a:rPr lang="en-US" sz="2400" b="0" i="0" smtClean="0">
                        <a:latin typeface="Cambria Math" panose="02040503050406030204" pitchFamily="18" charset="0"/>
                      </a:rPr>
                      <m:t> </m:t>
                    </m:r>
                    <m:r>
                      <m:rPr>
                        <m:sty m:val="p"/>
                      </m:rPr>
                      <a:rPr lang="en-US" sz="2400" b="0" i="0" smtClean="0">
                        <a:latin typeface="Cambria Math" panose="02040503050406030204" pitchFamily="18" charset="0"/>
                      </a:rPr>
                      <m:t>and</m:t>
                    </m:r>
                  </m:oMath>
                </a14:m>
                <a:r>
                  <a:rPr lang="en-US" sz="2400" dirty="0"/>
                  <a:t> </a:t>
                </a:r>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𝑌</m:t>
                        </m:r>
                      </m:e>
                      <m:sub>
                        <m:r>
                          <a:rPr lang="en-US" sz="2400" b="0" i="1" smtClean="0">
                            <a:latin typeface="Cambria Math" panose="02040503050406030204" pitchFamily="18" charset="0"/>
                          </a:rPr>
                          <m:t>𝐵</m:t>
                        </m:r>
                      </m:sub>
                    </m:sSub>
                  </m:oMath>
                </a14:m>
                <a:r>
                  <a:rPr lang="en-US" sz="2400" dirty="0"/>
                  <a:t>, reject H</a:t>
                </a:r>
                <a:r>
                  <a:rPr lang="en-US" sz="2400" baseline="-25000" dirty="0"/>
                  <a:t>0</a:t>
                </a:r>
                <a:r>
                  <a:rPr lang="en-US" sz="2400" dirty="0"/>
                  <a:t> if </a:t>
                </a:r>
                <a14:m>
                  <m:oMath xmlns:m="http://schemas.openxmlformats.org/officeDocument/2006/math">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𝐴</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𝐵</m:t>
                            </m:r>
                          </m:sub>
                        </m:sSub>
                      </m:num>
                      <m:den>
                        <m:r>
                          <a:rPr lang="en-US" sz="2400" i="1">
                            <a:latin typeface="Cambria Math" panose="02040503050406030204" pitchFamily="18" charset="0"/>
                          </a:rPr>
                          <m:t>𝑆𝐸</m:t>
                        </m:r>
                      </m:den>
                    </m:f>
                    <m:r>
                      <a:rPr lang="en-US" sz="2400" i="1">
                        <a:latin typeface="Cambria Math" panose="02040503050406030204" pitchFamily="18" charset="0"/>
                      </a:rPr>
                      <m:t>&gt;</m:t>
                    </m:r>
                    <m:sSub>
                      <m:sSubPr>
                        <m:ctrlPr>
                          <a:rPr lang="en-US" sz="2400" i="1">
                            <a:latin typeface="Cambria Math" panose="02040503050406030204" pitchFamily="18" charset="0"/>
                          </a:rPr>
                        </m:ctrlPr>
                      </m:sSubPr>
                      <m:e>
                        <m:r>
                          <a:rPr lang="en-US" sz="2400" i="1">
                            <a:latin typeface="Cambria Math" panose="02040503050406030204" pitchFamily="18" charset="0"/>
                          </a:rPr>
                          <m:t>𝑞</m:t>
                        </m:r>
                      </m:e>
                      <m:sub>
                        <m:r>
                          <a:rPr lang="en-US" sz="2400" i="1">
                            <a:latin typeface="Cambria Math" panose="02040503050406030204" pitchFamily="18" charset="0"/>
                          </a:rPr>
                          <m:t>𝑐𝑟𝑖𝑡</m:t>
                        </m:r>
                      </m:sub>
                    </m:sSub>
                  </m:oMath>
                </a14:m>
                <a:endParaRPr lang="en-US" sz="2400" dirty="0"/>
              </a:p>
              <a:p>
                <a:pPr lvl="1">
                  <a:buFont typeface="Calibri" panose="020F0502020204030204" pitchFamily="34" charset="0"/>
                  <a:buChar char="&gt;"/>
                </a:pPr>
                <a:r>
                  <a:rPr lang="en-US" sz="1600" dirty="0" err="1">
                    <a:latin typeface="Courier New" panose="02070309020205020404" pitchFamily="49" charset="0"/>
                    <a:cs typeface="Courier New" panose="02070309020205020404" pitchFamily="49" charset="0"/>
                  </a:rPr>
                  <a:t>multcomp</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ghlt</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mymodel</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linfct</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mcp</a:t>
                </a:r>
                <a:r>
                  <a:rPr lang="en-US" sz="1600" dirty="0">
                    <a:latin typeface="Courier New" panose="02070309020205020404" pitchFamily="49" charset="0"/>
                    <a:cs typeface="Courier New" panose="02070309020205020404" pitchFamily="49" charset="0"/>
                  </a:rPr>
                  <a:t>(group=“Tukey”))</a:t>
                </a:r>
              </a:p>
              <a:p>
                <a:pPr lvl="1">
                  <a:buFont typeface="Calibri" panose="020F0502020204030204" pitchFamily="34" charset="0"/>
                  <a:buChar char="&gt;"/>
                </a:pPr>
                <a:r>
                  <a:rPr lang="en-US" sz="1600" dirty="0" err="1">
                    <a:latin typeface="Courier New" panose="02070309020205020404" pitchFamily="49" charset="0"/>
                    <a:cs typeface="Courier New" panose="02070309020205020404" pitchFamily="49" charset="0"/>
                  </a:rPr>
                  <a:t>emmeans</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emtrends</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mymodel</a:t>
                </a:r>
                <a:r>
                  <a:rPr lang="en-US" sz="1600" dirty="0">
                    <a:latin typeface="Courier New" panose="02070309020205020404" pitchFamily="49" charset="0"/>
                    <a:cs typeface="Courier New" panose="02070309020205020404" pitchFamily="49" charset="0"/>
                  </a:rPr>
                  <a:t>, pairwise ~ group, var = “</a:t>
                </a:r>
                <a:r>
                  <a:rPr lang="en-US" sz="1600" dirty="0" err="1">
                    <a:latin typeface="Courier New" panose="02070309020205020404" pitchFamily="49" charset="0"/>
                    <a:cs typeface="Courier New" panose="02070309020205020404" pitchFamily="49" charset="0"/>
                  </a:rPr>
                  <a:t>MyVar</a:t>
                </a:r>
                <a:r>
                  <a:rPr lang="en-US" sz="1600" dirty="0">
                    <a:latin typeface="Courier New" panose="02070309020205020404" pitchFamily="49" charset="0"/>
                    <a:cs typeface="Courier New" panose="02070309020205020404" pitchFamily="49" charset="0"/>
                  </a:rPr>
                  <a:t>", mult.name=“group")</a:t>
                </a:r>
              </a:p>
              <a:p>
                <a:r>
                  <a:rPr lang="en-US" dirty="0"/>
                  <a:t>Bonferroni is flexible (no assumptions) but extremely conservative.</a:t>
                </a:r>
                <a:br>
                  <a:rPr lang="en-US" dirty="0"/>
                </a:br>
                <a:r>
                  <a:rPr lang="en-US" dirty="0"/>
                  <a:t>Tukey only applies in certain settings.</a:t>
                </a:r>
                <a:endParaRPr lang="en-US" sz="1600" dirty="0">
                  <a:latin typeface="Courier New" panose="02070309020205020404" pitchFamily="49" charset="0"/>
                  <a:cs typeface="Courier New" panose="02070309020205020404" pitchFamily="49" charset="0"/>
                </a:endParaRPr>
              </a:p>
            </p:txBody>
          </p:sp>
        </mc:Choice>
        <mc:Fallback xmlns="">
          <p:sp>
            <p:nvSpPr>
              <p:cNvPr id="4" name="Content Placeholder 3">
                <a:extLst>
                  <a:ext uri="{FF2B5EF4-FFF2-40B4-BE49-F238E27FC236}">
                    <a16:creationId xmlns:a16="http://schemas.microsoft.com/office/drawing/2014/main" id="{43082BDD-BD1D-42E6-B526-D36FFAA9F4BF}"/>
                  </a:ext>
                </a:extLst>
              </p:cNvPr>
              <p:cNvSpPr>
                <a:spLocks noGrp="1" noRot="1" noChangeAspect="1" noMove="1" noResize="1" noEditPoints="1" noAdjustHandles="1" noChangeArrowheads="1" noChangeShapeType="1" noTextEdit="1"/>
              </p:cNvSpPr>
              <p:nvPr>
                <p:ph idx="1"/>
              </p:nvPr>
            </p:nvSpPr>
            <p:spPr>
              <a:xfrm>
                <a:off x="838200" y="2498410"/>
                <a:ext cx="10515600" cy="3678552"/>
              </a:xfrm>
              <a:blipFill>
                <a:blip r:embed="rId2"/>
                <a:stretch>
                  <a:fillRect l="-1043" t="-2819" b="-3814"/>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E8D6991F-A5A8-48AD-857B-CD367E84E036}"/>
              </a:ext>
            </a:extLst>
          </p:cNvPr>
          <p:cNvSpPr>
            <a:spLocks noGrp="1"/>
          </p:cNvSpPr>
          <p:nvPr>
            <p:ph type="dt" sz="half" idx="10"/>
          </p:nvPr>
        </p:nvSpPr>
        <p:spPr/>
        <p:txBody>
          <a:bodyPr/>
          <a:lstStyle/>
          <a:p>
            <a:r>
              <a:rPr lang="en-US"/>
              <a:t>11/5/2018</a:t>
            </a:r>
          </a:p>
        </p:txBody>
      </p:sp>
      <p:sp>
        <p:nvSpPr>
          <p:cNvPr id="6" name="Footer Placeholder 5">
            <a:extLst>
              <a:ext uri="{FF2B5EF4-FFF2-40B4-BE49-F238E27FC236}">
                <a16:creationId xmlns:a16="http://schemas.microsoft.com/office/drawing/2014/main" id="{00E13C53-FFA6-4AB9-9C91-C7009C4967A4}"/>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794613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8163-D250-4D32-A12E-C990F06F1782}"/>
              </a:ext>
            </a:extLst>
          </p:cNvPr>
          <p:cNvSpPr>
            <a:spLocks noGrp="1"/>
          </p:cNvSpPr>
          <p:nvPr>
            <p:ph type="title"/>
          </p:nvPr>
        </p:nvSpPr>
        <p:spPr/>
        <p:txBody>
          <a:bodyPr/>
          <a:lstStyle/>
          <a:p>
            <a:r>
              <a:rPr lang="en-US" dirty="0"/>
              <a:t>Multiple comparisons: FWER (sequential)</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3082BDD-BD1D-42E6-B526-D36FFAA9F4BF}"/>
                  </a:ext>
                </a:extLst>
              </p:cNvPr>
              <p:cNvSpPr>
                <a:spLocks noGrp="1"/>
              </p:cNvSpPr>
              <p:nvPr>
                <p:ph idx="1"/>
              </p:nvPr>
            </p:nvSpPr>
            <p:spPr>
              <a:xfrm>
                <a:off x="838200" y="2498410"/>
                <a:ext cx="10515600" cy="3678552"/>
              </a:xfrm>
            </p:spPr>
            <p:txBody>
              <a:bodyPr>
                <a:normAutofit lnSpcReduction="10000"/>
              </a:bodyPr>
              <a:lstStyle/>
              <a:p>
                <a:r>
                  <a:rPr lang="en-US" b="1" dirty="0"/>
                  <a:t>Holm-Bonferroni </a:t>
                </a:r>
                <a:r>
                  <a:rPr lang="en-US" dirty="0"/>
                  <a:t>and</a:t>
                </a:r>
                <a:r>
                  <a:rPr lang="en-US" b="1" dirty="0"/>
                  <a:t> Hochberg</a:t>
                </a:r>
                <a:r>
                  <a:rPr lang="en-US" dirty="0"/>
                  <a:t/>
                </a:r>
                <a:br>
                  <a:rPr lang="en-US" dirty="0"/>
                </a:br>
                <a:r>
                  <a:rPr lang="en-US" sz="2400" dirty="0"/>
                  <a:t>Sort your </a:t>
                </a:r>
                <a14:m>
                  <m:oMath xmlns:m="http://schemas.openxmlformats.org/officeDocument/2006/math">
                    <m:r>
                      <a:rPr lang="en-US" sz="2400" i="1">
                        <a:latin typeface="Cambria Math" panose="02040503050406030204" pitchFamily="18" charset="0"/>
                      </a:rPr>
                      <m:t>𝑚</m:t>
                    </m:r>
                  </m:oMath>
                </a14:m>
                <a:r>
                  <a:rPr lang="en-US" sz="2400" dirty="0"/>
                  <a:t> p-values from smallest to largest and compare against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𝛼</m:t>
                        </m:r>
                      </m:num>
                      <m:den>
                        <m:r>
                          <a:rPr lang="en-US" sz="2400" i="1">
                            <a:latin typeface="Cambria Math" panose="02040503050406030204" pitchFamily="18" charset="0"/>
                          </a:rPr>
                          <m:t>𝑚</m:t>
                        </m:r>
                        <m:r>
                          <a:rPr lang="en-US" sz="2400" i="1">
                            <a:latin typeface="Cambria Math" panose="02040503050406030204" pitchFamily="18" charset="0"/>
                          </a:rPr>
                          <m:t>−</m:t>
                        </m:r>
                        <m:r>
                          <a:rPr lang="en-US" sz="2400" i="1">
                            <a:latin typeface="Cambria Math" panose="02040503050406030204" pitchFamily="18" charset="0"/>
                          </a:rPr>
                          <m:t>𝑘</m:t>
                        </m:r>
                        <m:r>
                          <a:rPr lang="en-US" sz="2400" i="1">
                            <a:latin typeface="Cambria Math" panose="02040503050406030204" pitchFamily="18" charset="0"/>
                          </a:rPr>
                          <m:t>+1</m:t>
                        </m:r>
                      </m:den>
                    </m:f>
                    <m:r>
                      <a:rPr lang="en-US" sz="2400">
                        <a:latin typeface="Cambria Math" panose="02040503050406030204" pitchFamily="18" charset="0"/>
                      </a:rPr>
                      <m:t>:</m:t>
                    </m:r>
                  </m:oMath>
                </a14:m>
                <a:endParaRPr lang="en-US" sz="2400" dirty="0"/>
              </a:p>
              <a:p>
                <a:pPr lvl="1"/>
                <a:r>
                  <a:rPr lang="en-US" dirty="0"/>
                  <a:t>Holm-Bonferroni: Find the </a:t>
                </a:r>
                <a:r>
                  <a:rPr lang="en-US" u="sng" dirty="0"/>
                  <a:t>smallest</a:t>
                </a:r>
                <a:r>
                  <a:rPr lang="en-US" dirty="0"/>
                  <a:t> value 𝑘 where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𝑘</m:t>
                        </m:r>
                      </m:sub>
                    </m:sSub>
                  </m:oMath>
                </a14:m>
                <a:r>
                  <a:rPr lang="en-US" dirty="0"/>
                  <a:t> &gt;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𝛼</m:t>
                        </m:r>
                      </m:num>
                      <m:den>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+1</m:t>
                        </m:r>
                      </m:den>
                    </m:f>
                  </m:oMath>
                </a14:m>
                <a:r>
                  <a:rPr lang="en-US" dirty="0"/>
                  <a:t>. </a:t>
                </a:r>
                <a:br>
                  <a:rPr lang="en-US" dirty="0"/>
                </a:br>
                <a:r>
                  <a:rPr lang="en-US" dirty="0"/>
                  <a:t>Reject H</a:t>
                </a:r>
                <a:r>
                  <a:rPr lang="en-US" baseline="-25000" dirty="0"/>
                  <a:t>0(1)</a:t>
                </a:r>
                <a:r>
                  <a:rPr lang="en-US" dirty="0"/>
                  <a:t> – H</a:t>
                </a:r>
                <a:r>
                  <a:rPr lang="en-US" baseline="-25000" dirty="0"/>
                  <a:t>0(𝑘-1)</a:t>
                </a:r>
                <a:r>
                  <a:rPr lang="en-US" dirty="0"/>
                  <a:t>.</a:t>
                </a:r>
              </a:p>
              <a:p>
                <a:pPr lvl="2">
                  <a:buFont typeface="Calibri" panose="020F0502020204030204" pitchFamily="34" charset="0"/>
                  <a:buChar char="&gt;"/>
                </a:pPr>
                <a:r>
                  <a:rPr lang="en-US" sz="1700" dirty="0" err="1">
                    <a:latin typeface="Courier New" panose="02070309020205020404" pitchFamily="49" charset="0"/>
                    <a:cs typeface="Courier New" panose="02070309020205020404" pitchFamily="49" charset="0"/>
                  </a:rPr>
                  <a:t>p.adjust</a:t>
                </a:r>
                <a:r>
                  <a:rPr lang="en-US" sz="1700" dirty="0">
                    <a:latin typeface="Courier New" panose="02070309020205020404" pitchFamily="49" charset="0"/>
                    <a:cs typeface="Courier New" panose="02070309020205020404" pitchFamily="49" charset="0"/>
                  </a:rPr>
                  <a:t>(</a:t>
                </a:r>
                <a:r>
                  <a:rPr lang="en-US" sz="1700" dirty="0" err="1">
                    <a:latin typeface="Courier New" panose="02070309020205020404" pitchFamily="49" charset="0"/>
                    <a:cs typeface="Courier New" panose="02070309020205020404" pitchFamily="49" charset="0"/>
                  </a:rPr>
                  <a:t>mydata$pvalues</a:t>
                </a:r>
                <a:r>
                  <a:rPr lang="en-US" sz="1700" dirty="0">
                    <a:latin typeface="Courier New" panose="02070309020205020404" pitchFamily="49" charset="0"/>
                    <a:cs typeface="Courier New" panose="02070309020205020404" pitchFamily="49" charset="0"/>
                  </a:rPr>
                  <a:t>, method=“holm”)</a:t>
                </a:r>
                <a:endParaRPr lang="en-US" sz="1700" dirty="0"/>
              </a:p>
              <a:p>
                <a:pPr lvl="1"/>
                <a:r>
                  <a:rPr lang="en-US" dirty="0"/>
                  <a:t>Hochberg: Find the </a:t>
                </a:r>
                <a:r>
                  <a:rPr lang="en-US" u="sng" dirty="0"/>
                  <a:t>largest</a:t>
                </a:r>
                <a:r>
                  <a:rPr lang="en-US" dirty="0"/>
                  <a:t> value 𝑘 where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𝑘</m:t>
                        </m:r>
                      </m:sub>
                    </m:sSub>
                  </m:oMath>
                </a14:m>
                <a:r>
                  <a:rPr lang="en-US" dirty="0"/>
                  <a:t> ≤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𝛼</m:t>
                        </m:r>
                      </m:num>
                      <m:den>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+1</m:t>
                        </m:r>
                      </m:den>
                    </m:f>
                  </m:oMath>
                </a14:m>
                <a:r>
                  <a:rPr lang="en-US" dirty="0"/>
                  <a:t>. </a:t>
                </a:r>
                <a:br>
                  <a:rPr lang="en-US" dirty="0"/>
                </a:br>
                <a:r>
                  <a:rPr lang="en-US" dirty="0"/>
                  <a:t>Reject H</a:t>
                </a:r>
                <a:r>
                  <a:rPr lang="en-US" baseline="-25000" dirty="0"/>
                  <a:t>0(1)</a:t>
                </a:r>
                <a:r>
                  <a:rPr lang="en-US" dirty="0"/>
                  <a:t> – H</a:t>
                </a:r>
                <a:r>
                  <a:rPr lang="en-US" baseline="-25000" dirty="0"/>
                  <a:t>0(𝑘)</a:t>
                </a:r>
                <a:r>
                  <a:rPr lang="en-US" dirty="0"/>
                  <a:t>.</a:t>
                </a:r>
                <a:endParaRPr lang="en-US" sz="1600" dirty="0">
                  <a:latin typeface="Courier New" panose="02070309020205020404" pitchFamily="49" charset="0"/>
                  <a:cs typeface="Courier New" panose="02070309020205020404" pitchFamily="49" charset="0"/>
                </a:endParaRPr>
              </a:p>
              <a:p>
                <a:pPr lvl="2">
                  <a:buFont typeface="Calibri" panose="020F0502020204030204" pitchFamily="34" charset="0"/>
                  <a:buChar char="&gt;"/>
                </a:pPr>
                <a:r>
                  <a:rPr lang="en-US" sz="1700" dirty="0" err="1">
                    <a:latin typeface="Courier New" panose="02070309020205020404" pitchFamily="49" charset="0"/>
                    <a:cs typeface="Courier New" panose="02070309020205020404" pitchFamily="49" charset="0"/>
                  </a:rPr>
                  <a:t>p.adjust</a:t>
                </a:r>
                <a:r>
                  <a:rPr lang="en-US" sz="1700" dirty="0">
                    <a:latin typeface="Courier New" panose="02070309020205020404" pitchFamily="49" charset="0"/>
                    <a:cs typeface="Courier New" panose="02070309020205020404" pitchFamily="49" charset="0"/>
                  </a:rPr>
                  <a:t>(</a:t>
                </a:r>
                <a:r>
                  <a:rPr lang="en-US" sz="1700" dirty="0" err="1">
                    <a:latin typeface="Courier New" panose="02070309020205020404" pitchFamily="49" charset="0"/>
                    <a:cs typeface="Courier New" panose="02070309020205020404" pitchFamily="49" charset="0"/>
                  </a:rPr>
                  <a:t>mydata$pvalues</a:t>
                </a:r>
                <a:r>
                  <a:rPr lang="en-US" sz="1700" dirty="0">
                    <a:latin typeface="Courier New" panose="02070309020205020404" pitchFamily="49" charset="0"/>
                    <a:cs typeface="Courier New" panose="02070309020205020404" pitchFamily="49" charset="0"/>
                  </a:rPr>
                  <a:t>, method=“</a:t>
                </a:r>
                <a:r>
                  <a:rPr lang="en-US" sz="1700" dirty="0" err="1">
                    <a:latin typeface="Courier New" panose="02070309020205020404" pitchFamily="49" charset="0"/>
                    <a:cs typeface="Courier New" panose="02070309020205020404" pitchFamily="49" charset="0"/>
                  </a:rPr>
                  <a:t>hochberg</a:t>
                </a:r>
                <a:r>
                  <a:rPr lang="en-US" sz="1700" dirty="0">
                    <a:latin typeface="Courier New" panose="02070309020205020404" pitchFamily="49" charset="0"/>
                    <a:cs typeface="Courier New" panose="02070309020205020404" pitchFamily="49" charset="0"/>
                  </a:rPr>
                  <a:t>”)</a:t>
                </a:r>
              </a:p>
              <a:p>
                <a:r>
                  <a:rPr lang="en-US" dirty="0"/>
                  <a:t>Hochberg assumes non-negative dependence. H-B is flexible.</a:t>
                </a:r>
                <a:endParaRPr lang="en-US" sz="2000" dirty="0">
                  <a:latin typeface="Courier New" panose="02070309020205020404" pitchFamily="49" charset="0"/>
                  <a:cs typeface="Courier New" panose="02070309020205020404" pitchFamily="49" charset="0"/>
                </a:endParaRPr>
              </a:p>
              <a:p>
                <a:pPr lvl="1">
                  <a:buFont typeface="Calibri" panose="020F0502020204030204" pitchFamily="34" charset="0"/>
                  <a:buChar char="&gt;"/>
                </a:pPr>
                <a:endParaRPr lang="en-US" sz="1600" dirty="0">
                  <a:latin typeface="Courier New" panose="02070309020205020404" pitchFamily="49" charset="0"/>
                  <a:cs typeface="Courier New" panose="02070309020205020404" pitchFamily="49" charset="0"/>
                </a:endParaRPr>
              </a:p>
            </p:txBody>
          </p:sp>
        </mc:Choice>
        <mc:Fallback xmlns="">
          <p:sp>
            <p:nvSpPr>
              <p:cNvPr id="4" name="Content Placeholder 3">
                <a:extLst>
                  <a:ext uri="{FF2B5EF4-FFF2-40B4-BE49-F238E27FC236}">
                    <a16:creationId xmlns:a16="http://schemas.microsoft.com/office/drawing/2014/main" id="{43082BDD-BD1D-42E6-B526-D36FFAA9F4BF}"/>
                  </a:ext>
                </a:extLst>
              </p:cNvPr>
              <p:cNvSpPr>
                <a:spLocks noGrp="1" noRot="1" noChangeAspect="1" noMove="1" noResize="1" noEditPoints="1" noAdjustHandles="1" noChangeArrowheads="1" noChangeShapeType="1" noTextEdit="1"/>
              </p:cNvSpPr>
              <p:nvPr>
                <p:ph idx="1"/>
              </p:nvPr>
            </p:nvSpPr>
            <p:spPr>
              <a:xfrm>
                <a:off x="838200" y="2498410"/>
                <a:ext cx="10515600" cy="3678552"/>
              </a:xfrm>
              <a:blipFill>
                <a:blip r:embed="rId2"/>
                <a:stretch>
                  <a:fillRect l="-1043" t="-3814"/>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E8D6991F-A5A8-48AD-857B-CD367E84E036}"/>
              </a:ext>
            </a:extLst>
          </p:cNvPr>
          <p:cNvSpPr>
            <a:spLocks noGrp="1"/>
          </p:cNvSpPr>
          <p:nvPr>
            <p:ph type="dt" sz="half" idx="10"/>
          </p:nvPr>
        </p:nvSpPr>
        <p:spPr/>
        <p:txBody>
          <a:bodyPr/>
          <a:lstStyle/>
          <a:p>
            <a:r>
              <a:rPr lang="en-US"/>
              <a:t>11/5/2018</a:t>
            </a:r>
          </a:p>
        </p:txBody>
      </p:sp>
      <p:sp>
        <p:nvSpPr>
          <p:cNvPr id="6" name="Footer Placeholder 5">
            <a:extLst>
              <a:ext uri="{FF2B5EF4-FFF2-40B4-BE49-F238E27FC236}">
                <a16:creationId xmlns:a16="http://schemas.microsoft.com/office/drawing/2014/main" id="{00E13C53-FFA6-4AB9-9C91-C7009C4967A4}"/>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912791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8163-D250-4D32-A12E-C990F06F1782}"/>
              </a:ext>
            </a:extLst>
          </p:cNvPr>
          <p:cNvSpPr>
            <a:spLocks noGrp="1"/>
          </p:cNvSpPr>
          <p:nvPr>
            <p:ph type="title"/>
          </p:nvPr>
        </p:nvSpPr>
        <p:spPr/>
        <p:txBody>
          <a:bodyPr/>
          <a:lstStyle/>
          <a:p>
            <a:r>
              <a:rPr lang="en-US" dirty="0"/>
              <a:t>Multiple comparisons: FDR procedures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3082BDD-BD1D-42E6-B526-D36FFAA9F4BF}"/>
                  </a:ext>
                </a:extLst>
              </p:cNvPr>
              <p:cNvSpPr>
                <a:spLocks noGrp="1"/>
              </p:cNvSpPr>
              <p:nvPr>
                <p:ph idx="1"/>
              </p:nvPr>
            </p:nvSpPr>
            <p:spPr>
              <a:xfrm>
                <a:off x="838200" y="2498410"/>
                <a:ext cx="10515600" cy="3678553"/>
              </a:xfrm>
            </p:spPr>
            <p:txBody>
              <a:bodyPr>
                <a:normAutofit lnSpcReduction="10000"/>
              </a:bodyPr>
              <a:lstStyle/>
              <a:p>
                <a:r>
                  <a:rPr lang="en-US" b="1" dirty="0"/>
                  <a:t>Benjamini-Hochberg </a:t>
                </a:r>
                <a:r>
                  <a:rPr lang="en-US" dirty="0"/>
                  <a:t>and</a:t>
                </a:r>
                <a:r>
                  <a:rPr lang="en-US" b="1" dirty="0"/>
                  <a:t> </a:t>
                </a:r>
                <a:r>
                  <a:rPr lang="en-US" b="1" dirty="0" err="1"/>
                  <a:t>Benjamini</a:t>
                </a:r>
                <a:r>
                  <a:rPr lang="en-US" b="1" dirty="0"/>
                  <a:t>-Hochberg-</a:t>
                </a:r>
                <a:r>
                  <a:rPr lang="en-US" b="1" dirty="0" err="1"/>
                  <a:t>Yekutieli</a:t>
                </a:r>
                <a:r>
                  <a:rPr lang="en-US" dirty="0"/>
                  <a:t/>
                </a:r>
                <a:br>
                  <a:rPr lang="en-US" dirty="0"/>
                </a:br>
                <a:r>
                  <a:rPr lang="en-US" sz="2400" dirty="0"/>
                  <a:t>Sort your </a:t>
                </a:r>
                <a14:m>
                  <m:oMath xmlns:m="http://schemas.openxmlformats.org/officeDocument/2006/math">
                    <m:r>
                      <a:rPr lang="en-US" sz="2400" i="1">
                        <a:latin typeface="Cambria Math" panose="02040503050406030204" pitchFamily="18" charset="0"/>
                      </a:rPr>
                      <m:t>𝑚</m:t>
                    </m:r>
                  </m:oMath>
                </a14:m>
                <a:r>
                  <a:rPr lang="en-US" sz="2400" dirty="0"/>
                  <a:t> p-values from smallest to largest</a:t>
                </a:r>
                <a14:m>
                  <m:oMath xmlns:m="http://schemas.openxmlformats.org/officeDocument/2006/math">
                    <m:r>
                      <a:rPr lang="en-US" sz="2400">
                        <a:latin typeface="Cambria Math" panose="02040503050406030204" pitchFamily="18" charset="0"/>
                      </a:rPr>
                      <m:t>:</m:t>
                    </m:r>
                  </m:oMath>
                </a14:m>
                <a:endParaRPr lang="en-US" sz="2400" dirty="0"/>
              </a:p>
              <a:p>
                <a:pPr lvl="1"/>
                <a:r>
                  <a:rPr lang="en-US" dirty="0" err="1"/>
                  <a:t>Benjamini</a:t>
                </a:r>
                <a:r>
                  <a:rPr lang="en-US" dirty="0"/>
                  <a:t>-Hochberg: Find the </a:t>
                </a:r>
                <a:r>
                  <a:rPr lang="en-US" u="sng" dirty="0"/>
                  <a:t>largest</a:t>
                </a:r>
                <a:r>
                  <a:rPr lang="en-US" dirty="0"/>
                  <a:t> value 𝑘 where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𝑘</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𝑘</m:t>
                        </m:r>
                      </m:num>
                      <m:den>
                        <m:r>
                          <a:rPr lang="en-US" i="1">
                            <a:latin typeface="Cambria Math" panose="02040503050406030204" pitchFamily="18" charset="0"/>
                          </a:rPr>
                          <m:t>𝑚</m:t>
                        </m:r>
                      </m:den>
                    </m:f>
                    <m:r>
                      <a:rPr lang="en-US" i="1">
                        <a:latin typeface="Cambria Math" panose="02040503050406030204" pitchFamily="18" charset="0"/>
                      </a:rPr>
                      <m:t>𝛼</m:t>
                    </m:r>
                  </m:oMath>
                </a14:m>
                <a:r>
                  <a:rPr lang="en-US" dirty="0"/>
                  <a:t>. </a:t>
                </a:r>
                <a:br>
                  <a:rPr lang="en-US" dirty="0"/>
                </a:br>
                <a:r>
                  <a:rPr lang="en-US" dirty="0"/>
                  <a:t>Reject H</a:t>
                </a:r>
                <a:r>
                  <a:rPr lang="en-US" baseline="-25000" dirty="0"/>
                  <a:t>0(1)</a:t>
                </a:r>
                <a:r>
                  <a:rPr lang="en-US" dirty="0"/>
                  <a:t> – H</a:t>
                </a:r>
                <a:r>
                  <a:rPr lang="en-US" baseline="-25000" dirty="0"/>
                  <a:t>0(𝑘)</a:t>
                </a:r>
                <a:r>
                  <a:rPr lang="en-US" dirty="0"/>
                  <a:t>.</a:t>
                </a:r>
              </a:p>
              <a:p>
                <a:pPr lvl="2">
                  <a:buFont typeface="Calibri" panose="020F0502020204030204" pitchFamily="34" charset="0"/>
                  <a:buChar char="&gt;"/>
                </a:pPr>
                <a:r>
                  <a:rPr lang="en-US" sz="1800" dirty="0">
                    <a:latin typeface="Courier New" panose="02070309020205020404" pitchFamily="49" charset="0"/>
                    <a:cs typeface="Courier New" panose="02070309020205020404" pitchFamily="49" charset="0"/>
                  </a:rPr>
                  <a:t>p.adjust(</a:t>
                </a:r>
                <a:r>
                  <a:rPr lang="en-US" sz="1800" dirty="0" err="1">
                    <a:latin typeface="Courier New" panose="02070309020205020404" pitchFamily="49" charset="0"/>
                    <a:cs typeface="Courier New" panose="02070309020205020404" pitchFamily="49" charset="0"/>
                  </a:rPr>
                  <a:t>mydata$pvalues</a:t>
                </a:r>
                <a:r>
                  <a:rPr lang="en-US" sz="1800" dirty="0">
                    <a:latin typeface="Courier New" panose="02070309020205020404" pitchFamily="49" charset="0"/>
                    <a:cs typeface="Courier New" panose="02070309020205020404" pitchFamily="49" charset="0"/>
                  </a:rPr>
                  <a:t>, method=“BH”)</a:t>
                </a:r>
                <a:endParaRPr lang="en-US" sz="1700" dirty="0"/>
              </a:p>
              <a:p>
                <a:pPr lvl="1"/>
                <a:r>
                  <a:rPr lang="en-US" dirty="0" err="1"/>
                  <a:t>Benjamini</a:t>
                </a:r>
                <a:r>
                  <a:rPr lang="en-US" dirty="0"/>
                  <a:t>-Hochberg-</a:t>
                </a:r>
                <a:r>
                  <a:rPr lang="en-US" dirty="0" err="1"/>
                  <a:t>Yekutieli</a:t>
                </a:r>
                <a:r>
                  <a:rPr lang="en-US" dirty="0"/>
                  <a:t>: Find the </a:t>
                </a:r>
                <a:r>
                  <a:rPr lang="en-US" u="sng" dirty="0"/>
                  <a:t>largest</a:t>
                </a:r>
                <a:r>
                  <a:rPr lang="en-US" dirty="0"/>
                  <a:t> value 𝑘 where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𝑘</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𝑘</m:t>
                        </m:r>
                      </m:num>
                      <m:den>
                        <m:r>
                          <a:rPr lang="en-US" i="1">
                            <a:latin typeface="Cambria Math" panose="02040503050406030204" pitchFamily="18" charset="0"/>
                          </a:rPr>
                          <m:t>𝑚</m:t>
                        </m:r>
                        <m:r>
                          <a:rPr lang="en-US"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den>
                    </m:f>
                    <m:r>
                      <a:rPr lang="en-US" i="1">
                        <a:latin typeface="Cambria Math" panose="02040503050406030204" pitchFamily="18" charset="0"/>
                      </a:rPr>
                      <m:t>𝛼</m:t>
                    </m:r>
                  </m:oMath>
                </a14:m>
                <a:r>
                  <a:rPr lang="en-US" dirty="0"/>
                  <a:t>. </a:t>
                </a:r>
                <a:br>
                  <a:rPr lang="en-US" dirty="0"/>
                </a:br>
                <a:r>
                  <a:rPr lang="en-US" dirty="0"/>
                  <a:t>Reject H</a:t>
                </a:r>
                <a:r>
                  <a:rPr lang="en-US" baseline="-25000" dirty="0"/>
                  <a:t>0(1)</a:t>
                </a:r>
                <a:r>
                  <a:rPr lang="en-US" dirty="0"/>
                  <a:t> – H</a:t>
                </a:r>
                <a:r>
                  <a:rPr lang="en-US" baseline="-25000" dirty="0"/>
                  <a:t>0(𝑘)</a:t>
                </a:r>
                <a:r>
                  <a:rPr lang="en-US" dirty="0"/>
                  <a:t>.</a:t>
                </a:r>
                <a:endParaRPr lang="en-US" sz="1600" dirty="0">
                  <a:latin typeface="Courier New" panose="02070309020205020404" pitchFamily="49" charset="0"/>
                  <a:cs typeface="Courier New" panose="02070309020205020404" pitchFamily="49" charset="0"/>
                </a:endParaRPr>
              </a:p>
              <a:p>
                <a:pPr lvl="2">
                  <a:buFont typeface="Calibri" panose="020F0502020204030204" pitchFamily="34" charset="0"/>
                  <a:buChar char="&gt;"/>
                </a:pPr>
                <a:r>
                  <a:rPr lang="en-US" sz="1800" dirty="0">
                    <a:latin typeface="Courier New" panose="02070309020205020404" pitchFamily="49" charset="0"/>
                    <a:cs typeface="Courier New" panose="02070309020205020404" pitchFamily="49" charset="0"/>
                  </a:rPr>
                  <a:t>p.adjust(</a:t>
                </a:r>
                <a:r>
                  <a:rPr lang="en-US" sz="1800" dirty="0" err="1">
                    <a:latin typeface="Courier New" panose="02070309020205020404" pitchFamily="49" charset="0"/>
                    <a:cs typeface="Courier New" panose="02070309020205020404" pitchFamily="49" charset="0"/>
                  </a:rPr>
                  <a:t>mydata$pvalues</a:t>
                </a:r>
                <a:r>
                  <a:rPr lang="en-US" sz="1800" dirty="0">
                    <a:latin typeface="Courier New" panose="02070309020205020404" pitchFamily="49" charset="0"/>
                    <a:cs typeface="Courier New" panose="02070309020205020404" pitchFamily="49" charset="0"/>
                  </a:rPr>
                  <a:t>, method=“BY”)</a:t>
                </a:r>
                <a:endParaRPr lang="en-US" sz="1600" dirty="0">
                  <a:latin typeface="Courier New" panose="02070309020205020404" pitchFamily="49" charset="0"/>
                  <a:cs typeface="Courier New" panose="02070309020205020404" pitchFamily="49" charset="0"/>
                </a:endParaRPr>
              </a:p>
              <a:p>
                <a:r>
                  <a:rPr lang="en-US" dirty="0"/>
                  <a:t>B-H assumes non-negative dependence. B-Y is flexible.</a:t>
                </a:r>
                <a:endParaRPr lang="en-US" sz="1600" dirty="0">
                  <a:latin typeface="Courier New" panose="02070309020205020404" pitchFamily="49" charset="0"/>
                  <a:cs typeface="Courier New" panose="02070309020205020404" pitchFamily="49" charset="0"/>
                </a:endParaRPr>
              </a:p>
              <a:p>
                <a:pPr lvl="1">
                  <a:buFont typeface="Calibri" panose="020F0502020204030204" pitchFamily="34" charset="0"/>
                  <a:buChar char="&gt;"/>
                </a:pPr>
                <a:endParaRPr lang="en-US" sz="1600" dirty="0">
                  <a:latin typeface="Courier New" panose="02070309020205020404" pitchFamily="49" charset="0"/>
                  <a:cs typeface="Courier New" panose="02070309020205020404" pitchFamily="49" charset="0"/>
                </a:endParaRPr>
              </a:p>
            </p:txBody>
          </p:sp>
        </mc:Choice>
        <mc:Fallback xmlns="">
          <p:sp>
            <p:nvSpPr>
              <p:cNvPr id="4" name="Content Placeholder 3">
                <a:extLst>
                  <a:ext uri="{FF2B5EF4-FFF2-40B4-BE49-F238E27FC236}">
                    <a16:creationId xmlns:a16="http://schemas.microsoft.com/office/drawing/2014/main" id="{43082BDD-BD1D-42E6-B526-D36FFAA9F4BF}"/>
                  </a:ext>
                </a:extLst>
              </p:cNvPr>
              <p:cNvSpPr>
                <a:spLocks noGrp="1" noRot="1" noChangeAspect="1" noMove="1" noResize="1" noEditPoints="1" noAdjustHandles="1" noChangeArrowheads="1" noChangeShapeType="1" noTextEdit="1"/>
              </p:cNvSpPr>
              <p:nvPr>
                <p:ph idx="1"/>
              </p:nvPr>
            </p:nvSpPr>
            <p:spPr>
              <a:xfrm>
                <a:off x="838200" y="2498410"/>
                <a:ext cx="10515600" cy="3678553"/>
              </a:xfrm>
              <a:blipFill>
                <a:blip r:embed="rId2"/>
                <a:stretch>
                  <a:fillRect l="-1043" t="-3814"/>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507AA41F-C40A-4F4D-83BA-A57026FC5672}"/>
              </a:ext>
            </a:extLst>
          </p:cNvPr>
          <p:cNvSpPr>
            <a:spLocks noGrp="1"/>
          </p:cNvSpPr>
          <p:nvPr>
            <p:ph type="dt" sz="half" idx="10"/>
          </p:nvPr>
        </p:nvSpPr>
        <p:spPr/>
        <p:txBody>
          <a:bodyPr/>
          <a:lstStyle/>
          <a:p>
            <a:r>
              <a:rPr lang="en-US"/>
              <a:t>11/5/2018</a:t>
            </a:r>
          </a:p>
        </p:txBody>
      </p:sp>
      <p:sp>
        <p:nvSpPr>
          <p:cNvPr id="6" name="Footer Placeholder 5">
            <a:extLst>
              <a:ext uri="{FF2B5EF4-FFF2-40B4-BE49-F238E27FC236}">
                <a16:creationId xmlns:a16="http://schemas.microsoft.com/office/drawing/2014/main" id="{E466AFDD-C5BB-4904-B5A5-3C409AE2116B}"/>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382524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8163-D250-4D32-A12E-C990F06F1782}"/>
              </a:ext>
            </a:extLst>
          </p:cNvPr>
          <p:cNvSpPr>
            <a:spLocks noGrp="1"/>
          </p:cNvSpPr>
          <p:nvPr>
            <p:ph type="title"/>
          </p:nvPr>
        </p:nvSpPr>
        <p:spPr>
          <a:xfrm>
            <a:off x="838200" y="1201258"/>
            <a:ext cx="10515600" cy="1325563"/>
          </a:xfrm>
        </p:spPr>
        <p:txBody>
          <a:bodyPr/>
          <a:lstStyle/>
          <a:p>
            <a:r>
              <a:rPr lang="en-US" dirty="0"/>
              <a:t>Multiple comparisons: </a:t>
            </a:r>
            <a:br>
              <a:rPr lang="en-US" dirty="0"/>
            </a:br>
            <a:r>
              <a:rPr lang="en-US" dirty="0"/>
              <a:t>Comparing sequential procedures</a:t>
            </a:r>
          </a:p>
        </p:txBody>
      </p:sp>
      <p:sp>
        <p:nvSpPr>
          <p:cNvPr id="3" name="Date Placeholder 2">
            <a:extLst>
              <a:ext uri="{FF2B5EF4-FFF2-40B4-BE49-F238E27FC236}">
                <a16:creationId xmlns:a16="http://schemas.microsoft.com/office/drawing/2014/main" id="{507AA41F-C40A-4F4D-83BA-A57026FC5672}"/>
              </a:ext>
            </a:extLst>
          </p:cNvPr>
          <p:cNvSpPr>
            <a:spLocks noGrp="1"/>
          </p:cNvSpPr>
          <p:nvPr>
            <p:ph type="dt" sz="half" idx="10"/>
          </p:nvPr>
        </p:nvSpPr>
        <p:spPr/>
        <p:txBody>
          <a:bodyPr/>
          <a:lstStyle/>
          <a:p>
            <a:r>
              <a:rPr lang="en-US"/>
              <a:t>11/5/2018</a:t>
            </a:r>
          </a:p>
        </p:txBody>
      </p:sp>
      <p:sp>
        <p:nvSpPr>
          <p:cNvPr id="6" name="Footer Placeholder 5">
            <a:extLst>
              <a:ext uri="{FF2B5EF4-FFF2-40B4-BE49-F238E27FC236}">
                <a16:creationId xmlns:a16="http://schemas.microsoft.com/office/drawing/2014/main" id="{E466AFDD-C5BB-4904-B5A5-3C409AE2116B}"/>
              </a:ext>
            </a:extLst>
          </p:cNvPr>
          <p:cNvSpPr>
            <a:spLocks noGrp="1"/>
          </p:cNvSpPr>
          <p:nvPr>
            <p:ph type="ftr" sz="quarter" idx="11"/>
          </p:nvPr>
        </p:nvSpPr>
        <p:spPr/>
        <p:txBody>
          <a:bodyPr/>
          <a:lstStyle/>
          <a:p>
            <a:endParaRPr lang="en-US"/>
          </a:p>
        </p:txBody>
      </p:sp>
      <p:pic>
        <p:nvPicPr>
          <p:cNvPr id="12" name="Picture 11">
            <a:extLst>
              <a:ext uri="{FF2B5EF4-FFF2-40B4-BE49-F238E27FC236}">
                <a16:creationId xmlns:a16="http://schemas.microsoft.com/office/drawing/2014/main" id="{E466D8E4-41D6-4FB9-A580-36D4C0BF7AED}"/>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838200" y="2612782"/>
            <a:ext cx="10058420" cy="3657607"/>
          </a:xfrm>
          <a:prstGeom prst="rect">
            <a:avLst/>
          </a:prstGeom>
        </p:spPr>
      </p:pic>
    </p:spTree>
    <p:extLst>
      <p:ext uri="{BB962C8B-B14F-4D97-AF65-F5344CB8AC3E}">
        <p14:creationId xmlns:p14="http://schemas.microsoft.com/office/powerpoint/2010/main" val="935105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8163-D250-4D32-A12E-C990F06F1782}"/>
              </a:ext>
            </a:extLst>
          </p:cNvPr>
          <p:cNvSpPr>
            <a:spLocks noGrp="1"/>
          </p:cNvSpPr>
          <p:nvPr>
            <p:ph type="title"/>
          </p:nvPr>
        </p:nvSpPr>
        <p:spPr/>
        <p:txBody>
          <a:bodyPr/>
          <a:lstStyle/>
          <a:p>
            <a:r>
              <a:rPr lang="en-US" dirty="0"/>
              <a:t>Multiple comparisons: The bottom line</a:t>
            </a:r>
          </a:p>
        </p:txBody>
      </p:sp>
      <p:sp>
        <p:nvSpPr>
          <p:cNvPr id="4" name="Content Placeholder 3">
            <a:extLst>
              <a:ext uri="{FF2B5EF4-FFF2-40B4-BE49-F238E27FC236}">
                <a16:creationId xmlns:a16="http://schemas.microsoft.com/office/drawing/2014/main" id="{43082BDD-BD1D-42E6-B526-D36FFAA9F4BF}"/>
              </a:ext>
            </a:extLst>
          </p:cNvPr>
          <p:cNvSpPr>
            <a:spLocks noGrp="1"/>
          </p:cNvSpPr>
          <p:nvPr>
            <p:ph idx="1"/>
          </p:nvPr>
        </p:nvSpPr>
        <p:spPr>
          <a:xfrm>
            <a:off x="838200" y="2498410"/>
            <a:ext cx="10515599" cy="3857940"/>
          </a:xfrm>
        </p:spPr>
        <p:txBody>
          <a:bodyPr>
            <a:noAutofit/>
          </a:bodyPr>
          <a:lstStyle/>
          <a:p>
            <a:pPr marL="742950" indent="-742950">
              <a:buFont typeface="+mj-lt"/>
              <a:buAutoNum type="arabicPeriod"/>
            </a:pPr>
            <a:r>
              <a:rPr lang="en-US" sz="3600" dirty="0"/>
              <a:t>Make a </a:t>
            </a:r>
            <a:r>
              <a:rPr lang="en-US" sz="3600" b="1" dirty="0"/>
              <a:t>plan</a:t>
            </a:r>
            <a:r>
              <a:rPr lang="en-US" sz="3600" dirty="0"/>
              <a:t/>
            </a:r>
            <a:br>
              <a:rPr lang="en-US" sz="3600" dirty="0"/>
            </a:br>
            <a:r>
              <a:rPr lang="en-US" dirty="0"/>
              <a:t>Lots of tools are available!</a:t>
            </a:r>
            <a:br>
              <a:rPr lang="en-US" dirty="0"/>
            </a:br>
            <a:r>
              <a:rPr lang="en-US" dirty="0"/>
              <a:t>Ask for help if you need it.</a:t>
            </a:r>
          </a:p>
          <a:p>
            <a:pPr marL="742950" indent="-742950">
              <a:buFont typeface="+mj-lt"/>
              <a:buAutoNum type="arabicPeriod"/>
            </a:pPr>
            <a:r>
              <a:rPr lang="en-US" sz="3600" dirty="0"/>
              <a:t>Be </a:t>
            </a:r>
            <a:r>
              <a:rPr lang="en-US" sz="3600" b="1" dirty="0"/>
              <a:t>transparent</a:t>
            </a:r>
            <a:r>
              <a:rPr lang="en-US" sz="3600" dirty="0"/>
              <a:t/>
            </a:r>
            <a:br>
              <a:rPr lang="en-US" sz="3600" dirty="0"/>
            </a:br>
            <a:r>
              <a:rPr lang="en-US" dirty="0"/>
              <a:t>Tell the audience what you did.</a:t>
            </a:r>
          </a:p>
          <a:p>
            <a:pPr marL="742950" indent="-742950">
              <a:buFont typeface="+mj-lt"/>
              <a:buAutoNum type="arabicPeriod"/>
            </a:pPr>
            <a:r>
              <a:rPr lang="en-US" sz="3600" dirty="0"/>
              <a:t>Be </a:t>
            </a:r>
            <a:r>
              <a:rPr lang="en-US" sz="3600" b="1" dirty="0"/>
              <a:t>humble</a:t>
            </a:r>
            <a:br>
              <a:rPr lang="en-US" sz="3600" b="1" dirty="0"/>
            </a:br>
            <a:r>
              <a:rPr lang="en-US" dirty="0"/>
              <a:t>You’re still going to be wrong a bunch.</a:t>
            </a:r>
            <a:br>
              <a:rPr lang="en-US" dirty="0"/>
            </a:br>
            <a:r>
              <a:rPr lang="en-US" dirty="0"/>
              <a:t>Don’t oversell it.</a:t>
            </a:r>
          </a:p>
        </p:txBody>
      </p:sp>
      <p:pic>
        <p:nvPicPr>
          <p:cNvPr id="5" name="Picture 4">
            <a:extLst>
              <a:ext uri="{FF2B5EF4-FFF2-40B4-BE49-F238E27FC236}">
                <a16:creationId xmlns:a16="http://schemas.microsoft.com/office/drawing/2014/main" id="{26271E76-4923-4470-A800-F317675189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14954" y="2498410"/>
            <a:ext cx="2838846" cy="3581900"/>
          </a:xfrm>
          <a:prstGeom prst="rect">
            <a:avLst/>
          </a:prstGeom>
        </p:spPr>
      </p:pic>
      <p:sp>
        <p:nvSpPr>
          <p:cNvPr id="8" name="Date Placeholder 7">
            <a:extLst>
              <a:ext uri="{FF2B5EF4-FFF2-40B4-BE49-F238E27FC236}">
                <a16:creationId xmlns:a16="http://schemas.microsoft.com/office/drawing/2014/main" id="{00D867AA-12BF-478D-B3B3-D4CAFF2747EB}"/>
              </a:ext>
            </a:extLst>
          </p:cNvPr>
          <p:cNvSpPr>
            <a:spLocks noGrp="1"/>
          </p:cNvSpPr>
          <p:nvPr>
            <p:ph type="dt" sz="half" idx="10"/>
          </p:nvPr>
        </p:nvSpPr>
        <p:spPr/>
        <p:txBody>
          <a:bodyPr/>
          <a:lstStyle/>
          <a:p>
            <a:r>
              <a:rPr lang="en-US"/>
              <a:t>11/5/2018</a:t>
            </a:r>
          </a:p>
        </p:txBody>
      </p:sp>
      <p:sp>
        <p:nvSpPr>
          <p:cNvPr id="9" name="Footer Placeholder 8">
            <a:extLst>
              <a:ext uri="{FF2B5EF4-FFF2-40B4-BE49-F238E27FC236}">
                <a16:creationId xmlns:a16="http://schemas.microsoft.com/office/drawing/2014/main" id="{01DA58D6-2017-4A4F-9960-180562D1C73E}"/>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2924861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45867-A2EB-4169-9F62-78338399D811}"/>
              </a:ext>
            </a:extLst>
          </p:cNvPr>
          <p:cNvSpPr>
            <a:spLocks noGrp="1"/>
          </p:cNvSpPr>
          <p:nvPr>
            <p:ph type="ctrTitle"/>
          </p:nvPr>
        </p:nvSpPr>
        <p:spPr/>
        <p:txBody>
          <a:bodyPr/>
          <a:lstStyle/>
          <a:p>
            <a:r>
              <a:rPr lang="en-US" dirty="0"/>
              <a:t>Three practices to avoid</a:t>
            </a:r>
          </a:p>
        </p:txBody>
      </p:sp>
      <p:sp>
        <p:nvSpPr>
          <p:cNvPr id="3" name="Subtitle 2">
            <a:extLst>
              <a:ext uri="{FF2B5EF4-FFF2-40B4-BE49-F238E27FC236}">
                <a16:creationId xmlns:a16="http://schemas.microsoft.com/office/drawing/2014/main" id="{EBC31B4B-4B18-4E70-9623-4315ADF3F7EE}"/>
              </a:ext>
            </a:extLst>
          </p:cNvPr>
          <p:cNvSpPr>
            <a:spLocks noGrp="1"/>
          </p:cNvSpPr>
          <p:nvPr>
            <p:ph type="subTitle" idx="1"/>
          </p:nvPr>
        </p:nvSpPr>
        <p:spPr/>
        <p:txBody>
          <a:bodyPr/>
          <a:lstStyle/>
          <a:p>
            <a:r>
              <a:rPr lang="en-US" dirty="0"/>
              <a:t>Yue Ma</a:t>
            </a:r>
          </a:p>
        </p:txBody>
      </p:sp>
      <p:sp>
        <p:nvSpPr>
          <p:cNvPr id="4" name="Date Placeholder 3">
            <a:extLst>
              <a:ext uri="{FF2B5EF4-FFF2-40B4-BE49-F238E27FC236}">
                <a16:creationId xmlns:a16="http://schemas.microsoft.com/office/drawing/2014/main" id="{ED3B1A3C-955F-47A8-86CB-D67863B39438}"/>
              </a:ext>
            </a:extLst>
          </p:cNvPr>
          <p:cNvSpPr>
            <a:spLocks noGrp="1"/>
          </p:cNvSpPr>
          <p:nvPr>
            <p:ph type="dt" sz="half" idx="10"/>
          </p:nvPr>
        </p:nvSpPr>
        <p:spPr/>
        <p:txBody>
          <a:bodyPr/>
          <a:lstStyle/>
          <a:p>
            <a:r>
              <a:rPr lang="en-US" dirty="0">
                <a:solidFill>
                  <a:schemeClr val="bg1"/>
                </a:solidFill>
              </a:rPr>
              <a:t>11/5/2018</a:t>
            </a:r>
          </a:p>
        </p:txBody>
      </p:sp>
      <p:sp>
        <p:nvSpPr>
          <p:cNvPr id="5" name="Footer Placeholder 4">
            <a:extLst>
              <a:ext uri="{FF2B5EF4-FFF2-40B4-BE49-F238E27FC236}">
                <a16:creationId xmlns:a16="http://schemas.microsoft.com/office/drawing/2014/main" id="{F44AE0DF-1FD2-4C3E-B3AE-A61DEA75F36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4192957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To Avoid: Fishing P-Values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dirty="0"/>
                  <a:t>Example 1.1: Keep collecting more subjects or slicing data in many different ways</a:t>
                </a:r>
              </a:p>
              <a:p>
                <a:pPr marL="0" indent="0">
                  <a:buNone/>
                </a:pPr>
                <a:endParaRPr lang="en-US" sz="2000" dirty="0"/>
              </a:p>
              <a:p>
                <a:pPr>
                  <a:buFont typeface="Wingdings" panose="05000000000000000000" pitchFamily="2" charset="2"/>
                  <a:buChar char="v"/>
                </a:pPr>
                <a:r>
                  <a:rPr lang="en-US" dirty="0"/>
                  <a:t>Example 1.2: Testing an extremely large number of outcomes without adjusting for multiple comparison </a:t>
                </a:r>
              </a:p>
              <a:p>
                <a:pPr marL="0" indent="0">
                  <a:buNone/>
                </a:pPr>
                <a:endParaRPr lang="en-US" sz="2000" dirty="0"/>
              </a:p>
              <a:p>
                <a:pPr>
                  <a:buFont typeface="Wingdings" panose="05000000000000000000" pitchFamily="2" charset="2"/>
                  <a:buChar char="v"/>
                </a:pPr>
                <a:r>
                  <a:rPr lang="en-US" b="1" dirty="0">
                    <a:solidFill>
                      <a:srgbClr val="FF0000"/>
                    </a:solidFill>
                  </a:rPr>
                  <a:t>Significant </a:t>
                </a:r>
                <a:r>
                  <a:rPr lang="en-US" b="1" i="1" dirty="0">
                    <a:solidFill>
                      <a:srgbClr val="FF0000"/>
                    </a:solidFill>
                  </a:rPr>
                  <a:t>p</a:t>
                </a:r>
                <a:r>
                  <a:rPr lang="en-US" b="1" dirty="0">
                    <a:solidFill>
                      <a:srgbClr val="FF0000"/>
                    </a:solidFill>
                  </a:rPr>
                  <a:t>-value </a:t>
                </a:r>
                <a14:m>
                  <m:oMath xmlns:m="http://schemas.openxmlformats.org/officeDocument/2006/math">
                    <m:r>
                      <a:rPr lang="en-US" b="1" i="1">
                        <a:solidFill>
                          <a:srgbClr val="FF0000"/>
                        </a:solidFill>
                        <a:latin typeface="Cambria Math" panose="02040503050406030204" pitchFamily="18" charset="0"/>
                      </a:rPr>
                      <m:t>≠</m:t>
                    </m:r>
                  </m:oMath>
                </a14:m>
                <a:r>
                  <a:rPr lang="en-US" b="1" dirty="0">
                    <a:solidFill>
                      <a:srgbClr val="FF0000"/>
                    </a:solidFill>
                  </a:rPr>
                  <a:t> good research</a:t>
                </a:r>
              </a:p>
              <a:p>
                <a:pPr>
                  <a:buFont typeface="Wingdings" panose="05000000000000000000" pitchFamily="2" charset="2"/>
                  <a:buChar char="v"/>
                </a:pPr>
                <a:r>
                  <a:rPr lang="en-US" b="1" dirty="0">
                    <a:solidFill>
                      <a:srgbClr val="FF0000"/>
                    </a:solidFill>
                  </a:rPr>
                  <a:t>Insignificant </a:t>
                </a:r>
                <a:r>
                  <a:rPr lang="en-US" b="1" i="1" dirty="0">
                    <a:solidFill>
                      <a:srgbClr val="FF0000"/>
                    </a:solidFill>
                  </a:rPr>
                  <a:t>p</a:t>
                </a:r>
                <a:r>
                  <a:rPr lang="en-US" b="1" dirty="0">
                    <a:solidFill>
                      <a:srgbClr val="FF0000"/>
                    </a:solidFill>
                  </a:rPr>
                  <a:t>-value </a:t>
                </a:r>
                <a14:m>
                  <m:oMath xmlns:m="http://schemas.openxmlformats.org/officeDocument/2006/math">
                    <m:r>
                      <a:rPr lang="en-US" b="1" i="1">
                        <a:solidFill>
                          <a:srgbClr val="FF0000"/>
                        </a:solidFill>
                        <a:latin typeface="Cambria Math" panose="02040503050406030204" pitchFamily="18" charset="0"/>
                      </a:rPr>
                      <m:t>≠</m:t>
                    </m:r>
                  </m:oMath>
                </a14:m>
                <a:r>
                  <a:rPr lang="en-US" b="1" dirty="0">
                    <a:solidFill>
                      <a:srgbClr val="FF0000"/>
                    </a:solidFill>
                  </a:rPr>
                  <a:t> end of the world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43" t="-2686" r="-191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002F3DE0-FD22-457C-86F5-B6D9760C93D2}" type="slidenum">
              <a:rPr lang="en-US" smtClean="0"/>
              <a:t>37</a:t>
            </a:fld>
            <a:endParaRPr lang="en-US"/>
          </a:p>
        </p:txBody>
      </p:sp>
    </p:spTree>
    <p:extLst>
      <p:ext uri="{BB962C8B-B14F-4D97-AF65-F5344CB8AC3E}">
        <p14:creationId xmlns:p14="http://schemas.microsoft.com/office/powerpoint/2010/main" val="3918023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How To Avoid: Fishing P-Values</a:t>
            </a:r>
          </a:p>
        </p:txBody>
      </p:sp>
      <p:sp>
        <p:nvSpPr>
          <p:cNvPr id="11" name="Slide Number Placeholder 10"/>
          <p:cNvSpPr>
            <a:spLocks noGrp="1"/>
          </p:cNvSpPr>
          <p:nvPr>
            <p:ph type="sldNum" sz="quarter" idx="12"/>
          </p:nvPr>
        </p:nvSpPr>
        <p:spPr/>
        <p:txBody>
          <a:bodyPr/>
          <a:lstStyle/>
          <a:p>
            <a:fld id="{002F3DE0-FD22-457C-86F5-B6D9760C93D2}" type="slidenum">
              <a:rPr lang="en-US" smtClean="0"/>
              <a:t>38</a:t>
            </a:fld>
            <a:endParaRPr lang="en-US"/>
          </a:p>
        </p:txBody>
      </p:sp>
      <p:sp>
        <p:nvSpPr>
          <p:cNvPr id="5" name="Rounded Rectangle 4"/>
          <p:cNvSpPr/>
          <p:nvPr/>
        </p:nvSpPr>
        <p:spPr>
          <a:xfrm>
            <a:off x="1163781" y="2314575"/>
            <a:ext cx="3957405" cy="685506"/>
          </a:xfrm>
          <a:prstGeom prst="roundRect">
            <a:avLst/>
          </a:prstGeom>
          <a:solidFill>
            <a:srgbClr val="BBE0E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Insignificance is a finding </a:t>
            </a:r>
          </a:p>
        </p:txBody>
      </p:sp>
      <p:sp>
        <p:nvSpPr>
          <p:cNvPr id="6" name="Rounded Rectangle 5"/>
          <p:cNvSpPr/>
          <p:nvPr/>
        </p:nvSpPr>
        <p:spPr>
          <a:xfrm>
            <a:off x="5676525" y="2314575"/>
            <a:ext cx="5351693" cy="685506"/>
          </a:xfrm>
          <a:prstGeom prst="roundRect">
            <a:avLst/>
          </a:prstGeom>
          <a:solidFill>
            <a:srgbClr val="BBE0E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Look at effect size in terms of clinical meanings </a:t>
            </a:r>
          </a:p>
        </p:txBody>
      </p:sp>
      <p:sp>
        <p:nvSpPr>
          <p:cNvPr id="7" name="Rounded Rectangle 6"/>
          <p:cNvSpPr/>
          <p:nvPr/>
        </p:nvSpPr>
        <p:spPr>
          <a:xfrm>
            <a:off x="1163782" y="3431105"/>
            <a:ext cx="3957405" cy="1751848"/>
          </a:xfrm>
          <a:prstGeom prst="roundRect">
            <a:avLst/>
          </a:prstGeom>
          <a:solidFill>
            <a:srgbClr val="BBE0E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Why is it not significant? </a:t>
            </a:r>
          </a:p>
          <a:p>
            <a:pPr lvl="0"/>
            <a:r>
              <a:rPr lang="en-US" dirty="0">
                <a:solidFill>
                  <a:schemeClr val="tx1"/>
                </a:solidFill>
              </a:rPr>
              <a:t>- Clinical explanations? </a:t>
            </a:r>
          </a:p>
          <a:p>
            <a:pPr lvl="0"/>
            <a:r>
              <a:rPr lang="en-US" dirty="0">
                <a:solidFill>
                  <a:schemeClr val="tx1"/>
                </a:solidFill>
              </a:rPr>
              <a:t>- Effect size? </a:t>
            </a:r>
          </a:p>
          <a:p>
            <a:pPr lvl="0"/>
            <a:r>
              <a:rPr lang="en-US" dirty="0">
                <a:solidFill>
                  <a:schemeClr val="tx1"/>
                </a:solidFill>
              </a:rPr>
              <a:t>- Sample size? </a:t>
            </a:r>
          </a:p>
          <a:p>
            <a:pPr lvl="0"/>
            <a:r>
              <a:rPr lang="en-US" dirty="0">
                <a:solidFill>
                  <a:schemeClr val="tx1"/>
                </a:solidFill>
              </a:rPr>
              <a:t>- Sample characteristics? </a:t>
            </a:r>
          </a:p>
          <a:p>
            <a:pPr lvl="0"/>
            <a:r>
              <a:rPr lang="en-US" dirty="0">
                <a:solidFill>
                  <a:schemeClr val="tx1"/>
                </a:solidFill>
              </a:rPr>
              <a:t>- Measurement reliability?</a:t>
            </a:r>
          </a:p>
        </p:txBody>
      </p:sp>
      <p:sp>
        <p:nvSpPr>
          <p:cNvPr id="8" name="Rounded Rectangle 7"/>
          <p:cNvSpPr/>
          <p:nvPr/>
        </p:nvSpPr>
        <p:spPr>
          <a:xfrm>
            <a:off x="5676525" y="3431105"/>
            <a:ext cx="5351693" cy="1751848"/>
          </a:xfrm>
          <a:prstGeom prst="roundRect">
            <a:avLst/>
          </a:prstGeom>
          <a:solidFill>
            <a:srgbClr val="BBE0E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Any accomplishments in your study? </a:t>
            </a:r>
          </a:p>
          <a:p>
            <a:pPr lvl="0"/>
            <a:r>
              <a:rPr lang="en-US" dirty="0">
                <a:solidFill>
                  <a:schemeClr val="tx1"/>
                </a:solidFill>
              </a:rPr>
              <a:t>- Asked a new research question?</a:t>
            </a:r>
          </a:p>
          <a:p>
            <a:pPr lvl="0"/>
            <a:r>
              <a:rPr lang="en-US" dirty="0">
                <a:solidFill>
                  <a:schemeClr val="tx1"/>
                </a:solidFill>
              </a:rPr>
              <a:t>- Applied to participants with specific characteristics? </a:t>
            </a:r>
          </a:p>
          <a:p>
            <a:pPr lvl="0"/>
            <a:r>
              <a:rPr lang="en-US" dirty="0">
                <a:solidFill>
                  <a:schemeClr val="tx1"/>
                </a:solidFill>
              </a:rPr>
              <a:t>- Adopted an innovative methodology? </a:t>
            </a:r>
          </a:p>
        </p:txBody>
      </p:sp>
      <p:sp>
        <p:nvSpPr>
          <p:cNvPr id="10" name="Rounded Rectangle 9"/>
          <p:cNvSpPr/>
          <p:nvPr/>
        </p:nvSpPr>
        <p:spPr>
          <a:xfrm>
            <a:off x="3556000" y="5582477"/>
            <a:ext cx="3703782" cy="533171"/>
          </a:xfrm>
          <a:prstGeom prst="roundRect">
            <a:avLst/>
          </a:prstGeom>
          <a:solidFill>
            <a:srgbClr val="BBE0E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Future Directions</a:t>
            </a:r>
          </a:p>
        </p:txBody>
      </p:sp>
    </p:spTree>
    <p:extLst>
      <p:ext uri="{BB962C8B-B14F-4D97-AF65-F5344CB8AC3E}">
        <p14:creationId xmlns:p14="http://schemas.microsoft.com/office/powerpoint/2010/main" val="681590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To Avoid: </a:t>
            </a:r>
            <a:br>
              <a:rPr lang="en-US" sz="4000" dirty="0"/>
            </a:br>
            <a:r>
              <a:rPr lang="en-US" sz="4000" dirty="0"/>
              <a:t>Copying a Statistical Method without Understanding</a:t>
            </a:r>
          </a:p>
        </p:txBody>
      </p:sp>
      <p:sp>
        <p:nvSpPr>
          <p:cNvPr id="4" name="Content Placeholder 3"/>
          <p:cNvSpPr>
            <a:spLocks noGrp="1"/>
          </p:cNvSpPr>
          <p:nvPr>
            <p:ph idx="1"/>
          </p:nvPr>
        </p:nvSpPr>
        <p:spPr/>
        <p:txBody>
          <a:bodyPr>
            <a:normAutofit/>
          </a:bodyPr>
          <a:lstStyle/>
          <a:p>
            <a:pPr>
              <a:buFont typeface="Wingdings" panose="05000000000000000000" pitchFamily="2" charset="2"/>
              <a:buChar char="v"/>
            </a:pPr>
            <a:r>
              <a:rPr lang="en-US" dirty="0"/>
              <a:t>Example 2: Copy a statistical method from another study without understanding </a:t>
            </a:r>
          </a:p>
          <a:p>
            <a:pPr lvl="1">
              <a:buFontTx/>
              <a:buChar char="-"/>
            </a:pPr>
            <a:r>
              <a:rPr lang="en-US" dirty="0"/>
              <a:t>The type of research question the method is aimed to answer </a:t>
            </a:r>
          </a:p>
          <a:p>
            <a:pPr lvl="1">
              <a:buFontTx/>
              <a:buChar char="-"/>
            </a:pPr>
            <a:r>
              <a:rPr lang="en-US" dirty="0"/>
              <a:t>The type of data the method is applicable to </a:t>
            </a:r>
          </a:p>
          <a:p>
            <a:pPr>
              <a:buFont typeface="Wingdings" panose="05000000000000000000" pitchFamily="2" charset="2"/>
              <a:buChar char="v"/>
            </a:pPr>
            <a:r>
              <a:rPr lang="en-US" dirty="0"/>
              <a:t>Draw a tiger after the model of a cat </a:t>
            </a:r>
          </a:p>
          <a:p>
            <a:pPr lvl="1">
              <a:buFontTx/>
              <a:buChar char="-"/>
            </a:pPr>
            <a:r>
              <a:rPr lang="en-US" dirty="0"/>
              <a:t>Copy something without catching its true spirit </a:t>
            </a:r>
          </a:p>
          <a:p>
            <a:pPr marL="0" indent="0">
              <a:buNone/>
            </a:pPr>
            <a:endParaRPr lang="en-US" dirty="0"/>
          </a:p>
        </p:txBody>
      </p:sp>
      <p:sp>
        <p:nvSpPr>
          <p:cNvPr id="6" name="Slide Number Placeholder 5"/>
          <p:cNvSpPr>
            <a:spLocks noGrp="1"/>
          </p:cNvSpPr>
          <p:nvPr>
            <p:ph type="sldNum" sz="quarter" idx="12"/>
          </p:nvPr>
        </p:nvSpPr>
        <p:spPr/>
        <p:txBody>
          <a:bodyPr/>
          <a:lstStyle/>
          <a:p>
            <a:fld id="{002F3DE0-FD22-457C-86F5-B6D9760C93D2}" type="slidenum">
              <a:rPr lang="en-US" smtClean="0"/>
              <a:t>39</a:t>
            </a:fld>
            <a:endParaRPr lang="en-US"/>
          </a:p>
        </p:txBody>
      </p:sp>
    </p:spTree>
    <p:extLst>
      <p:ext uri="{BB962C8B-B14F-4D97-AF65-F5344CB8AC3E}">
        <p14:creationId xmlns:p14="http://schemas.microsoft.com/office/powerpoint/2010/main" val="320772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To Avoid: </a:t>
            </a:r>
            <a:br>
              <a:rPr lang="en-US" sz="4000" dirty="0"/>
            </a:br>
            <a:r>
              <a:rPr lang="en-US" sz="4000" dirty="0"/>
              <a:t>Copying a Statistical Method without Understanding</a:t>
            </a:r>
          </a:p>
        </p:txBody>
      </p:sp>
      <p:sp>
        <p:nvSpPr>
          <p:cNvPr id="6" name="Slide Number Placeholder 5"/>
          <p:cNvSpPr>
            <a:spLocks noGrp="1"/>
          </p:cNvSpPr>
          <p:nvPr>
            <p:ph type="sldNum" sz="quarter" idx="12"/>
          </p:nvPr>
        </p:nvSpPr>
        <p:spPr/>
        <p:txBody>
          <a:bodyPr/>
          <a:lstStyle/>
          <a:p>
            <a:fld id="{002F3DE0-FD22-457C-86F5-B6D9760C93D2}" type="slidenum">
              <a:rPr lang="en-US" smtClean="0"/>
              <a:t>40</a:t>
            </a:fld>
            <a:endParaRPr lang="en-US"/>
          </a:p>
        </p:txBody>
      </p:sp>
      <p:sp>
        <p:nvSpPr>
          <p:cNvPr id="7" name="TextBox 6"/>
          <p:cNvSpPr txBox="1"/>
          <p:nvPr/>
        </p:nvSpPr>
        <p:spPr>
          <a:xfrm>
            <a:off x="2152650" y="4772041"/>
            <a:ext cx="829340" cy="338554"/>
          </a:xfrm>
          <a:prstGeom prst="rect">
            <a:avLst/>
          </a:prstGeom>
          <a:noFill/>
        </p:spPr>
        <p:txBody>
          <a:bodyPr wrap="square" rtlCol="0">
            <a:spAutoFit/>
          </a:bodyPr>
          <a:lstStyle/>
          <a:p>
            <a:r>
              <a:rPr lang="en-US" sz="1600" b="1" dirty="0"/>
              <a:t>p &lt; .05 </a:t>
            </a:r>
          </a:p>
        </p:txBody>
      </p:sp>
      <p:pic>
        <p:nvPicPr>
          <p:cNvPr id="1026" name="Picture 2" descr="Image result for tiger fishing cartoon pictur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7094" y="3227026"/>
            <a:ext cx="3467012" cy="288917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1052945" y="3227026"/>
            <a:ext cx="5366328" cy="2889178"/>
          </a:xfrm>
          <a:prstGeom prst="rect">
            <a:avLst/>
          </a:prstGeom>
        </p:spPr>
      </p:pic>
      <p:sp>
        <p:nvSpPr>
          <p:cNvPr id="8" name="Cloud Callout 7"/>
          <p:cNvSpPr/>
          <p:nvPr/>
        </p:nvSpPr>
        <p:spPr>
          <a:xfrm>
            <a:off x="2467810" y="2237554"/>
            <a:ext cx="2069230" cy="1594884"/>
          </a:xfrm>
          <a:prstGeom prst="cloudCallout">
            <a:avLst>
              <a:gd name="adj1" fmla="val -35089"/>
              <a:gd name="adj2" fmla="val 10821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 am fishing p-values in the data ocean.</a:t>
            </a:r>
          </a:p>
        </p:txBody>
      </p:sp>
      <p:sp>
        <p:nvSpPr>
          <p:cNvPr id="12" name="Cloud Callout 11"/>
          <p:cNvSpPr/>
          <p:nvPr/>
        </p:nvSpPr>
        <p:spPr>
          <a:xfrm>
            <a:off x="7640245" y="2310305"/>
            <a:ext cx="1592327" cy="1104826"/>
          </a:xfrm>
          <a:prstGeom prst="cloudCallout">
            <a:avLst>
              <a:gd name="adj1" fmla="val 11591"/>
              <a:gd name="adj2" fmla="val 9282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Me Too!</a:t>
            </a:r>
          </a:p>
        </p:txBody>
      </p:sp>
      <p:sp>
        <p:nvSpPr>
          <p:cNvPr id="10" name="TextBox 9"/>
          <p:cNvSpPr txBox="1"/>
          <p:nvPr/>
        </p:nvSpPr>
        <p:spPr>
          <a:xfrm>
            <a:off x="1323310" y="4671614"/>
            <a:ext cx="829340" cy="338554"/>
          </a:xfrm>
          <a:prstGeom prst="rect">
            <a:avLst/>
          </a:prstGeom>
          <a:noFill/>
        </p:spPr>
        <p:txBody>
          <a:bodyPr wrap="square" rtlCol="0">
            <a:spAutoFit/>
          </a:bodyPr>
          <a:lstStyle/>
          <a:p>
            <a:r>
              <a:rPr lang="en-US" sz="1600" b="1" dirty="0"/>
              <a:t>p &lt; .05 </a:t>
            </a:r>
          </a:p>
        </p:txBody>
      </p:sp>
    </p:spTree>
    <p:extLst>
      <p:ext uri="{BB962C8B-B14F-4D97-AF65-F5344CB8AC3E}">
        <p14:creationId xmlns:p14="http://schemas.microsoft.com/office/powerpoint/2010/main" val="28112557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How To Avoid: </a:t>
            </a:r>
            <a:br>
              <a:rPr lang="en-US" sz="4000" dirty="0"/>
            </a:br>
            <a:r>
              <a:rPr lang="en-US" sz="4000" dirty="0"/>
              <a:t>Copying a Statistical Method without Understanding</a:t>
            </a:r>
          </a:p>
        </p:txBody>
      </p:sp>
      <p:sp>
        <p:nvSpPr>
          <p:cNvPr id="3" name="Content Placeholder 2">
            <a:extLst>
              <a:ext uri="{FF2B5EF4-FFF2-40B4-BE49-F238E27FC236}">
                <a16:creationId xmlns:a16="http://schemas.microsoft.com/office/drawing/2014/main" id="{AD9A91ED-C27D-48E0-B7B6-F78CB7C93D58}"/>
              </a:ext>
            </a:extLst>
          </p:cNvPr>
          <p:cNvSpPr>
            <a:spLocks noGrp="1"/>
          </p:cNvSpPr>
          <p:nvPr>
            <p:ph idx="1"/>
          </p:nvPr>
        </p:nvSpPr>
        <p:spPr/>
        <p:txBody>
          <a:bodyPr>
            <a:normAutofit/>
          </a:bodyPr>
          <a:lstStyle/>
          <a:p>
            <a:pPr marL="0" indent="0">
              <a:buNone/>
            </a:pPr>
            <a:r>
              <a:rPr lang="en-US" sz="3200" b="1" dirty="0"/>
              <a:t>Formulate the research questions</a:t>
            </a:r>
          </a:p>
          <a:p>
            <a:pPr marL="285750" indent="-285750">
              <a:buFont typeface="Wingdings" panose="05000000000000000000" pitchFamily="2" charset="2"/>
              <a:buChar char="v"/>
            </a:pPr>
            <a:r>
              <a:rPr lang="en-US" dirty="0"/>
              <a:t>Translate the questions into testable hypotheses, i.e., can be expressed with math </a:t>
            </a:r>
          </a:p>
          <a:p>
            <a:pPr marL="285750" indent="-285750">
              <a:buFont typeface="Wingdings" panose="05000000000000000000" pitchFamily="2" charset="2"/>
              <a:buChar char="v"/>
            </a:pPr>
            <a:r>
              <a:rPr lang="en-US" dirty="0"/>
              <a:t>“Only if a field of science can be expressed with math, it is truly a science.”  </a:t>
            </a:r>
          </a:p>
          <a:p>
            <a:pPr marL="285750" indent="-285750">
              <a:buFont typeface="Wingdings" panose="05000000000000000000" pitchFamily="2" charset="2"/>
              <a:buChar char="v"/>
            </a:pPr>
            <a:r>
              <a:rPr lang="en-US" dirty="0"/>
              <a:t>Only if a research question can be translated into testable hypothesis, it is a good research question. </a:t>
            </a:r>
          </a:p>
          <a:p>
            <a:endParaRPr lang="en-US" dirty="0"/>
          </a:p>
        </p:txBody>
      </p:sp>
      <p:sp>
        <p:nvSpPr>
          <p:cNvPr id="6" name="Slide Number Placeholder 5"/>
          <p:cNvSpPr>
            <a:spLocks noGrp="1"/>
          </p:cNvSpPr>
          <p:nvPr>
            <p:ph type="sldNum" sz="quarter" idx="12"/>
          </p:nvPr>
        </p:nvSpPr>
        <p:spPr/>
        <p:txBody>
          <a:bodyPr/>
          <a:lstStyle/>
          <a:p>
            <a:fld id="{002F3DE0-FD22-457C-86F5-B6D9760C93D2}" type="slidenum">
              <a:rPr lang="en-US" smtClean="0"/>
              <a:t>41</a:t>
            </a:fld>
            <a:endParaRPr lang="en-US"/>
          </a:p>
        </p:txBody>
      </p:sp>
    </p:spTree>
    <p:extLst>
      <p:ext uri="{BB962C8B-B14F-4D97-AF65-F5344CB8AC3E}">
        <p14:creationId xmlns:p14="http://schemas.microsoft.com/office/powerpoint/2010/main" val="41694394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How To Avoid: </a:t>
            </a:r>
            <a:br>
              <a:rPr lang="en-US" sz="4000" dirty="0"/>
            </a:br>
            <a:r>
              <a:rPr lang="en-US" sz="4000" dirty="0"/>
              <a:t>Copying a Statistical Method without Understanding</a:t>
            </a:r>
          </a:p>
        </p:txBody>
      </p:sp>
      <p:sp>
        <p:nvSpPr>
          <p:cNvPr id="3" name="Content Placeholder 2">
            <a:extLst>
              <a:ext uri="{FF2B5EF4-FFF2-40B4-BE49-F238E27FC236}">
                <a16:creationId xmlns:a16="http://schemas.microsoft.com/office/drawing/2014/main" id="{E26C31B4-E110-42CE-B108-F07A38065BD9}"/>
              </a:ext>
            </a:extLst>
          </p:cNvPr>
          <p:cNvSpPr>
            <a:spLocks noGrp="1"/>
          </p:cNvSpPr>
          <p:nvPr>
            <p:ph idx="1"/>
          </p:nvPr>
        </p:nvSpPr>
        <p:spPr/>
        <p:txBody>
          <a:bodyPr>
            <a:normAutofit/>
          </a:bodyPr>
          <a:lstStyle/>
          <a:p>
            <a:pPr marL="0" indent="0">
              <a:lnSpc>
                <a:spcPct val="107000"/>
              </a:lnSpc>
              <a:buNone/>
            </a:pPr>
            <a:r>
              <a:rPr lang="en-US" sz="3200" b="1" dirty="0">
                <a:latin typeface="Calibri" panose="020F0502020204030204" pitchFamily="34" charset="0"/>
                <a:ea typeface="DengXian"/>
                <a:cs typeface="Times New Roman" panose="02020603050405020304" pitchFamily="18" charset="0"/>
              </a:rPr>
              <a:t>Understand the data (especially the outcome variables)</a:t>
            </a:r>
            <a:endParaRPr lang="en-US" sz="3200" b="1" dirty="0"/>
          </a:p>
          <a:p>
            <a:pPr marL="285750" indent="-285750">
              <a:buFont typeface="Wingdings" panose="05000000000000000000" pitchFamily="2" charset="2"/>
              <a:buChar char="v"/>
            </a:pPr>
            <a:r>
              <a:rPr lang="en-US" dirty="0">
                <a:latin typeface="Calibri" panose="020F0502020204030204" pitchFamily="34" charset="0"/>
                <a:ea typeface="DengXian"/>
                <a:cs typeface="Times New Roman" panose="02020603050405020304" pitchFamily="18" charset="0"/>
              </a:rPr>
              <a:t>Distinguish the four different types of variables: </a:t>
            </a:r>
          </a:p>
          <a:p>
            <a:pPr marL="0" indent="0">
              <a:buNone/>
            </a:pPr>
            <a:r>
              <a:rPr lang="en-US" sz="2400" dirty="0">
                <a:latin typeface="Calibri" panose="020F0502020204030204" pitchFamily="34" charset="0"/>
                <a:ea typeface="DengXian"/>
                <a:cs typeface="Times New Roman" panose="02020603050405020304" pitchFamily="18" charset="0"/>
              </a:rPr>
              <a:t>      nominal, ordinal, interval, and scale</a:t>
            </a:r>
            <a:endParaRPr lang="en-US" sz="2400" dirty="0"/>
          </a:p>
          <a:p>
            <a:pPr marL="285750" indent="-285750">
              <a:buFont typeface="Wingdings" panose="05000000000000000000" pitchFamily="2" charset="2"/>
              <a:buChar char="v"/>
            </a:pPr>
            <a:r>
              <a:rPr lang="en-US" dirty="0"/>
              <a:t>Understand the specific characteristics of the data</a:t>
            </a:r>
          </a:p>
          <a:p>
            <a:pPr lvl="1"/>
            <a:r>
              <a:rPr lang="en-US" dirty="0"/>
              <a:t>e.g., longitudinal</a:t>
            </a:r>
          </a:p>
          <a:p>
            <a:pPr lvl="1"/>
            <a:r>
              <a:rPr lang="en-US" dirty="0"/>
              <a:t>e.g., clustered</a:t>
            </a:r>
          </a:p>
          <a:p>
            <a:pPr lvl="1"/>
            <a:r>
              <a:rPr lang="en-US" dirty="0"/>
              <a:t>e.g., censored </a:t>
            </a:r>
          </a:p>
          <a:p>
            <a:pPr lvl="1"/>
            <a:r>
              <a:rPr lang="en-US" dirty="0"/>
              <a:t>e.g., types of missing data</a:t>
            </a:r>
            <a:endParaRPr lang="en-US" b="1" dirty="0"/>
          </a:p>
        </p:txBody>
      </p:sp>
      <p:sp>
        <p:nvSpPr>
          <p:cNvPr id="6" name="Slide Number Placeholder 5"/>
          <p:cNvSpPr>
            <a:spLocks noGrp="1"/>
          </p:cNvSpPr>
          <p:nvPr>
            <p:ph type="sldNum" sz="quarter" idx="12"/>
          </p:nvPr>
        </p:nvSpPr>
        <p:spPr/>
        <p:txBody>
          <a:bodyPr/>
          <a:lstStyle/>
          <a:p>
            <a:fld id="{002F3DE0-FD22-457C-86F5-B6D9760C93D2}" type="slidenum">
              <a:rPr lang="en-US" smtClean="0"/>
              <a:t>42</a:t>
            </a:fld>
            <a:endParaRPr lang="en-US"/>
          </a:p>
        </p:txBody>
      </p:sp>
    </p:spTree>
    <p:extLst>
      <p:ext uri="{BB962C8B-B14F-4D97-AF65-F5344CB8AC3E}">
        <p14:creationId xmlns:p14="http://schemas.microsoft.com/office/powerpoint/2010/main" val="19213224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How To Avoid: </a:t>
            </a:r>
            <a:br>
              <a:rPr lang="en-US" sz="4000" dirty="0"/>
            </a:br>
            <a:r>
              <a:rPr lang="en-US" sz="4000" dirty="0"/>
              <a:t>Copying a Statistical Method without Understanding</a:t>
            </a:r>
          </a:p>
        </p:txBody>
      </p:sp>
      <p:sp>
        <p:nvSpPr>
          <p:cNvPr id="3" name="Content Placeholder 2">
            <a:extLst>
              <a:ext uri="{FF2B5EF4-FFF2-40B4-BE49-F238E27FC236}">
                <a16:creationId xmlns:a16="http://schemas.microsoft.com/office/drawing/2014/main" id="{523CCBF4-11C9-484B-B02C-064798B3883C}"/>
              </a:ext>
            </a:extLst>
          </p:cNvPr>
          <p:cNvSpPr>
            <a:spLocks noGrp="1"/>
          </p:cNvSpPr>
          <p:nvPr>
            <p:ph idx="1"/>
          </p:nvPr>
        </p:nvSpPr>
        <p:spPr/>
        <p:txBody>
          <a:bodyPr/>
          <a:lstStyle/>
          <a:p>
            <a:pPr marL="0" indent="0">
              <a:spcBef>
                <a:spcPts val="600"/>
              </a:spcBef>
              <a:buNone/>
            </a:pPr>
            <a:r>
              <a:rPr lang="en-US" b="1" dirty="0">
                <a:latin typeface="Calibri" panose="020F0502020204030204" pitchFamily="34" charset="0"/>
                <a:ea typeface="DengXian"/>
                <a:cs typeface="Times New Roman" panose="02020603050405020304" pitchFamily="18" charset="0"/>
              </a:rPr>
              <a:t>Based on understanding both, choose the statistical methods that fit the specific research questions and the specific data</a:t>
            </a:r>
            <a:br>
              <a:rPr lang="en-US" b="1" dirty="0">
                <a:latin typeface="Calibri" panose="020F0502020204030204" pitchFamily="34" charset="0"/>
                <a:ea typeface="DengXian"/>
                <a:cs typeface="Times New Roman" panose="02020603050405020304" pitchFamily="18" charset="0"/>
              </a:rPr>
            </a:br>
            <a:endParaRPr lang="en-US" b="1" dirty="0">
              <a:latin typeface="Calibri" panose="020F0502020204030204" pitchFamily="34" charset="0"/>
              <a:ea typeface="DengXian"/>
              <a:cs typeface="Times New Roman" panose="02020603050405020304" pitchFamily="18" charset="0"/>
            </a:endParaRPr>
          </a:p>
          <a:p>
            <a:pPr marL="285750" indent="-285750">
              <a:spcBef>
                <a:spcPts val="1200"/>
              </a:spcBef>
              <a:buFont typeface="Wingdings" panose="05000000000000000000" pitchFamily="2" charset="2"/>
              <a:buChar char="v"/>
            </a:pPr>
            <a:r>
              <a:rPr lang="en-US" dirty="0"/>
              <a:t>Make the outfit for the specific body figure </a:t>
            </a:r>
          </a:p>
          <a:p>
            <a:pPr marL="285750" indent="-285750">
              <a:spcBef>
                <a:spcPts val="1200"/>
              </a:spcBef>
              <a:buFont typeface="Wingdings" panose="05000000000000000000" pitchFamily="2" charset="2"/>
              <a:buChar char="v"/>
            </a:pPr>
            <a:r>
              <a:rPr lang="en-US" dirty="0"/>
              <a:t>Prescribe the medication to the specific disease</a:t>
            </a:r>
            <a:endParaRPr lang="en-US" b="1" dirty="0">
              <a:latin typeface="Calibri" panose="020F0502020204030204" pitchFamily="34" charset="0"/>
              <a:ea typeface="DengXian"/>
              <a:cs typeface="Times New Roman" panose="02020603050405020304" pitchFamily="18" charset="0"/>
            </a:endParaRPr>
          </a:p>
          <a:p>
            <a:endParaRPr lang="en-US" dirty="0"/>
          </a:p>
        </p:txBody>
      </p:sp>
      <p:sp>
        <p:nvSpPr>
          <p:cNvPr id="6" name="Slide Number Placeholder 5"/>
          <p:cNvSpPr>
            <a:spLocks noGrp="1"/>
          </p:cNvSpPr>
          <p:nvPr>
            <p:ph type="sldNum" sz="quarter" idx="12"/>
          </p:nvPr>
        </p:nvSpPr>
        <p:spPr/>
        <p:txBody>
          <a:bodyPr/>
          <a:lstStyle/>
          <a:p>
            <a:fld id="{002F3DE0-FD22-457C-86F5-B6D9760C93D2}" type="slidenum">
              <a:rPr lang="en-US" smtClean="0"/>
              <a:t>43</a:t>
            </a:fld>
            <a:endParaRPr lang="en-US"/>
          </a:p>
        </p:txBody>
      </p:sp>
    </p:spTree>
    <p:extLst>
      <p:ext uri="{BB962C8B-B14F-4D97-AF65-F5344CB8AC3E}">
        <p14:creationId xmlns:p14="http://schemas.microsoft.com/office/powerpoint/2010/main" val="31303313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To Avoid: </a:t>
            </a:r>
            <a:br>
              <a:rPr lang="en-US" sz="4000" dirty="0"/>
            </a:br>
            <a:r>
              <a:rPr lang="en-US" sz="4000" dirty="0"/>
              <a:t>Underestimating Data Management</a:t>
            </a:r>
          </a:p>
        </p:txBody>
      </p:sp>
      <p:sp>
        <p:nvSpPr>
          <p:cNvPr id="4" name="Slide Number Placeholder 3"/>
          <p:cNvSpPr>
            <a:spLocks noGrp="1"/>
          </p:cNvSpPr>
          <p:nvPr>
            <p:ph type="sldNum" sz="quarter" idx="12"/>
          </p:nvPr>
        </p:nvSpPr>
        <p:spPr/>
        <p:txBody>
          <a:bodyPr/>
          <a:lstStyle/>
          <a:p>
            <a:fld id="{002F3DE0-FD22-457C-86F5-B6D9760C93D2}" type="slidenum">
              <a:rPr lang="en-US" smtClean="0"/>
              <a:t>44</a:t>
            </a:fld>
            <a:endParaRPr lang="en-US"/>
          </a:p>
        </p:txBody>
      </p:sp>
      <p:sp>
        <p:nvSpPr>
          <p:cNvPr id="6" name="TextBox 5"/>
          <p:cNvSpPr txBox="1"/>
          <p:nvPr/>
        </p:nvSpPr>
        <p:spPr>
          <a:xfrm>
            <a:off x="838200" y="2651431"/>
            <a:ext cx="5905500" cy="3416320"/>
          </a:xfrm>
          <a:prstGeom prst="rect">
            <a:avLst/>
          </a:prstGeom>
          <a:noFill/>
        </p:spPr>
        <p:txBody>
          <a:bodyPr wrap="square" rtlCol="0">
            <a:spAutoFit/>
          </a:bodyPr>
          <a:lstStyle/>
          <a:p>
            <a:pPr marL="457200" indent="-457200">
              <a:spcBef>
                <a:spcPts val="1200"/>
              </a:spcBef>
              <a:buFont typeface="Wingdings" panose="05000000000000000000" pitchFamily="2" charset="2"/>
              <a:buChar char="v"/>
            </a:pPr>
            <a:r>
              <a:rPr lang="en-US" sz="2800" dirty="0"/>
              <a:t>Good quality data is the foundation for valid statistical analysis</a:t>
            </a:r>
          </a:p>
          <a:p>
            <a:pPr marL="457200" indent="-457200">
              <a:spcBef>
                <a:spcPts val="1200"/>
              </a:spcBef>
              <a:buFont typeface="Wingdings" panose="05000000000000000000" pitchFamily="2" charset="2"/>
              <a:buChar char="v"/>
            </a:pPr>
            <a:r>
              <a:rPr lang="en-US" sz="2800" dirty="0"/>
              <a:t>Ground foundation for statistical skyscrapers </a:t>
            </a:r>
          </a:p>
          <a:p>
            <a:pPr marL="457200" indent="-457200">
              <a:spcBef>
                <a:spcPts val="1200"/>
              </a:spcBef>
              <a:buFont typeface="Wingdings" panose="05000000000000000000" pitchFamily="2" charset="2"/>
              <a:buChar char="v"/>
            </a:pPr>
            <a:r>
              <a:rPr lang="en-US" sz="2800" dirty="0"/>
              <a:t>Example 3: Data errors in the data set the analyses started on led to redo the analyses </a:t>
            </a:r>
          </a:p>
        </p:txBody>
      </p:sp>
      <p:pic>
        <p:nvPicPr>
          <p:cNvPr id="5" name="Picture 4"/>
          <p:cNvPicPr>
            <a:picLocks noChangeAspect="1"/>
          </p:cNvPicPr>
          <p:nvPr/>
        </p:nvPicPr>
        <p:blipFill>
          <a:blip r:embed="rId3"/>
          <a:stretch>
            <a:fillRect/>
          </a:stretch>
        </p:blipFill>
        <p:spPr>
          <a:xfrm>
            <a:off x="6743700" y="2651431"/>
            <a:ext cx="4957125" cy="3291840"/>
          </a:xfrm>
          <a:prstGeom prst="rect">
            <a:avLst/>
          </a:prstGeom>
        </p:spPr>
      </p:pic>
    </p:spTree>
    <p:extLst>
      <p:ext uri="{BB962C8B-B14F-4D97-AF65-F5344CB8AC3E}">
        <p14:creationId xmlns:p14="http://schemas.microsoft.com/office/powerpoint/2010/main" val="321299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2847"/>
            <a:ext cx="10515600" cy="1325563"/>
          </a:xfrm>
        </p:spPr>
        <p:txBody>
          <a:bodyPr>
            <a:normAutofit/>
          </a:bodyPr>
          <a:lstStyle/>
          <a:p>
            <a:r>
              <a:rPr lang="en-US" sz="4000" dirty="0"/>
              <a:t>How To Avoid: </a:t>
            </a:r>
            <a:br>
              <a:rPr lang="en-US" sz="4000" dirty="0"/>
            </a:br>
            <a:r>
              <a:rPr lang="en-US" sz="4000" dirty="0"/>
              <a:t>Underestimating Data Management</a:t>
            </a:r>
          </a:p>
        </p:txBody>
      </p:sp>
      <p:sp>
        <p:nvSpPr>
          <p:cNvPr id="3" name="Content Placeholder 2">
            <a:extLst>
              <a:ext uri="{FF2B5EF4-FFF2-40B4-BE49-F238E27FC236}">
                <a16:creationId xmlns:a16="http://schemas.microsoft.com/office/drawing/2014/main" id="{90A6A082-3DA1-4F06-A292-D3F5F137A9D6}"/>
              </a:ext>
            </a:extLst>
          </p:cNvPr>
          <p:cNvSpPr>
            <a:spLocks noGrp="1"/>
          </p:cNvSpPr>
          <p:nvPr>
            <p:ph idx="1"/>
          </p:nvPr>
        </p:nvSpPr>
        <p:spPr/>
        <p:txBody>
          <a:bodyPr/>
          <a:lstStyle/>
          <a:p>
            <a:pPr marL="0" indent="0">
              <a:spcBef>
                <a:spcPts val="1200"/>
              </a:spcBef>
              <a:buNone/>
            </a:pPr>
            <a:r>
              <a:rPr lang="en-US" sz="3200" b="1" dirty="0"/>
              <a:t>Read and understand data dictionaries, survey forms, and documentation about data collection and scoring methods  </a:t>
            </a:r>
          </a:p>
          <a:p>
            <a:pPr marL="342900" indent="-342900">
              <a:spcBef>
                <a:spcPts val="1200"/>
              </a:spcBef>
              <a:buFont typeface="Wingdings" panose="05000000000000000000" pitchFamily="2" charset="2"/>
              <a:buChar char="v"/>
            </a:pPr>
            <a:r>
              <a:rPr lang="en-US" dirty="0"/>
              <a:t>e.g., A category changes its meaning from one form version to another </a:t>
            </a:r>
          </a:p>
          <a:p>
            <a:pPr marL="342900" indent="-342900">
              <a:spcBef>
                <a:spcPts val="1200"/>
              </a:spcBef>
              <a:buFont typeface="Wingdings" panose="05000000000000000000" pitchFamily="2" charset="2"/>
              <a:buChar char="v"/>
            </a:pPr>
            <a:r>
              <a:rPr lang="en-US" dirty="0"/>
              <a:t>e.g., Removal of a category in a later version </a:t>
            </a:r>
          </a:p>
          <a:p>
            <a:endParaRPr lang="en-US" dirty="0"/>
          </a:p>
        </p:txBody>
      </p:sp>
      <p:sp>
        <p:nvSpPr>
          <p:cNvPr id="4" name="Slide Number Placeholder 3"/>
          <p:cNvSpPr>
            <a:spLocks noGrp="1"/>
          </p:cNvSpPr>
          <p:nvPr>
            <p:ph type="sldNum" sz="quarter" idx="12"/>
          </p:nvPr>
        </p:nvSpPr>
        <p:spPr/>
        <p:txBody>
          <a:bodyPr/>
          <a:lstStyle/>
          <a:p>
            <a:fld id="{002F3DE0-FD22-457C-86F5-B6D9760C93D2}" type="slidenum">
              <a:rPr lang="en-US" smtClean="0"/>
              <a:t>45</a:t>
            </a:fld>
            <a:endParaRPr lang="en-US"/>
          </a:p>
        </p:txBody>
      </p:sp>
    </p:spTree>
    <p:extLst>
      <p:ext uri="{BB962C8B-B14F-4D97-AF65-F5344CB8AC3E}">
        <p14:creationId xmlns:p14="http://schemas.microsoft.com/office/powerpoint/2010/main" val="868749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How To Avoid: </a:t>
            </a:r>
            <a:br>
              <a:rPr lang="en-US" sz="4000" dirty="0"/>
            </a:br>
            <a:r>
              <a:rPr lang="en-US" sz="4000" dirty="0"/>
              <a:t>Underestimating Data Management</a:t>
            </a:r>
          </a:p>
        </p:txBody>
      </p:sp>
      <p:sp>
        <p:nvSpPr>
          <p:cNvPr id="3" name="Content Placeholder 2">
            <a:extLst>
              <a:ext uri="{FF2B5EF4-FFF2-40B4-BE49-F238E27FC236}">
                <a16:creationId xmlns:a16="http://schemas.microsoft.com/office/drawing/2014/main" id="{6DB9BD7C-8B55-4137-B349-9E33BB5214C4}"/>
              </a:ext>
            </a:extLst>
          </p:cNvPr>
          <p:cNvSpPr>
            <a:spLocks noGrp="1"/>
          </p:cNvSpPr>
          <p:nvPr>
            <p:ph idx="1"/>
          </p:nvPr>
        </p:nvSpPr>
        <p:spPr/>
        <p:txBody>
          <a:bodyPr/>
          <a:lstStyle/>
          <a:p>
            <a:pPr marL="0" indent="0">
              <a:spcBef>
                <a:spcPts val="1200"/>
              </a:spcBef>
              <a:buNone/>
            </a:pPr>
            <a:r>
              <a:rPr lang="en-US" sz="3200" b="1" dirty="0"/>
              <a:t>Data Checking</a:t>
            </a:r>
          </a:p>
          <a:p>
            <a:pPr marL="342900" indent="-342900">
              <a:spcBef>
                <a:spcPts val="1200"/>
              </a:spcBef>
              <a:buFont typeface="Wingdings" panose="05000000000000000000" pitchFamily="2" charset="2"/>
              <a:buChar char="v"/>
            </a:pPr>
            <a:r>
              <a:rPr lang="en-US" dirty="0"/>
              <a:t>Category </a:t>
            </a:r>
          </a:p>
          <a:p>
            <a:pPr marL="342900" indent="-342900">
              <a:spcBef>
                <a:spcPts val="1200"/>
              </a:spcBef>
              <a:buFont typeface="Wingdings" panose="05000000000000000000" pitchFamily="2" charset="2"/>
              <a:buChar char="v"/>
            </a:pPr>
            <a:r>
              <a:rPr lang="en-US" dirty="0"/>
              <a:t>Range </a:t>
            </a:r>
          </a:p>
          <a:p>
            <a:endParaRPr lang="en-US" dirty="0"/>
          </a:p>
        </p:txBody>
      </p:sp>
      <p:sp>
        <p:nvSpPr>
          <p:cNvPr id="4" name="Slide Number Placeholder 3"/>
          <p:cNvSpPr>
            <a:spLocks noGrp="1"/>
          </p:cNvSpPr>
          <p:nvPr>
            <p:ph type="sldNum" sz="quarter" idx="12"/>
          </p:nvPr>
        </p:nvSpPr>
        <p:spPr/>
        <p:txBody>
          <a:bodyPr/>
          <a:lstStyle/>
          <a:p>
            <a:fld id="{002F3DE0-FD22-457C-86F5-B6D9760C93D2}" type="slidenum">
              <a:rPr lang="en-US" smtClean="0"/>
              <a:t>46</a:t>
            </a:fld>
            <a:endParaRPr lang="en-US"/>
          </a:p>
        </p:txBody>
      </p:sp>
    </p:spTree>
    <p:extLst>
      <p:ext uri="{BB962C8B-B14F-4D97-AF65-F5344CB8AC3E}">
        <p14:creationId xmlns:p14="http://schemas.microsoft.com/office/powerpoint/2010/main" val="6557135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How To Avoid: </a:t>
            </a:r>
            <a:br>
              <a:rPr lang="en-US" sz="4000" dirty="0"/>
            </a:br>
            <a:r>
              <a:rPr lang="en-US" sz="4000" dirty="0"/>
              <a:t>Underestimating Data Management</a:t>
            </a:r>
          </a:p>
        </p:txBody>
      </p:sp>
      <p:sp>
        <p:nvSpPr>
          <p:cNvPr id="3" name="Content Placeholder 2">
            <a:extLst>
              <a:ext uri="{FF2B5EF4-FFF2-40B4-BE49-F238E27FC236}">
                <a16:creationId xmlns:a16="http://schemas.microsoft.com/office/drawing/2014/main" id="{52968FF1-0180-401E-A293-6E8D1E5F4D2D}"/>
              </a:ext>
            </a:extLst>
          </p:cNvPr>
          <p:cNvSpPr>
            <a:spLocks noGrp="1"/>
          </p:cNvSpPr>
          <p:nvPr>
            <p:ph idx="1"/>
          </p:nvPr>
        </p:nvSpPr>
        <p:spPr/>
        <p:txBody>
          <a:bodyPr/>
          <a:lstStyle/>
          <a:p>
            <a:pPr marL="0" indent="0">
              <a:lnSpc>
                <a:spcPct val="107000"/>
              </a:lnSpc>
              <a:buNone/>
            </a:pPr>
            <a:r>
              <a:rPr lang="en-US" sz="3200" b="1" dirty="0">
                <a:latin typeface="Calibri" panose="020F0502020204030204" pitchFamily="34" charset="0"/>
                <a:ea typeface="DengXian"/>
                <a:cs typeface="Times New Roman" panose="02020603050405020304" pitchFamily="18" charset="0"/>
              </a:rPr>
              <a:t>Data manipulation specific to analysis needs </a:t>
            </a:r>
          </a:p>
          <a:p>
            <a:pPr marL="285750" indent="-285750">
              <a:spcBef>
                <a:spcPts val="1200"/>
              </a:spcBef>
              <a:buFont typeface="Wingdings" panose="05000000000000000000" pitchFamily="2" charset="2"/>
              <a:buChar char="v"/>
            </a:pPr>
            <a:r>
              <a:rPr lang="en-US" dirty="0"/>
              <a:t>Select observations (participants, visits)</a:t>
            </a:r>
          </a:p>
          <a:p>
            <a:pPr marL="285750" indent="-285750">
              <a:spcBef>
                <a:spcPts val="1200"/>
              </a:spcBef>
              <a:buFont typeface="Wingdings" panose="05000000000000000000" pitchFamily="2" charset="2"/>
              <a:buChar char="v"/>
            </a:pPr>
            <a:r>
              <a:rPr lang="en-US" dirty="0"/>
              <a:t>Select variables </a:t>
            </a:r>
          </a:p>
          <a:p>
            <a:pPr marL="285750" indent="-285750">
              <a:spcBef>
                <a:spcPts val="1200"/>
              </a:spcBef>
              <a:buFont typeface="Wingdings" panose="05000000000000000000" pitchFamily="2" charset="2"/>
              <a:buChar char="v"/>
            </a:pPr>
            <a:r>
              <a:rPr lang="en-US" dirty="0"/>
              <a:t>Derive new variables </a:t>
            </a:r>
          </a:p>
          <a:p>
            <a:pPr marL="285750" indent="-285750">
              <a:spcBef>
                <a:spcPts val="1200"/>
              </a:spcBef>
              <a:buFont typeface="Wingdings" panose="05000000000000000000" pitchFamily="2" charset="2"/>
              <a:buChar char="v"/>
            </a:pPr>
            <a:r>
              <a:rPr lang="en-US" dirty="0"/>
              <a:t>Restructure data </a:t>
            </a:r>
          </a:p>
          <a:p>
            <a:pPr marL="285750" indent="-285750">
              <a:spcBef>
                <a:spcPts val="1200"/>
              </a:spcBef>
              <a:buFont typeface="Wingdings" panose="05000000000000000000" pitchFamily="2" charset="2"/>
              <a:buChar char="v"/>
            </a:pPr>
            <a:r>
              <a:rPr lang="en-US" dirty="0"/>
              <a:t>Merge multiple data sets </a:t>
            </a:r>
          </a:p>
          <a:p>
            <a:endParaRPr lang="en-US" dirty="0"/>
          </a:p>
        </p:txBody>
      </p:sp>
      <p:sp>
        <p:nvSpPr>
          <p:cNvPr id="4" name="Slide Number Placeholder 3"/>
          <p:cNvSpPr>
            <a:spLocks noGrp="1"/>
          </p:cNvSpPr>
          <p:nvPr>
            <p:ph type="sldNum" sz="quarter" idx="12"/>
          </p:nvPr>
        </p:nvSpPr>
        <p:spPr/>
        <p:txBody>
          <a:bodyPr/>
          <a:lstStyle/>
          <a:p>
            <a:fld id="{002F3DE0-FD22-457C-86F5-B6D9760C93D2}" type="slidenum">
              <a:rPr lang="en-US" smtClean="0"/>
              <a:t>47</a:t>
            </a:fld>
            <a:endParaRPr lang="en-US"/>
          </a:p>
        </p:txBody>
      </p:sp>
    </p:spTree>
    <p:extLst>
      <p:ext uri="{BB962C8B-B14F-4D97-AF65-F5344CB8AC3E}">
        <p14:creationId xmlns:p14="http://schemas.microsoft.com/office/powerpoint/2010/main" val="16825709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How To Avoid: </a:t>
            </a:r>
            <a:br>
              <a:rPr lang="en-US" sz="4000" dirty="0"/>
            </a:br>
            <a:r>
              <a:rPr lang="en-US" sz="4000" dirty="0"/>
              <a:t>Underestimating Data Management</a:t>
            </a:r>
          </a:p>
        </p:txBody>
      </p:sp>
      <p:sp>
        <p:nvSpPr>
          <p:cNvPr id="3" name="Content Placeholder 2">
            <a:extLst>
              <a:ext uri="{FF2B5EF4-FFF2-40B4-BE49-F238E27FC236}">
                <a16:creationId xmlns:a16="http://schemas.microsoft.com/office/drawing/2014/main" id="{75BB7D57-8060-4BA4-AFBD-44A7F43DF79E}"/>
              </a:ext>
            </a:extLst>
          </p:cNvPr>
          <p:cNvSpPr>
            <a:spLocks noGrp="1"/>
          </p:cNvSpPr>
          <p:nvPr>
            <p:ph idx="1"/>
          </p:nvPr>
        </p:nvSpPr>
        <p:spPr/>
        <p:txBody>
          <a:bodyPr/>
          <a:lstStyle/>
          <a:p>
            <a:pPr marL="0" indent="0">
              <a:lnSpc>
                <a:spcPct val="107000"/>
              </a:lnSpc>
              <a:buNone/>
            </a:pPr>
            <a:r>
              <a:rPr lang="en-US" sz="3200" b="1" dirty="0">
                <a:latin typeface="Calibri" panose="020F0502020204030204" pitchFamily="34" charset="0"/>
                <a:ea typeface="DengXian"/>
                <a:cs typeface="Times New Roman" panose="02020603050405020304" pitchFamily="18" charset="0"/>
              </a:rPr>
              <a:t>Plan enough time and effort</a:t>
            </a:r>
          </a:p>
          <a:p>
            <a:pPr marL="285750" indent="-285750">
              <a:spcBef>
                <a:spcPts val="1200"/>
              </a:spcBef>
              <a:buFont typeface="Wingdings" panose="05000000000000000000" pitchFamily="2" charset="2"/>
              <a:buChar char="v"/>
            </a:pPr>
            <a:r>
              <a:rPr lang="en-US" dirty="0"/>
              <a:t>Data management takes more time than statistical analysis</a:t>
            </a:r>
          </a:p>
          <a:p>
            <a:pPr marL="285750" indent="-285750">
              <a:spcBef>
                <a:spcPts val="1200"/>
              </a:spcBef>
              <a:buFont typeface="Wingdings" panose="05000000000000000000" pitchFamily="2" charset="2"/>
              <a:buChar char="v"/>
            </a:pPr>
            <a:r>
              <a:rPr lang="en-US" dirty="0"/>
              <a:t>Start early</a:t>
            </a:r>
          </a:p>
          <a:p>
            <a:endParaRPr lang="en-US" dirty="0"/>
          </a:p>
        </p:txBody>
      </p:sp>
      <p:sp>
        <p:nvSpPr>
          <p:cNvPr id="4" name="Slide Number Placeholder 3"/>
          <p:cNvSpPr>
            <a:spLocks noGrp="1"/>
          </p:cNvSpPr>
          <p:nvPr>
            <p:ph type="sldNum" sz="quarter" idx="12"/>
          </p:nvPr>
        </p:nvSpPr>
        <p:spPr/>
        <p:txBody>
          <a:bodyPr/>
          <a:lstStyle/>
          <a:p>
            <a:fld id="{002F3DE0-FD22-457C-86F5-B6D9760C93D2}" type="slidenum">
              <a:rPr lang="en-US" smtClean="0"/>
              <a:t>48</a:t>
            </a:fld>
            <a:endParaRPr lang="en-US"/>
          </a:p>
        </p:txBody>
      </p:sp>
    </p:spTree>
    <p:extLst>
      <p:ext uri="{BB962C8B-B14F-4D97-AF65-F5344CB8AC3E}">
        <p14:creationId xmlns:p14="http://schemas.microsoft.com/office/powerpoint/2010/main" val="19802927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How To Avoid: </a:t>
            </a:r>
            <a:br>
              <a:rPr lang="en-US" sz="4000" dirty="0"/>
            </a:br>
            <a:r>
              <a:rPr lang="en-US" sz="4000" dirty="0"/>
              <a:t>Underestimating Data Management</a:t>
            </a:r>
          </a:p>
        </p:txBody>
      </p:sp>
      <p:sp>
        <p:nvSpPr>
          <p:cNvPr id="3" name="Content Placeholder 2">
            <a:extLst>
              <a:ext uri="{FF2B5EF4-FFF2-40B4-BE49-F238E27FC236}">
                <a16:creationId xmlns:a16="http://schemas.microsoft.com/office/drawing/2014/main" id="{2CDA165B-B907-4DAC-A330-FCC816EBFCAE}"/>
              </a:ext>
            </a:extLst>
          </p:cNvPr>
          <p:cNvSpPr>
            <a:spLocks noGrp="1"/>
          </p:cNvSpPr>
          <p:nvPr>
            <p:ph idx="1"/>
          </p:nvPr>
        </p:nvSpPr>
        <p:spPr>
          <a:xfrm>
            <a:off x="838200" y="2498410"/>
            <a:ext cx="10515600" cy="3857940"/>
          </a:xfrm>
        </p:spPr>
        <p:txBody>
          <a:bodyPr/>
          <a:lstStyle/>
          <a:p>
            <a:pPr marL="0" indent="0">
              <a:lnSpc>
                <a:spcPct val="107000"/>
              </a:lnSpc>
              <a:spcBef>
                <a:spcPts val="1200"/>
              </a:spcBef>
              <a:buNone/>
            </a:pPr>
            <a:r>
              <a:rPr lang="en-US" sz="3200" b="1" dirty="0">
                <a:latin typeface="Calibri" panose="020F0502020204030204" pitchFamily="34" charset="0"/>
                <a:ea typeface="DengXian"/>
                <a:cs typeface="Times New Roman" panose="02020603050405020304" pitchFamily="18" charset="0"/>
              </a:rPr>
              <a:t>Documentation</a:t>
            </a:r>
          </a:p>
          <a:p>
            <a:pPr indent="-285750">
              <a:lnSpc>
                <a:spcPct val="107000"/>
              </a:lnSpc>
              <a:spcBef>
                <a:spcPts val="1200"/>
              </a:spcBef>
              <a:buFont typeface="Wingdings" panose="05000000000000000000" pitchFamily="2" charset="2"/>
              <a:buChar char="v"/>
            </a:pPr>
            <a:r>
              <a:rPr lang="en-US" dirty="0"/>
              <a:t>What has been done to the data </a:t>
            </a:r>
          </a:p>
          <a:p>
            <a:pPr indent="-285750">
              <a:spcBef>
                <a:spcPts val="1200"/>
              </a:spcBef>
              <a:buFont typeface="Wingdings" panose="05000000000000000000" pitchFamily="2" charset="2"/>
              <a:buChar char="v"/>
            </a:pPr>
            <a:r>
              <a:rPr lang="en-US" dirty="0"/>
              <a:t>How the different data sets are created and changed from one to another </a:t>
            </a:r>
          </a:p>
          <a:p>
            <a:pPr indent="-285750">
              <a:spcBef>
                <a:spcPts val="1200"/>
              </a:spcBef>
              <a:buFont typeface="Wingdings" panose="05000000000000000000" pitchFamily="2" charset="2"/>
              <a:buChar char="v"/>
            </a:pPr>
            <a:r>
              <a:rPr lang="en-US" dirty="0"/>
              <a:t>Dates, versions, names </a:t>
            </a:r>
          </a:p>
          <a:p>
            <a:pPr indent="-285750">
              <a:spcBef>
                <a:spcPts val="1200"/>
              </a:spcBef>
              <a:buFont typeface="Wingdings" panose="05000000000000000000" pitchFamily="2" charset="2"/>
              <a:buChar char="v"/>
            </a:pPr>
            <a:r>
              <a:rPr lang="en-US" dirty="0"/>
              <a:t>Help with valid &amp; efficient analysis </a:t>
            </a:r>
          </a:p>
          <a:p>
            <a:pPr indent="-285750">
              <a:spcBef>
                <a:spcPts val="1200"/>
              </a:spcBef>
              <a:buFont typeface="Wingdings" panose="05000000000000000000" pitchFamily="2" charset="2"/>
              <a:buChar char="v"/>
            </a:pPr>
            <a:r>
              <a:rPr lang="en-US" dirty="0"/>
              <a:t>Facilitate team work, multi-center collaboration, and reproducibility </a:t>
            </a:r>
          </a:p>
          <a:p>
            <a:pPr marL="0" indent="0">
              <a:buNone/>
            </a:pPr>
            <a:endParaRPr lang="en-US" dirty="0"/>
          </a:p>
        </p:txBody>
      </p:sp>
      <p:sp>
        <p:nvSpPr>
          <p:cNvPr id="4" name="Slide Number Placeholder 3"/>
          <p:cNvSpPr>
            <a:spLocks noGrp="1"/>
          </p:cNvSpPr>
          <p:nvPr>
            <p:ph type="sldNum" sz="quarter" idx="12"/>
          </p:nvPr>
        </p:nvSpPr>
        <p:spPr/>
        <p:txBody>
          <a:bodyPr/>
          <a:lstStyle/>
          <a:p>
            <a:fld id="{002F3DE0-FD22-457C-86F5-B6D9760C93D2}" type="slidenum">
              <a:rPr lang="en-US" smtClean="0"/>
              <a:t>49</a:t>
            </a:fld>
            <a:endParaRPr lang="en-US"/>
          </a:p>
        </p:txBody>
      </p:sp>
    </p:spTree>
    <p:extLst>
      <p:ext uri="{BB962C8B-B14F-4D97-AF65-F5344CB8AC3E}">
        <p14:creationId xmlns:p14="http://schemas.microsoft.com/office/powerpoint/2010/main" val="27672804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45867-A2EB-4169-9F62-78338399D811}"/>
              </a:ext>
            </a:extLst>
          </p:cNvPr>
          <p:cNvSpPr>
            <a:spLocks noGrp="1"/>
          </p:cNvSpPr>
          <p:nvPr>
            <p:ph type="ctrTitle"/>
          </p:nvPr>
        </p:nvSpPr>
        <p:spPr>
          <a:xfrm>
            <a:off x="1524000" y="1175656"/>
            <a:ext cx="9144000" cy="3053443"/>
          </a:xfrm>
        </p:spPr>
        <p:txBody>
          <a:bodyPr>
            <a:normAutofit/>
          </a:bodyPr>
          <a:lstStyle/>
          <a:p>
            <a:r>
              <a:rPr lang="en-US" dirty="0"/>
              <a:t>Case study: SHARP</a:t>
            </a:r>
            <a:br>
              <a:rPr lang="en-US" dirty="0"/>
            </a:br>
            <a:r>
              <a:rPr lang="en-US" altLang="en-US" sz="4000" dirty="0"/>
              <a:t>(Statins in Healthy, At Risk Adults: Impact on Amyloid and Regional Perfusion)</a:t>
            </a:r>
            <a:endParaRPr lang="en-US" sz="4000" dirty="0"/>
          </a:p>
        </p:txBody>
      </p:sp>
      <p:sp>
        <p:nvSpPr>
          <p:cNvPr id="3" name="Subtitle 2">
            <a:extLst>
              <a:ext uri="{FF2B5EF4-FFF2-40B4-BE49-F238E27FC236}">
                <a16:creationId xmlns:a16="http://schemas.microsoft.com/office/drawing/2014/main" id="{EBC31B4B-4B18-4E70-9623-4315ADF3F7EE}"/>
              </a:ext>
            </a:extLst>
          </p:cNvPr>
          <p:cNvSpPr>
            <a:spLocks noGrp="1"/>
          </p:cNvSpPr>
          <p:nvPr>
            <p:ph type="subTitle" idx="1"/>
          </p:nvPr>
        </p:nvSpPr>
        <p:spPr>
          <a:xfrm>
            <a:off x="1524000" y="4464843"/>
            <a:ext cx="9144000" cy="1655762"/>
          </a:xfrm>
        </p:spPr>
        <p:txBody>
          <a:bodyPr/>
          <a:lstStyle/>
          <a:p>
            <a:r>
              <a:rPr lang="en-US" dirty="0"/>
              <a:t>Principal Investigator: Cynthia Carlsson, MD</a:t>
            </a:r>
          </a:p>
          <a:p>
            <a:endParaRPr lang="en-US" dirty="0"/>
          </a:p>
          <a:p>
            <a:r>
              <a:rPr lang="en-US" dirty="0"/>
              <a:t>Rick Chappell</a:t>
            </a:r>
          </a:p>
        </p:txBody>
      </p:sp>
      <p:sp>
        <p:nvSpPr>
          <p:cNvPr id="4" name="Date Placeholder 3">
            <a:extLst>
              <a:ext uri="{FF2B5EF4-FFF2-40B4-BE49-F238E27FC236}">
                <a16:creationId xmlns:a16="http://schemas.microsoft.com/office/drawing/2014/main" id="{ED3B1A3C-955F-47A8-86CB-D67863B39438}"/>
              </a:ext>
            </a:extLst>
          </p:cNvPr>
          <p:cNvSpPr>
            <a:spLocks noGrp="1"/>
          </p:cNvSpPr>
          <p:nvPr>
            <p:ph type="dt" sz="half" idx="10"/>
          </p:nvPr>
        </p:nvSpPr>
        <p:spPr/>
        <p:txBody>
          <a:bodyPr/>
          <a:lstStyle/>
          <a:p>
            <a:r>
              <a:rPr lang="en-US" dirty="0">
                <a:solidFill>
                  <a:schemeClr val="bg1"/>
                </a:solidFill>
              </a:rPr>
              <a:t>11/5/2018</a:t>
            </a:r>
          </a:p>
        </p:txBody>
      </p:sp>
      <p:sp>
        <p:nvSpPr>
          <p:cNvPr id="5" name="Footer Placeholder 4">
            <a:extLst>
              <a:ext uri="{FF2B5EF4-FFF2-40B4-BE49-F238E27FC236}">
                <a16:creationId xmlns:a16="http://schemas.microsoft.com/office/drawing/2014/main" id="{F44AE0DF-1FD2-4C3E-B3AE-A61DEA75F36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3998104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F589C-C16C-4BCA-882D-CD0FCD6C1647}"/>
              </a:ext>
            </a:extLst>
          </p:cNvPr>
          <p:cNvSpPr>
            <a:spLocks noGrp="1"/>
          </p:cNvSpPr>
          <p:nvPr>
            <p:ph type="title"/>
          </p:nvPr>
        </p:nvSpPr>
        <p:spPr/>
        <p:txBody>
          <a:bodyPr/>
          <a:lstStyle/>
          <a:p>
            <a:r>
              <a:rPr lang="en-US" dirty="0"/>
              <a:t>Case study: SHARP</a:t>
            </a:r>
          </a:p>
        </p:txBody>
      </p:sp>
      <p:sp>
        <p:nvSpPr>
          <p:cNvPr id="16387" name="Rectangle 3">
            <a:extLst>
              <a:ext uri="{FF2B5EF4-FFF2-40B4-BE49-F238E27FC236}">
                <a16:creationId xmlns:a16="http://schemas.microsoft.com/office/drawing/2014/main" id="{79FE7BB8-A2D3-42F5-8E0A-E8A461410ACE}"/>
              </a:ext>
            </a:extLst>
          </p:cNvPr>
          <p:cNvSpPr>
            <a:spLocks noGrp="1" noChangeArrowheads="1"/>
          </p:cNvSpPr>
          <p:nvPr>
            <p:ph idx="1"/>
          </p:nvPr>
        </p:nvSpPr>
        <p:spPr>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2075" tIns="46038" rIns="92075" bIns="46038" rtlCol="0">
            <a:normAutofit/>
          </a:bodyPr>
          <a:lstStyle/>
          <a:p>
            <a:pPr marL="0" indent="0">
              <a:lnSpc>
                <a:spcPct val="80000"/>
              </a:lnSpc>
              <a:buNone/>
            </a:pPr>
            <a:r>
              <a:rPr lang="en-US" altLang="en-US" b="1" dirty="0"/>
              <a:t>Materials:</a:t>
            </a:r>
          </a:p>
          <a:p>
            <a:pPr marL="342900" indent="-342900">
              <a:lnSpc>
                <a:spcPct val="80000"/>
              </a:lnSpc>
            </a:pPr>
            <a:r>
              <a:rPr lang="en-US" altLang="en-US" dirty="0"/>
              <a:t>SHARP Protocol</a:t>
            </a:r>
          </a:p>
          <a:p>
            <a:pPr marL="342900" indent="-342900">
              <a:lnSpc>
                <a:spcPct val="80000"/>
              </a:lnSpc>
            </a:pPr>
            <a:r>
              <a:rPr lang="en-US" altLang="en-US" dirty="0"/>
              <a:t>SHARP Statistical Analysis Plan</a:t>
            </a:r>
          </a:p>
          <a:p>
            <a:pPr marL="342900" indent="-342900">
              <a:lnSpc>
                <a:spcPct val="80000"/>
              </a:lnSpc>
            </a:pPr>
            <a:r>
              <a:rPr lang="en-US" altLang="en-US" dirty="0"/>
              <a:t>Dr. Carlsson’s study rationale slides</a:t>
            </a:r>
          </a:p>
          <a:p>
            <a:pPr marL="342900" indent="-342900">
              <a:lnSpc>
                <a:spcPct val="80000"/>
              </a:lnSpc>
            </a:pPr>
            <a:endParaRPr lang="en-US" altLang="en-US" dirty="0"/>
          </a:p>
          <a:p>
            <a:pPr marL="0" indent="0">
              <a:lnSpc>
                <a:spcPct val="80000"/>
              </a:lnSpc>
              <a:buClr>
                <a:srgbClr val="0099CC"/>
              </a:buClr>
              <a:buNone/>
            </a:pPr>
            <a:r>
              <a:rPr lang="en-US" altLang="en-US" b="1" dirty="0">
                <a:solidFill>
                  <a:srgbClr val="000000"/>
                </a:solidFill>
              </a:rPr>
              <a:t>Key Words: </a:t>
            </a:r>
            <a:r>
              <a:rPr lang="en-US" altLang="en-US" dirty="0">
                <a:solidFill>
                  <a:srgbClr val="000000"/>
                </a:solidFill>
              </a:rPr>
              <a:t>Endpoints, Normalized endpoints, Surrogate outcomes, multiplicity</a:t>
            </a:r>
          </a:p>
        </p:txBody>
      </p:sp>
      <p:sp>
        <p:nvSpPr>
          <p:cNvPr id="16386" name="Rectangle 29">
            <a:extLst>
              <a:ext uri="{FF2B5EF4-FFF2-40B4-BE49-F238E27FC236}">
                <a16:creationId xmlns:a16="http://schemas.microsoft.com/office/drawing/2014/main" id="{65846C6F-7D4C-4512-9C80-F5511EE27AF9}"/>
              </a:ext>
            </a:extLst>
          </p:cNvPr>
          <p:cNvSpPr>
            <a:spLocks noGrp="1" noChangeArrowheads="1"/>
          </p:cNvSpPr>
          <p:nvPr>
            <p:ph type="sldNum" sz="quarter" idx="12"/>
          </p:nvPr>
        </p:nvSpPr>
        <p:spPr>
          <a:noFill/>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2"/>
                </a:solidFill>
                <a:latin typeface="Times New Roman" panose="02020603050405020304" pitchFamily="18" charset="0"/>
              </a:defRPr>
            </a:lvl9pPr>
          </a:lstStyle>
          <a:p>
            <a:fld id="{F6AB704B-649E-42E4-90EA-835AB5968E44}" type="slidenum">
              <a:rPr lang="en-US" altLang="en-US" sz="1400">
                <a:solidFill>
                  <a:srgbClr val="000000"/>
                </a:solidFill>
                <a:latin typeface="Arial" panose="020B0604020202020204" pitchFamily="34" charset="0"/>
              </a:rPr>
              <a:pPr/>
              <a:t>51</a:t>
            </a:fld>
            <a:endParaRPr lang="en-US" altLang="en-US" sz="1400">
              <a:solidFill>
                <a:srgbClr val="000000"/>
              </a:solidFill>
              <a:latin typeface="Arial" panose="020B0604020202020204" pitchFamily="34" charset="0"/>
            </a:endParaRPr>
          </a:p>
        </p:txBody>
      </p:sp>
    </p:spTree>
    <p:extLst>
      <p:ext uri="{BB962C8B-B14F-4D97-AF65-F5344CB8AC3E}">
        <p14:creationId xmlns:p14="http://schemas.microsoft.com/office/powerpoint/2010/main" val="41220374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DE0CB-0B18-40B6-9EE9-0D0C6765E066}"/>
              </a:ext>
            </a:extLst>
          </p:cNvPr>
          <p:cNvSpPr>
            <a:spLocks noGrp="1"/>
          </p:cNvSpPr>
          <p:nvPr>
            <p:ph type="title"/>
          </p:nvPr>
        </p:nvSpPr>
        <p:spPr/>
        <p:txBody>
          <a:bodyPr/>
          <a:lstStyle/>
          <a:p>
            <a:r>
              <a:rPr lang="en-US" dirty="0"/>
              <a:t>Case study: SHARP protocol</a:t>
            </a:r>
          </a:p>
        </p:txBody>
      </p:sp>
      <p:sp>
        <p:nvSpPr>
          <p:cNvPr id="17411" name="Rectangle 3">
            <a:extLst>
              <a:ext uri="{FF2B5EF4-FFF2-40B4-BE49-F238E27FC236}">
                <a16:creationId xmlns:a16="http://schemas.microsoft.com/office/drawing/2014/main" id="{8955A641-0A6F-4D7C-9B33-2C39479F4D91}"/>
              </a:ext>
            </a:extLst>
          </p:cNvPr>
          <p:cNvSpPr>
            <a:spLocks noGrp="1" noChangeArrowheads="1"/>
          </p:cNvSpPr>
          <p:nvPr>
            <p:ph idx="1"/>
          </p:nvPr>
        </p:nvSpPr>
        <p:spPr>
          <a:xfrm>
            <a:off x="838200" y="2498410"/>
            <a:ext cx="10515600" cy="3497276"/>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2075" tIns="46038" rIns="92075" bIns="46038" rtlCol="0">
            <a:normAutofit fontScale="70000" lnSpcReduction="20000"/>
          </a:bodyPr>
          <a:lstStyle/>
          <a:p>
            <a:pPr>
              <a:lnSpc>
                <a:spcPct val="110000"/>
              </a:lnSpc>
              <a:buFontTx/>
              <a:buNone/>
            </a:pPr>
            <a:r>
              <a:rPr lang="en-US" altLang="en-US" sz="3100" b="1" dirty="0"/>
              <a:t>Rationale:</a:t>
            </a:r>
            <a:r>
              <a:rPr lang="en-US" altLang="en-US" sz="3100" dirty="0"/>
              <a:t>  Hypercholesterolemia in midlife increases the risk of developing Alzheimer disease (AD) decades later, possibly via its negative effects on </a:t>
            </a:r>
            <a:r>
              <a:rPr lang="en-US" altLang="en-US" sz="3100" dirty="0">
                <a:latin typeface="Symbol" panose="05050102010706020507" pitchFamily="18" charset="2"/>
                <a:ea typeface="Symbol" panose="05050102010706020507" pitchFamily="18" charset="2"/>
                <a:cs typeface="Symbol" panose="05050102010706020507" pitchFamily="18" charset="2"/>
                <a:sym typeface="Symbol" panose="05050102010706020507" pitchFamily="18" charset="2"/>
              </a:rPr>
              <a:t> </a:t>
            </a:r>
            <a:r>
              <a:rPr lang="en-US" altLang="en-US" sz="3100" dirty="0"/>
              <a:t>-amyloid (A</a:t>
            </a:r>
            <a:r>
              <a:rPr lang="en-US" altLang="en-US" sz="3100" dirty="0">
                <a:latin typeface="Symbol" panose="05050102010706020507" pitchFamily="18" charset="2"/>
                <a:ea typeface="Symbol" panose="05050102010706020507" pitchFamily="18" charset="2"/>
                <a:cs typeface="Symbol" panose="05050102010706020507" pitchFamily="18" charset="2"/>
                <a:sym typeface="Symbol" panose="05050102010706020507" pitchFamily="18" charset="2"/>
              </a:rPr>
              <a:t></a:t>
            </a:r>
            <a:r>
              <a:rPr lang="en-US" altLang="en-US" sz="3100" dirty="0"/>
              <a:t>) metabolism and cerebrovascular dysfunction.  Both A</a:t>
            </a:r>
            <a:r>
              <a:rPr lang="en-US" altLang="en-US" sz="3100" dirty="0">
                <a:latin typeface="Symbol" panose="05050102010706020507" pitchFamily="18" charset="2"/>
                <a:ea typeface="Symbol" panose="05050102010706020507" pitchFamily="18" charset="2"/>
                <a:cs typeface="Symbol" panose="05050102010706020507" pitchFamily="18" charset="2"/>
                <a:sym typeface="Symbol" panose="05050102010706020507" pitchFamily="18" charset="2"/>
              </a:rPr>
              <a:t></a:t>
            </a:r>
            <a:r>
              <a:rPr lang="en-US" altLang="en-US" sz="3100" dirty="0"/>
              <a:t> deposition in the brain and cerebrovascular dysregulation are two early findings in preclinical AD pathology and work synergistically to accelerate neuronal degeneration. Thus, therapeutic interventions that both reduce A</a:t>
            </a:r>
            <a:r>
              <a:rPr lang="en-US" altLang="en-US" sz="3100" dirty="0">
                <a:latin typeface="Symbol" panose="05050102010706020507" pitchFamily="18" charset="2"/>
                <a:ea typeface="Symbol" panose="05050102010706020507" pitchFamily="18" charset="2"/>
                <a:cs typeface="Symbol" panose="05050102010706020507" pitchFamily="18" charset="2"/>
                <a:sym typeface="Symbol" panose="05050102010706020507" pitchFamily="18" charset="2"/>
              </a:rPr>
              <a:t></a:t>
            </a:r>
            <a:r>
              <a:rPr lang="en-US" altLang="en-US" sz="3100" dirty="0"/>
              <a:t> levels and improve cerebral blood flow (CBF) may interrupt this cascade effect to delay the development of AD pathology. </a:t>
            </a:r>
          </a:p>
          <a:p>
            <a:pPr>
              <a:lnSpc>
                <a:spcPct val="110000"/>
              </a:lnSpc>
              <a:buFontTx/>
              <a:buNone/>
            </a:pPr>
            <a:r>
              <a:rPr lang="en-US" altLang="en-US" sz="3100" dirty="0"/>
              <a:t>In epidemiologic studies treatment with cholesterol-lowering medications, specifically statins, is associated with up to a 73% reduction in the prevalence of AD, suggesting a potentially promising role for statins in AD prevention.</a:t>
            </a:r>
          </a:p>
        </p:txBody>
      </p:sp>
      <p:sp>
        <p:nvSpPr>
          <p:cNvPr id="17410" name="Rectangle 29">
            <a:extLst>
              <a:ext uri="{FF2B5EF4-FFF2-40B4-BE49-F238E27FC236}">
                <a16:creationId xmlns:a16="http://schemas.microsoft.com/office/drawing/2014/main" id="{D263DF3F-312B-461B-BCFC-01F1DBCD0032}"/>
              </a:ext>
            </a:extLst>
          </p:cNvPr>
          <p:cNvSpPr>
            <a:spLocks noGrp="1" noChangeArrowheads="1"/>
          </p:cNvSpPr>
          <p:nvPr>
            <p:ph type="sldNum" sz="quarter" idx="12"/>
          </p:nvPr>
        </p:nvSpPr>
        <p:spPr>
          <a:noFill/>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2"/>
                </a:solidFill>
                <a:latin typeface="Times New Roman" panose="02020603050405020304" pitchFamily="18" charset="0"/>
              </a:defRPr>
            </a:lvl9pPr>
          </a:lstStyle>
          <a:p>
            <a:fld id="{F4B6FB70-5FEB-46A9-847E-A8D2C8931876}" type="slidenum">
              <a:rPr lang="en-US" altLang="en-US" sz="1400">
                <a:solidFill>
                  <a:srgbClr val="000000"/>
                </a:solidFill>
                <a:latin typeface="Arial" panose="020B0604020202020204" pitchFamily="34" charset="0"/>
              </a:rPr>
              <a:pPr/>
              <a:t>52</a:t>
            </a:fld>
            <a:endParaRPr lang="en-US" altLang="en-US" sz="1400">
              <a:solidFill>
                <a:srgbClr val="000000"/>
              </a:solidFill>
              <a:latin typeface="Arial" panose="020B0604020202020204" pitchFamily="34" charset="0"/>
            </a:endParaRPr>
          </a:p>
        </p:txBody>
      </p:sp>
    </p:spTree>
    <p:extLst>
      <p:ext uri="{BB962C8B-B14F-4D97-AF65-F5344CB8AC3E}">
        <p14:creationId xmlns:p14="http://schemas.microsoft.com/office/powerpoint/2010/main" val="14829826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8A62F-2972-4375-82B1-74F7FE07CFAD}"/>
              </a:ext>
            </a:extLst>
          </p:cNvPr>
          <p:cNvSpPr>
            <a:spLocks noGrp="1"/>
          </p:cNvSpPr>
          <p:nvPr>
            <p:ph type="title"/>
          </p:nvPr>
        </p:nvSpPr>
        <p:spPr/>
        <p:txBody>
          <a:bodyPr/>
          <a:lstStyle/>
          <a:p>
            <a:r>
              <a:rPr lang="en-US" dirty="0"/>
              <a:t>Case study: SHARP protocol</a:t>
            </a:r>
          </a:p>
        </p:txBody>
      </p:sp>
      <p:sp>
        <p:nvSpPr>
          <p:cNvPr id="18435" name="Rectangle 3">
            <a:extLst>
              <a:ext uri="{FF2B5EF4-FFF2-40B4-BE49-F238E27FC236}">
                <a16:creationId xmlns:a16="http://schemas.microsoft.com/office/drawing/2014/main" id="{80A94F58-0798-4D44-B5FB-D69B72057FA9}"/>
              </a:ext>
            </a:extLst>
          </p:cNvPr>
          <p:cNvSpPr>
            <a:spLocks noGrp="1" noChangeArrowheads="1"/>
          </p:cNvSpPr>
          <p:nvPr>
            <p:ph idx="1"/>
          </p:nvPr>
        </p:nvSpPr>
        <p:spPr>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2075" tIns="46038" rIns="92075" bIns="46038" rtlCol="0">
            <a:normAutofit/>
          </a:bodyPr>
          <a:lstStyle/>
          <a:p>
            <a:pPr>
              <a:lnSpc>
                <a:spcPct val="80000"/>
              </a:lnSpc>
              <a:buFontTx/>
              <a:buNone/>
            </a:pPr>
            <a:r>
              <a:rPr lang="en-US" altLang="en-US" b="1" i="1" dirty="0"/>
              <a:t>Hypotheses: </a:t>
            </a:r>
            <a:r>
              <a:rPr lang="mr-IN" altLang="en-US" b="1" i="1" dirty="0"/>
              <a:t>…</a:t>
            </a:r>
            <a:r>
              <a:rPr lang="en-US" altLang="en-US" b="1" i="1" dirty="0"/>
              <a:t> </a:t>
            </a:r>
            <a:r>
              <a:rPr lang="en-US" altLang="en-US" dirty="0"/>
              <a:t>in middle-aged, non-demented, adult children </a:t>
            </a:r>
            <a:r>
              <a:rPr lang="mr-IN" altLang="en-US" dirty="0"/>
              <a:t>…</a:t>
            </a:r>
            <a:r>
              <a:rPr lang="en-US" altLang="en-US" dirty="0"/>
              <a:t> of persons with AD, long-term simvastatin therapy will beneficially affect two mechanisms central to AD pathology by: </a:t>
            </a:r>
          </a:p>
          <a:p>
            <a:pPr>
              <a:lnSpc>
                <a:spcPct val="80000"/>
              </a:lnSpc>
              <a:buFontTx/>
              <a:buNone/>
            </a:pPr>
            <a:r>
              <a:rPr lang="en-US" altLang="en-US" dirty="0"/>
              <a:t>	1) lowering CSF A</a:t>
            </a:r>
            <a:r>
              <a:rPr lang="en-US" altLang="en-US" dirty="0">
                <a:latin typeface="Symbol" panose="05050102010706020507" pitchFamily="18" charset="2"/>
                <a:ea typeface="Symbol" panose="05050102010706020507" pitchFamily="18" charset="2"/>
                <a:cs typeface="Symbol" panose="05050102010706020507" pitchFamily="18" charset="2"/>
                <a:sym typeface="Symbol" panose="05050102010706020507" pitchFamily="18" charset="2"/>
              </a:rPr>
              <a:t></a:t>
            </a:r>
            <a:r>
              <a:rPr lang="en-US" altLang="en-US" dirty="0"/>
              <a:t> levels, and </a:t>
            </a:r>
          </a:p>
          <a:p>
            <a:pPr>
              <a:lnSpc>
                <a:spcPct val="80000"/>
              </a:lnSpc>
              <a:buFontTx/>
              <a:buNone/>
            </a:pPr>
            <a:r>
              <a:rPr lang="en-US" altLang="en-US" dirty="0"/>
              <a:t>	2) improving CBF.</a:t>
            </a:r>
          </a:p>
          <a:p>
            <a:pPr>
              <a:lnSpc>
                <a:spcPct val="80000"/>
              </a:lnSpc>
              <a:buFontTx/>
              <a:buNone/>
            </a:pPr>
            <a:endParaRPr lang="en-US" altLang="en-US" b="1" i="1" dirty="0"/>
          </a:p>
          <a:p>
            <a:pPr>
              <a:lnSpc>
                <a:spcPct val="80000"/>
              </a:lnSpc>
              <a:buFontTx/>
              <a:buNone/>
            </a:pPr>
            <a:endParaRPr lang="en-US" altLang="en-US" dirty="0"/>
          </a:p>
        </p:txBody>
      </p:sp>
      <p:sp>
        <p:nvSpPr>
          <p:cNvPr id="18434" name="Rectangle 29">
            <a:extLst>
              <a:ext uri="{FF2B5EF4-FFF2-40B4-BE49-F238E27FC236}">
                <a16:creationId xmlns:a16="http://schemas.microsoft.com/office/drawing/2014/main" id="{B3DDE034-A900-4FED-8845-0E9D91A50960}"/>
              </a:ext>
            </a:extLst>
          </p:cNvPr>
          <p:cNvSpPr>
            <a:spLocks noGrp="1" noChangeArrowheads="1"/>
          </p:cNvSpPr>
          <p:nvPr>
            <p:ph type="sldNum" sz="quarter" idx="12"/>
          </p:nvPr>
        </p:nvSpPr>
        <p:spPr>
          <a:noFill/>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2"/>
                </a:solidFill>
                <a:latin typeface="Times New Roman" panose="02020603050405020304" pitchFamily="18" charset="0"/>
              </a:defRPr>
            </a:lvl9pPr>
          </a:lstStyle>
          <a:p>
            <a:fld id="{08CA2FB9-F60E-457E-8FE8-F2CE69A7A22B}" type="slidenum">
              <a:rPr lang="en-US" altLang="en-US" sz="1400">
                <a:solidFill>
                  <a:srgbClr val="000000"/>
                </a:solidFill>
                <a:latin typeface="Arial" panose="020B0604020202020204" pitchFamily="34" charset="0"/>
              </a:rPr>
              <a:pPr/>
              <a:t>53</a:t>
            </a:fld>
            <a:endParaRPr lang="en-US" altLang="en-US" sz="1400">
              <a:solidFill>
                <a:srgbClr val="000000"/>
              </a:solidFill>
              <a:latin typeface="Arial" panose="020B0604020202020204" pitchFamily="34" charset="0"/>
            </a:endParaRPr>
          </a:p>
        </p:txBody>
      </p:sp>
    </p:spTree>
    <p:extLst>
      <p:ext uri="{BB962C8B-B14F-4D97-AF65-F5344CB8AC3E}">
        <p14:creationId xmlns:p14="http://schemas.microsoft.com/office/powerpoint/2010/main" val="38886502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FFDB3-FBE2-4BC1-91FA-AA6AE0975E4D}"/>
              </a:ext>
            </a:extLst>
          </p:cNvPr>
          <p:cNvSpPr>
            <a:spLocks noGrp="1"/>
          </p:cNvSpPr>
          <p:nvPr>
            <p:ph type="title"/>
          </p:nvPr>
        </p:nvSpPr>
        <p:spPr/>
        <p:txBody>
          <a:bodyPr/>
          <a:lstStyle/>
          <a:p>
            <a:r>
              <a:rPr lang="en-US" dirty="0"/>
              <a:t>Case study: SHARP protocol</a:t>
            </a:r>
          </a:p>
        </p:txBody>
      </p:sp>
      <p:sp>
        <p:nvSpPr>
          <p:cNvPr id="19459" name="Rectangle 3">
            <a:extLst>
              <a:ext uri="{FF2B5EF4-FFF2-40B4-BE49-F238E27FC236}">
                <a16:creationId xmlns:a16="http://schemas.microsoft.com/office/drawing/2014/main" id="{31EEBC83-3A28-4F18-9A20-F3547AF13BFB}"/>
              </a:ext>
            </a:extLst>
          </p:cNvPr>
          <p:cNvSpPr>
            <a:spLocks noGrp="1" noChangeArrowheads="1"/>
          </p:cNvSpPr>
          <p:nvPr>
            <p:ph idx="1"/>
          </p:nvPr>
        </p:nvSpPr>
        <p:spPr>
          <a:xfrm>
            <a:off x="838200" y="2280213"/>
            <a:ext cx="10515600" cy="4076137"/>
          </a:xfrm>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2075" tIns="46038" rIns="92075" bIns="46038" rtlCol="0">
            <a:normAutofit fontScale="70000" lnSpcReduction="20000"/>
          </a:bodyPr>
          <a:lstStyle/>
          <a:p>
            <a:pPr>
              <a:lnSpc>
                <a:spcPct val="110000"/>
              </a:lnSpc>
              <a:buFontTx/>
              <a:buNone/>
            </a:pPr>
            <a:r>
              <a:rPr lang="en-US" altLang="en-US" b="1" i="1" dirty="0"/>
              <a:t>Specific Aims: </a:t>
            </a:r>
            <a:endParaRPr lang="en-US" altLang="en-US" dirty="0"/>
          </a:p>
          <a:p>
            <a:pPr>
              <a:lnSpc>
                <a:spcPct val="110000"/>
              </a:lnSpc>
              <a:buFontTx/>
              <a:buAutoNum type="arabicPeriod"/>
            </a:pPr>
            <a:r>
              <a:rPr lang="en-US" altLang="en-US" dirty="0"/>
              <a:t>To determine the effects of 18 months of simvastatin therapy on CSF levels of </a:t>
            </a:r>
            <a:r>
              <a:rPr lang="mr-IN" altLang="en-US" dirty="0"/>
              <a:t>…</a:t>
            </a:r>
            <a:r>
              <a:rPr lang="en-US" altLang="en-US" dirty="0"/>
              <a:t> A</a:t>
            </a:r>
            <a:r>
              <a:rPr lang="en-US" altLang="en-US" dirty="0">
                <a:latin typeface="Symbol" panose="05050102010706020507" pitchFamily="18" charset="2"/>
                <a:ea typeface="Symbol" panose="05050102010706020507" pitchFamily="18" charset="2"/>
                <a:cs typeface="Symbol" panose="05050102010706020507" pitchFamily="18" charset="2"/>
                <a:sym typeface="Symbol" panose="05050102010706020507" pitchFamily="18" charset="2"/>
              </a:rPr>
              <a:t></a:t>
            </a:r>
            <a:r>
              <a:rPr lang="en-US" altLang="en-US" baseline="-25000" dirty="0"/>
              <a:t>42</a:t>
            </a:r>
            <a:r>
              <a:rPr lang="en-US" altLang="en-US" dirty="0"/>
              <a:t> in non-demented adult children of persons with AD when compared to subjects taking placebo. </a:t>
            </a:r>
          </a:p>
          <a:p>
            <a:pPr>
              <a:lnSpc>
                <a:spcPct val="110000"/>
              </a:lnSpc>
              <a:buFontTx/>
              <a:buAutoNum type="arabicPeriod"/>
            </a:pPr>
            <a:r>
              <a:rPr lang="en-US" altLang="en-US" dirty="0"/>
              <a:t>To determine </a:t>
            </a:r>
            <a:r>
              <a:rPr lang="mr-IN" altLang="en-US" dirty="0"/>
              <a:t>…</a:t>
            </a:r>
            <a:r>
              <a:rPr lang="en-US" altLang="en-US" dirty="0"/>
              <a:t> on other CSF biomarkers related to AD progression, including A</a:t>
            </a:r>
            <a:r>
              <a:rPr lang="en-US" altLang="en-US" dirty="0">
                <a:latin typeface="Symbol" panose="05050102010706020507" pitchFamily="18" charset="2"/>
                <a:ea typeface="Symbol" panose="05050102010706020507" pitchFamily="18" charset="2"/>
                <a:cs typeface="Symbol" panose="05050102010706020507" pitchFamily="18" charset="2"/>
                <a:sym typeface="Symbol" panose="05050102010706020507" pitchFamily="18" charset="2"/>
              </a:rPr>
              <a:t></a:t>
            </a:r>
            <a:r>
              <a:rPr lang="en-US" altLang="en-US" baseline="-25000" dirty="0">
                <a:latin typeface="Symbol" panose="05050102010706020507" pitchFamily="18" charset="2"/>
                <a:ea typeface="Symbol" panose="05050102010706020507" pitchFamily="18" charset="2"/>
                <a:cs typeface="Symbol" panose="05050102010706020507" pitchFamily="18" charset="2"/>
                <a:sym typeface="Symbol" panose="05050102010706020507" pitchFamily="18" charset="2"/>
              </a:rPr>
              <a:t>40</a:t>
            </a:r>
            <a:r>
              <a:rPr lang="en-US" altLang="en-US" dirty="0"/>
              <a:t>, A</a:t>
            </a:r>
            <a:r>
              <a:rPr lang="en-US" altLang="en-US" dirty="0">
                <a:latin typeface="Symbol" panose="05050102010706020507" pitchFamily="18" charset="2"/>
                <a:ea typeface="Symbol" panose="05050102010706020507" pitchFamily="18" charset="2"/>
                <a:cs typeface="Symbol" panose="05050102010706020507" pitchFamily="18" charset="2"/>
                <a:sym typeface="Symbol" panose="05050102010706020507" pitchFamily="18" charset="2"/>
              </a:rPr>
              <a:t></a:t>
            </a:r>
            <a:r>
              <a:rPr lang="en-US" altLang="en-US" dirty="0"/>
              <a:t> peptide fragments, </a:t>
            </a:r>
            <a:r>
              <a:rPr lang="mr-IN" altLang="en-US" dirty="0"/>
              <a:t>…</a:t>
            </a:r>
            <a:r>
              <a:rPr lang="en-US" altLang="en-US" dirty="0"/>
              <a:t> t-tau, p-tau, and novel </a:t>
            </a:r>
            <a:r>
              <a:rPr lang="mr-IN" altLang="en-US" dirty="0"/>
              <a:t>…</a:t>
            </a:r>
            <a:r>
              <a:rPr lang="en-US" altLang="en-US" dirty="0"/>
              <a:t> SELDI-TOF biomarkers in non-demented adult children of persons with AD when compared to subjects taking placebo. </a:t>
            </a:r>
          </a:p>
          <a:p>
            <a:pPr>
              <a:lnSpc>
                <a:spcPct val="110000"/>
              </a:lnSpc>
              <a:buFontTx/>
              <a:buAutoNum type="arabicPeriod"/>
            </a:pPr>
            <a:r>
              <a:rPr lang="en-US" altLang="en-US" dirty="0"/>
              <a:t>To evaluate </a:t>
            </a:r>
            <a:r>
              <a:rPr lang="mr-IN" altLang="en-US" dirty="0"/>
              <a:t>…</a:t>
            </a:r>
            <a:r>
              <a:rPr lang="en-US" altLang="en-US" dirty="0"/>
              <a:t> on quantitative CBF as measured by ASL-MRI.</a:t>
            </a:r>
          </a:p>
          <a:p>
            <a:pPr>
              <a:lnSpc>
                <a:spcPct val="110000"/>
              </a:lnSpc>
              <a:buFontTx/>
              <a:buAutoNum type="arabicPeriod"/>
            </a:pPr>
            <a:r>
              <a:rPr lang="en-US" altLang="en-US" dirty="0"/>
              <a:t>To investigate the effect of duration of simvastatin therapy on CSF and CBF at 6, 12, and 18 months.</a:t>
            </a:r>
          </a:p>
          <a:p>
            <a:pPr>
              <a:lnSpc>
                <a:spcPct val="110000"/>
              </a:lnSpc>
              <a:buFontTx/>
              <a:buAutoNum type="arabicPeriod"/>
            </a:pPr>
            <a:r>
              <a:rPr lang="en-US" altLang="en-US" dirty="0"/>
              <a:t>To understand the relationship of changes in primary and secondary outcome measures (CSF biomarkers and </a:t>
            </a:r>
            <a:r>
              <a:rPr lang="en-US" altLang="en-US" dirty="0" err="1"/>
              <a:t>qASL</a:t>
            </a:r>
            <a:r>
              <a:rPr lang="en-US" altLang="en-US" dirty="0"/>
              <a:t>-MRI) with changes in cognition.</a:t>
            </a:r>
          </a:p>
        </p:txBody>
      </p:sp>
      <p:sp>
        <p:nvSpPr>
          <p:cNvPr id="19458" name="Rectangle 29">
            <a:extLst>
              <a:ext uri="{FF2B5EF4-FFF2-40B4-BE49-F238E27FC236}">
                <a16:creationId xmlns:a16="http://schemas.microsoft.com/office/drawing/2014/main" id="{89EE47EE-4D4D-49B1-8F68-59E5DA8002EB}"/>
              </a:ext>
            </a:extLst>
          </p:cNvPr>
          <p:cNvSpPr>
            <a:spLocks noGrp="1" noChangeArrowheads="1"/>
          </p:cNvSpPr>
          <p:nvPr>
            <p:ph type="sldNum" sz="quarter" idx="12"/>
          </p:nvPr>
        </p:nvSpPr>
        <p:spPr>
          <a:noFill/>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2"/>
                </a:solidFill>
                <a:latin typeface="Times New Roman" panose="02020603050405020304" pitchFamily="18" charset="0"/>
              </a:defRPr>
            </a:lvl9pPr>
          </a:lstStyle>
          <a:p>
            <a:fld id="{A0427765-AC01-4703-A955-F38574B8F6F4}" type="slidenum">
              <a:rPr lang="en-US" altLang="en-US" sz="1400">
                <a:solidFill>
                  <a:srgbClr val="000000"/>
                </a:solidFill>
                <a:latin typeface="Arial" panose="020B0604020202020204" pitchFamily="34" charset="0"/>
              </a:rPr>
              <a:pPr/>
              <a:t>54</a:t>
            </a:fld>
            <a:endParaRPr lang="en-US" altLang="en-US" sz="1400">
              <a:solidFill>
                <a:srgbClr val="000000"/>
              </a:solidFill>
              <a:latin typeface="Arial" panose="020B0604020202020204" pitchFamily="34" charset="0"/>
            </a:endParaRPr>
          </a:p>
        </p:txBody>
      </p:sp>
    </p:spTree>
    <p:extLst>
      <p:ext uri="{BB962C8B-B14F-4D97-AF65-F5344CB8AC3E}">
        <p14:creationId xmlns:p14="http://schemas.microsoft.com/office/powerpoint/2010/main" val="6045980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48796-9D62-4911-A59B-44BEF9323353}"/>
              </a:ext>
            </a:extLst>
          </p:cNvPr>
          <p:cNvSpPr>
            <a:spLocks noGrp="1"/>
          </p:cNvSpPr>
          <p:nvPr>
            <p:ph type="title"/>
          </p:nvPr>
        </p:nvSpPr>
        <p:spPr/>
        <p:txBody>
          <a:bodyPr/>
          <a:lstStyle/>
          <a:p>
            <a:r>
              <a:rPr lang="en-US" dirty="0"/>
              <a:t>Case study: SHARP Statistical Analysis Plan</a:t>
            </a:r>
          </a:p>
        </p:txBody>
      </p:sp>
      <p:sp>
        <p:nvSpPr>
          <p:cNvPr id="20483" name="Rectangle 3">
            <a:extLst>
              <a:ext uri="{FF2B5EF4-FFF2-40B4-BE49-F238E27FC236}">
                <a16:creationId xmlns:a16="http://schemas.microsoft.com/office/drawing/2014/main" id="{1A52F539-7109-40F9-B69D-39AE24D27D43}"/>
              </a:ext>
            </a:extLst>
          </p:cNvPr>
          <p:cNvSpPr>
            <a:spLocks noGrp="1" noChangeArrowheads="1"/>
          </p:cNvSpPr>
          <p:nvPr>
            <p:ph idx="1"/>
          </p:nvPr>
        </p:nvSpPr>
        <p:spPr>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2075" tIns="46038" rIns="92075" bIns="46038" rtlCol="0">
            <a:normAutofit/>
          </a:bodyPr>
          <a:lstStyle/>
          <a:p>
            <a:pPr>
              <a:lnSpc>
                <a:spcPct val="120000"/>
              </a:lnSpc>
              <a:spcBef>
                <a:spcPts val="0"/>
              </a:spcBef>
              <a:buFontTx/>
              <a:buNone/>
            </a:pPr>
            <a:r>
              <a:rPr lang="en-US" altLang="en-US" sz="2200" dirty="0"/>
              <a:t>Thought experiment - count the number of specific outcomes listed in the SAP.  </a:t>
            </a:r>
          </a:p>
          <a:p>
            <a:pPr>
              <a:lnSpc>
                <a:spcPct val="120000"/>
              </a:lnSpc>
              <a:spcBef>
                <a:spcPts val="0"/>
              </a:spcBef>
            </a:pPr>
            <a:r>
              <a:rPr lang="en-US" altLang="en-US" sz="2200" dirty="0"/>
              <a:t>Main categories are:</a:t>
            </a:r>
          </a:p>
          <a:p>
            <a:pPr lvl="1">
              <a:lnSpc>
                <a:spcPct val="120000"/>
              </a:lnSpc>
              <a:spcBef>
                <a:spcPts val="0"/>
              </a:spcBef>
              <a:buFont typeface="Times New Roman" panose="02020603050405020304" pitchFamily="18" charset="0"/>
              <a:buAutoNum type="arabicPeriod"/>
            </a:pPr>
            <a:r>
              <a:rPr lang="en-US" altLang="en-US" sz="1800" dirty="0"/>
              <a:t>CSF protein biomarkers</a:t>
            </a:r>
          </a:p>
          <a:p>
            <a:pPr lvl="1">
              <a:lnSpc>
                <a:spcPct val="120000"/>
              </a:lnSpc>
              <a:spcBef>
                <a:spcPts val="0"/>
              </a:spcBef>
              <a:buFont typeface="Times New Roman" panose="02020603050405020304" pitchFamily="18" charset="0"/>
              <a:buAutoNum type="arabicPeriod"/>
            </a:pPr>
            <a:r>
              <a:rPr lang="en-US" altLang="en-US" sz="1800" dirty="0"/>
              <a:t>Cerebral blood flow</a:t>
            </a:r>
          </a:p>
          <a:p>
            <a:pPr lvl="1">
              <a:lnSpc>
                <a:spcPct val="120000"/>
              </a:lnSpc>
              <a:spcBef>
                <a:spcPts val="0"/>
              </a:spcBef>
              <a:buFont typeface="Times New Roman" panose="02020603050405020304" pitchFamily="18" charset="0"/>
              <a:buAutoNum type="arabicPeriod"/>
            </a:pPr>
            <a:r>
              <a:rPr lang="en-US" altLang="en-US" sz="1800" dirty="0"/>
              <a:t>Cognitive outcomes</a:t>
            </a:r>
            <a:endParaRPr lang="en-US" altLang="en-US" sz="2200" dirty="0"/>
          </a:p>
          <a:p>
            <a:pPr>
              <a:lnSpc>
                <a:spcPct val="120000"/>
              </a:lnSpc>
              <a:spcBef>
                <a:spcPts val="0"/>
              </a:spcBef>
            </a:pPr>
            <a:r>
              <a:rPr lang="en-US" altLang="en-US" sz="2200" dirty="0"/>
              <a:t>Measures are taken at 0, 12, 18, and sometimes 6 months.</a:t>
            </a:r>
          </a:p>
          <a:p>
            <a:pPr>
              <a:lnSpc>
                <a:spcPct val="120000"/>
              </a:lnSpc>
              <a:spcBef>
                <a:spcPts val="0"/>
              </a:spcBef>
            </a:pPr>
            <a:r>
              <a:rPr lang="en-US" altLang="en-US" sz="2200" dirty="0"/>
              <a:t>We can look at absolute measures or change from baseline.</a:t>
            </a:r>
          </a:p>
          <a:p>
            <a:pPr>
              <a:lnSpc>
                <a:spcPct val="120000"/>
              </a:lnSpc>
              <a:spcBef>
                <a:spcPts val="0"/>
              </a:spcBef>
            </a:pPr>
            <a:r>
              <a:rPr lang="en-US" altLang="en-US" sz="2200" dirty="0"/>
              <a:t>Besides standardizing by baseline, CBF can be anatomically standardized.</a:t>
            </a:r>
          </a:p>
          <a:p>
            <a:pPr>
              <a:lnSpc>
                <a:spcPct val="120000"/>
              </a:lnSpc>
              <a:spcBef>
                <a:spcPts val="0"/>
              </a:spcBef>
            </a:pPr>
            <a:r>
              <a:rPr lang="en-US" altLang="en-US" sz="2200" dirty="0"/>
              <a:t>There are no major safety endpoints.  Why?</a:t>
            </a:r>
          </a:p>
          <a:p>
            <a:pPr>
              <a:lnSpc>
                <a:spcPct val="80000"/>
              </a:lnSpc>
              <a:buFont typeface="Wingdings" panose="05000000000000000000" pitchFamily="2" charset="2"/>
              <a:buChar char="§"/>
            </a:pPr>
            <a:endParaRPr lang="en-US" altLang="en-US" dirty="0"/>
          </a:p>
        </p:txBody>
      </p:sp>
      <p:sp>
        <p:nvSpPr>
          <p:cNvPr id="20482" name="Rectangle 29">
            <a:extLst>
              <a:ext uri="{FF2B5EF4-FFF2-40B4-BE49-F238E27FC236}">
                <a16:creationId xmlns:a16="http://schemas.microsoft.com/office/drawing/2014/main" id="{40EFB9A4-E81D-4AD4-9DBF-736941175A7B}"/>
              </a:ext>
            </a:extLst>
          </p:cNvPr>
          <p:cNvSpPr>
            <a:spLocks noGrp="1" noChangeArrowheads="1"/>
          </p:cNvSpPr>
          <p:nvPr>
            <p:ph type="sldNum" sz="quarter" idx="12"/>
          </p:nvPr>
        </p:nvSpPr>
        <p:spPr>
          <a:noFill/>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2"/>
                </a:solidFill>
                <a:latin typeface="Times New Roman" panose="02020603050405020304" pitchFamily="18" charset="0"/>
              </a:defRPr>
            </a:lvl9pPr>
          </a:lstStyle>
          <a:p>
            <a:fld id="{F3F90809-2CE8-43AC-A19E-6AFB20E7BD44}" type="slidenum">
              <a:rPr lang="en-US" altLang="en-US" sz="1400">
                <a:solidFill>
                  <a:srgbClr val="000000"/>
                </a:solidFill>
                <a:latin typeface="Arial" panose="020B0604020202020204" pitchFamily="34" charset="0"/>
              </a:rPr>
              <a:pPr/>
              <a:t>55</a:t>
            </a:fld>
            <a:endParaRPr lang="en-US" altLang="en-US" sz="1400">
              <a:solidFill>
                <a:srgbClr val="000000"/>
              </a:solidFill>
              <a:latin typeface="Arial" panose="020B0604020202020204" pitchFamily="34" charset="0"/>
            </a:endParaRPr>
          </a:p>
        </p:txBody>
      </p:sp>
    </p:spTree>
    <p:extLst>
      <p:ext uri="{BB962C8B-B14F-4D97-AF65-F5344CB8AC3E}">
        <p14:creationId xmlns:p14="http://schemas.microsoft.com/office/powerpoint/2010/main" val="38105902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F47642-CECD-4BD8-9C20-B4BDDD836324}"/>
              </a:ext>
            </a:extLst>
          </p:cNvPr>
          <p:cNvSpPr>
            <a:spLocks noGrp="1"/>
          </p:cNvSpPr>
          <p:nvPr>
            <p:ph type="title"/>
          </p:nvPr>
        </p:nvSpPr>
        <p:spPr/>
        <p:txBody>
          <a:bodyPr/>
          <a:lstStyle/>
          <a:p>
            <a:r>
              <a:rPr lang="en-US" dirty="0"/>
              <a:t>Case study: SHARP Statistical Analysis Plan</a:t>
            </a:r>
          </a:p>
        </p:txBody>
      </p:sp>
      <p:sp>
        <p:nvSpPr>
          <p:cNvPr id="21507" name="Rectangle 3">
            <a:extLst>
              <a:ext uri="{FF2B5EF4-FFF2-40B4-BE49-F238E27FC236}">
                <a16:creationId xmlns:a16="http://schemas.microsoft.com/office/drawing/2014/main" id="{25AF35E9-1B00-47AA-BA5F-02FF1F26FD35}"/>
              </a:ext>
            </a:extLst>
          </p:cNvPr>
          <p:cNvSpPr>
            <a:spLocks noGrp="1" noChangeArrowheads="1"/>
          </p:cNvSpPr>
          <p:nvPr>
            <p:ph idx="1"/>
          </p:nvPr>
        </p:nvSpPr>
        <p:spPr>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2075" tIns="46038" rIns="92075" bIns="46038" rtlCol="0">
            <a:normAutofit fontScale="92500" lnSpcReduction="10000"/>
          </a:bodyPr>
          <a:lstStyle/>
          <a:p>
            <a:pPr>
              <a:lnSpc>
                <a:spcPct val="80000"/>
              </a:lnSpc>
              <a:buFontTx/>
              <a:buNone/>
            </a:pPr>
            <a:r>
              <a:rPr lang="en-US" altLang="en-US" i="1" dirty="0"/>
              <a:t>Sub-</a:t>
            </a:r>
            <a:r>
              <a:rPr lang="en-US" altLang="en-US" dirty="0"/>
              <a:t>categories are:</a:t>
            </a:r>
          </a:p>
          <a:p>
            <a:pPr marL="914400" lvl="1" indent="-457200">
              <a:lnSpc>
                <a:spcPct val="80000"/>
              </a:lnSpc>
              <a:buFont typeface="+mj-lt"/>
              <a:buAutoNum type="arabicPeriod"/>
            </a:pPr>
            <a:r>
              <a:rPr lang="en-US" altLang="en-US" dirty="0"/>
              <a:t>For CSF, </a:t>
            </a:r>
            <a:r>
              <a:rPr lang="en-US" altLang="en-US" b="1" dirty="0"/>
              <a:t>Protein biomarkers:</a:t>
            </a:r>
          </a:p>
          <a:p>
            <a:pPr marL="1949450" lvl="2" indent="-457200">
              <a:lnSpc>
                <a:spcPct val="80000"/>
              </a:lnSpc>
              <a:buFont typeface="Times New Roman" panose="02020603050405020304" pitchFamily="18" charset="0"/>
              <a:buAutoNum type="alphaLcParenR"/>
            </a:pPr>
            <a:r>
              <a:rPr lang="en-US" altLang="en-US" dirty="0"/>
              <a:t>Primary outcome Aβ42 at 18 vs. 0 months</a:t>
            </a:r>
          </a:p>
          <a:p>
            <a:pPr marL="1949450" lvl="2" indent="-457200">
              <a:lnSpc>
                <a:spcPct val="80000"/>
              </a:lnSpc>
              <a:buFont typeface="Times New Roman" panose="02020603050405020304" pitchFamily="18" charset="0"/>
              <a:buAutoNum type="alphaLcParenR"/>
            </a:pPr>
            <a:r>
              <a:rPr lang="en-US" altLang="en-US" dirty="0"/>
              <a:t>Many secondary outcomes </a:t>
            </a:r>
            <a:r>
              <a:rPr lang="mr-IN" altLang="en-US" dirty="0"/>
              <a:t>–</a:t>
            </a:r>
            <a:r>
              <a:rPr lang="en-US" altLang="en-US" dirty="0"/>
              <a:t> see SAP</a:t>
            </a:r>
          </a:p>
          <a:p>
            <a:pPr marL="914400" lvl="1" indent="-457200">
              <a:lnSpc>
                <a:spcPct val="80000"/>
              </a:lnSpc>
              <a:buFont typeface="Times New Roman" panose="02020603050405020304" pitchFamily="18" charset="0"/>
              <a:buAutoNum type="arabicPeriod"/>
            </a:pPr>
            <a:r>
              <a:rPr lang="en-US" altLang="en-US" dirty="0"/>
              <a:t>For cerebral blood flow, </a:t>
            </a:r>
            <a:r>
              <a:rPr lang="en-US" altLang="en-US" b="1" dirty="0"/>
              <a:t>Regions</a:t>
            </a:r>
            <a:r>
              <a:rPr lang="en-US" altLang="en-US" dirty="0"/>
              <a:t>:</a:t>
            </a:r>
          </a:p>
          <a:p>
            <a:pPr marL="1949450" lvl="2" indent="-457200">
              <a:lnSpc>
                <a:spcPct val="80000"/>
              </a:lnSpc>
              <a:buFont typeface="Times New Roman" panose="02020603050405020304" pitchFamily="18" charset="0"/>
              <a:buAutoNum type="alphaLcParenR"/>
            </a:pPr>
            <a:r>
              <a:rPr lang="en-US" altLang="en-US" dirty="0"/>
              <a:t>Whole brain</a:t>
            </a:r>
          </a:p>
          <a:p>
            <a:pPr marL="1949450" lvl="2" indent="-457200">
              <a:lnSpc>
                <a:spcPct val="80000"/>
              </a:lnSpc>
              <a:buFont typeface="Times New Roman" panose="02020603050405020304" pitchFamily="18" charset="0"/>
              <a:buAutoNum type="alphaLcParenR"/>
            </a:pPr>
            <a:r>
              <a:rPr lang="en-US" altLang="en-US" dirty="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i="1" dirty="0"/>
              <a:t>Pre-defined</a:t>
            </a:r>
            <a:r>
              <a:rPr lang="en-US" altLang="en-US" dirty="0"/>
              <a:t> “Statistical region of interest”</a:t>
            </a:r>
          </a:p>
          <a:p>
            <a:pPr marL="1949450" lvl="2" indent="-457200">
              <a:lnSpc>
                <a:spcPct val="80000"/>
              </a:lnSpc>
              <a:buFont typeface="Times New Roman" panose="02020603050405020304" pitchFamily="18" charset="0"/>
              <a:buAutoNum type="alphaLcParenR"/>
            </a:pPr>
            <a:r>
              <a:rPr lang="en-US" altLang="en-US" dirty="0"/>
              <a:t>Many cerebral regions </a:t>
            </a:r>
            <a:r>
              <a:rPr lang="mr-IN" altLang="en-US" dirty="0"/>
              <a:t>–</a:t>
            </a:r>
            <a:r>
              <a:rPr lang="en-US" altLang="en-US" dirty="0"/>
              <a:t> see SAP</a:t>
            </a:r>
          </a:p>
          <a:p>
            <a:pPr marL="914400" lvl="1" indent="-457200">
              <a:lnSpc>
                <a:spcPct val="80000"/>
              </a:lnSpc>
              <a:buFont typeface="Times New Roman" panose="02020603050405020304" pitchFamily="18" charset="0"/>
              <a:buAutoNum type="arabicPeriod"/>
            </a:pPr>
            <a:r>
              <a:rPr lang="en-US" altLang="en-US" dirty="0"/>
              <a:t>For cognitive outcomes, </a:t>
            </a:r>
            <a:r>
              <a:rPr lang="en-US" altLang="en-US" b="1" dirty="0"/>
              <a:t>Domains</a:t>
            </a:r>
            <a:r>
              <a:rPr lang="en-US" altLang="en-US" dirty="0"/>
              <a:t>:</a:t>
            </a:r>
          </a:p>
          <a:p>
            <a:pPr marL="1949450" lvl="2" indent="-457200">
              <a:lnSpc>
                <a:spcPct val="80000"/>
              </a:lnSpc>
              <a:buFont typeface="Times New Roman" panose="02020603050405020304" pitchFamily="18" charset="0"/>
              <a:buAutoNum type="alphaLcParenR"/>
            </a:pPr>
            <a:r>
              <a:rPr lang="en-US" altLang="en-US" dirty="0"/>
              <a:t>Memory / Learning</a:t>
            </a:r>
          </a:p>
          <a:p>
            <a:pPr marL="1949450" lvl="2" indent="-457200">
              <a:lnSpc>
                <a:spcPct val="80000"/>
              </a:lnSpc>
              <a:buFont typeface="Times New Roman" panose="02020603050405020304" pitchFamily="18" charset="0"/>
              <a:buAutoNum type="alphaLcParenR"/>
            </a:pPr>
            <a:r>
              <a:rPr lang="en-US" altLang="en-US" dirty="0"/>
              <a:t>Complex attention</a:t>
            </a:r>
          </a:p>
          <a:p>
            <a:pPr marL="1949450" lvl="2" indent="-457200">
              <a:lnSpc>
                <a:spcPct val="80000"/>
              </a:lnSpc>
              <a:buFont typeface="Times New Roman" panose="02020603050405020304" pitchFamily="18" charset="0"/>
              <a:buAutoNum type="alphaLcParenR"/>
            </a:pPr>
            <a:r>
              <a:rPr lang="en-US" altLang="en-US" dirty="0"/>
              <a:t>Language</a:t>
            </a:r>
          </a:p>
          <a:p>
            <a:pPr marL="1949450" lvl="2" indent="-457200">
              <a:lnSpc>
                <a:spcPct val="80000"/>
              </a:lnSpc>
              <a:buFont typeface="Times New Roman" panose="02020603050405020304" pitchFamily="18" charset="0"/>
              <a:buAutoNum type="alphaLcParenR"/>
            </a:pPr>
            <a:r>
              <a:rPr lang="en-US" altLang="en-US" dirty="0"/>
              <a:t>Working Memory</a:t>
            </a:r>
          </a:p>
          <a:p>
            <a:pPr marL="1492250" lvl="1" indent="-457200">
              <a:lnSpc>
                <a:spcPct val="80000"/>
              </a:lnSpc>
              <a:buFont typeface="Times New Roman" panose="02020603050405020304" pitchFamily="18" charset="0"/>
              <a:buAutoNum type="arabicPeriod"/>
            </a:pPr>
            <a:endParaRPr lang="en-US" altLang="en-US" sz="2400" b="1" dirty="0"/>
          </a:p>
          <a:p>
            <a:pPr>
              <a:lnSpc>
                <a:spcPct val="80000"/>
              </a:lnSpc>
              <a:buFont typeface="Times New Roman" panose="02020603050405020304" pitchFamily="18" charset="0"/>
              <a:buAutoNum type="arabicPeriod"/>
            </a:pPr>
            <a:endParaRPr lang="en-US" altLang="en-US" dirty="0"/>
          </a:p>
        </p:txBody>
      </p:sp>
      <p:sp>
        <p:nvSpPr>
          <p:cNvPr id="21506" name="Rectangle 29">
            <a:extLst>
              <a:ext uri="{FF2B5EF4-FFF2-40B4-BE49-F238E27FC236}">
                <a16:creationId xmlns:a16="http://schemas.microsoft.com/office/drawing/2014/main" id="{48BAD28F-B83D-4FFF-818F-6D18612AA25D}"/>
              </a:ext>
            </a:extLst>
          </p:cNvPr>
          <p:cNvSpPr>
            <a:spLocks noGrp="1" noChangeArrowheads="1"/>
          </p:cNvSpPr>
          <p:nvPr>
            <p:ph type="sldNum" sz="quarter" idx="12"/>
          </p:nvPr>
        </p:nvSpPr>
        <p:spPr>
          <a:noFill/>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2"/>
                </a:solidFill>
                <a:latin typeface="Times New Roman" panose="02020603050405020304" pitchFamily="18" charset="0"/>
              </a:defRPr>
            </a:lvl9pPr>
          </a:lstStyle>
          <a:p>
            <a:fld id="{63B54214-4F20-407D-BE72-873A2DADF102}" type="slidenum">
              <a:rPr lang="en-US" altLang="en-US" sz="1400">
                <a:solidFill>
                  <a:srgbClr val="000000"/>
                </a:solidFill>
                <a:latin typeface="Arial" panose="020B0604020202020204" pitchFamily="34" charset="0"/>
              </a:rPr>
              <a:pPr/>
              <a:t>56</a:t>
            </a:fld>
            <a:endParaRPr lang="en-US" altLang="en-US" sz="1400">
              <a:solidFill>
                <a:srgbClr val="000000"/>
              </a:solidFill>
              <a:latin typeface="Arial" panose="020B0604020202020204" pitchFamily="34" charset="0"/>
            </a:endParaRPr>
          </a:p>
        </p:txBody>
      </p:sp>
    </p:spTree>
    <p:extLst>
      <p:ext uri="{BB962C8B-B14F-4D97-AF65-F5344CB8AC3E}">
        <p14:creationId xmlns:p14="http://schemas.microsoft.com/office/powerpoint/2010/main" val="33835410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1A901CB3-77EF-4176-87AC-43B30A27BCC9}"/>
              </a:ext>
            </a:extLst>
          </p:cNvPr>
          <p:cNvSpPr>
            <a:spLocks noGrp="1"/>
          </p:cNvSpPr>
          <p:nvPr>
            <p:ph type="title"/>
          </p:nvPr>
        </p:nvSpPr>
        <p:spPr/>
        <p:txBody>
          <a:bodyPr>
            <a:normAutofit/>
          </a:bodyPr>
          <a:lstStyle/>
          <a:p>
            <a:r>
              <a:rPr lang="en-US" altLang="en-US" dirty="0"/>
              <a:t>Case study: Digression</a:t>
            </a:r>
          </a:p>
        </p:txBody>
      </p:sp>
      <p:sp>
        <p:nvSpPr>
          <p:cNvPr id="22531" name="Content Placeholder 2">
            <a:extLst>
              <a:ext uri="{FF2B5EF4-FFF2-40B4-BE49-F238E27FC236}">
                <a16:creationId xmlns:a16="http://schemas.microsoft.com/office/drawing/2014/main" id="{41C77ACB-7301-4868-8580-71E7CE20A66E}"/>
              </a:ext>
            </a:extLst>
          </p:cNvPr>
          <p:cNvSpPr>
            <a:spLocks noGrp="1"/>
          </p:cNvSpPr>
          <p:nvPr>
            <p:ph idx="1"/>
          </p:nvPr>
        </p:nvSpPr>
        <p:spPr/>
        <p:txBody>
          <a:bodyPr>
            <a:normAutofit/>
          </a:bodyPr>
          <a:lstStyle/>
          <a:p>
            <a:pPr marL="0" indent="0">
              <a:lnSpc>
                <a:spcPct val="100000"/>
              </a:lnSpc>
              <a:buNone/>
            </a:pPr>
            <a:r>
              <a:rPr lang="en-US" altLang="en-US" sz="3200" dirty="0"/>
              <a:t>How do we standardize cerebral blood flow? </a:t>
            </a:r>
            <a:br>
              <a:rPr lang="en-US" altLang="en-US" sz="3200" dirty="0"/>
            </a:br>
            <a:r>
              <a:rPr lang="en-US" altLang="en-US" sz="3200" dirty="0"/>
              <a:t>E.g., for the angular </a:t>
            </a:r>
            <a:r>
              <a:rPr lang="en-US" altLang="en-US" sz="3200" dirty="0" err="1"/>
              <a:t>gyrii</a:t>
            </a:r>
            <a:r>
              <a:rPr lang="en-US" altLang="en-US" sz="3200" dirty="0"/>
              <a:t> (one on each side)</a:t>
            </a:r>
            <a:br>
              <a:rPr lang="en-US" altLang="en-US" sz="3200" dirty="0"/>
            </a:br>
            <a:endParaRPr lang="en-US" altLang="en-US" sz="3200" dirty="0"/>
          </a:p>
          <a:p>
            <a:pPr lvl="1">
              <a:lnSpc>
                <a:spcPct val="100000"/>
              </a:lnSpc>
            </a:pPr>
            <a:r>
              <a:rPr lang="en-US" altLang="en-US" sz="2800" dirty="0"/>
              <a:t>Can divide an angular gyrus’ blood flow by whole brain blood flow, but this includes the angular </a:t>
            </a:r>
            <a:r>
              <a:rPr lang="en-US" altLang="en-US" sz="2800" dirty="0" err="1"/>
              <a:t>gyrii</a:t>
            </a:r>
            <a:r>
              <a:rPr lang="en-US" altLang="en-US" sz="2800" dirty="0"/>
              <a:t> plus nearby regions</a:t>
            </a:r>
          </a:p>
          <a:p>
            <a:pPr lvl="1">
              <a:lnSpc>
                <a:spcPct val="100000"/>
              </a:lnSpc>
            </a:pPr>
            <a:r>
              <a:rPr lang="en-US" altLang="en-US" sz="2800" dirty="0"/>
              <a:t>Can divide an angular gyrus’ blood flow by that from a distant region such as cerebellum.</a:t>
            </a:r>
          </a:p>
        </p:txBody>
      </p:sp>
      <p:sp>
        <p:nvSpPr>
          <p:cNvPr id="22532" name="Slide Number Placeholder 3">
            <a:extLst>
              <a:ext uri="{FF2B5EF4-FFF2-40B4-BE49-F238E27FC236}">
                <a16:creationId xmlns:a16="http://schemas.microsoft.com/office/drawing/2014/main" id="{4A75B291-E2D8-4BA6-8264-2C69A31D80DA}"/>
              </a:ext>
            </a:extLst>
          </p:cNvPr>
          <p:cNvSpPr>
            <a:spLocks noGrp="1"/>
          </p:cNvSpPr>
          <p:nvPr>
            <p:ph type="sldNum" sz="quarter" idx="12"/>
          </p:nvPr>
        </p:nvSpPr>
        <p:spPr>
          <a:noFill/>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2"/>
                </a:solidFill>
                <a:latin typeface="Times New Roman" panose="02020603050405020304" pitchFamily="18" charset="0"/>
              </a:defRPr>
            </a:lvl9pPr>
          </a:lstStyle>
          <a:p>
            <a:fld id="{A0292159-0FEE-4D67-B6F6-6C4D3431073A}" type="slidenum">
              <a:rPr lang="en-US" altLang="en-US" sz="1400">
                <a:solidFill>
                  <a:schemeClr val="tx1"/>
                </a:solidFill>
                <a:latin typeface="Arial" panose="020B0604020202020204" pitchFamily="34" charset="0"/>
              </a:rPr>
              <a:pPr/>
              <a:t>57</a:t>
            </a:fld>
            <a:endParaRPr lang="en-US" altLang="en-US" sz="1400">
              <a:solidFill>
                <a:schemeClr val="tx1"/>
              </a:solidFill>
              <a:latin typeface="Arial" panose="020B0604020202020204" pitchFamily="34" charset="0"/>
            </a:endParaRPr>
          </a:p>
        </p:txBody>
      </p:sp>
    </p:spTree>
    <p:extLst>
      <p:ext uri="{BB962C8B-B14F-4D97-AF65-F5344CB8AC3E}">
        <p14:creationId xmlns:p14="http://schemas.microsoft.com/office/powerpoint/2010/main" val="28723829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1A901CB3-77EF-4176-87AC-43B30A27BCC9}"/>
              </a:ext>
            </a:extLst>
          </p:cNvPr>
          <p:cNvSpPr>
            <a:spLocks noGrp="1"/>
          </p:cNvSpPr>
          <p:nvPr>
            <p:ph type="title"/>
          </p:nvPr>
        </p:nvSpPr>
        <p:spPr/>
        <p:txBody>
          <a:bodyPr>
            <a:normAutofit/>
          </a:bodyPr>
          <a:lstStyle/>
          <a:p>
            <a:r>
              <a:rPr lang="en-US" altLang="en-US" dirty="0"/>
              <a:t>Case study: Digression</a:t>
            </a:r>
          </a:p>
        </p:txBody>
      </p:sp>
      <p:sp>
        <p:nvSpPr>
          <p:cNvPr id="22531" name="Content Placeholder 2">
            <a:extLst>
              <a:ext uri="{FF2B5EF4-FFF2-40B4-BE49-F238E27FC236}">
                <a16:creationId xmlns:a16="http://schemas.microsoft.com/office/drawing/2014/main" id="{41C77ACB-7301-4868-8580-71E7CE20A66E}"/>
              </a:ext>
            </a:extLst>
          </p:cNvPr>
          <p:cNvSpPr>
            <a:spLocks noGrp="1"/>
          </p:cNvSpPr>
          <p:nvPr>
            <p:ph idx="1"/>
          </p:nvPr>
        </p:nvSpPr>
        <p:spPr/>
        <p:txBody>
          <a:bodyPr>
            <a:normAutofit/>
          </a:bodyPr>
          <a:lstStyle/>
          <a:p>
            <a:pPr marL="0" indent="0">
              <a:lnSpc>
                <a:spcPct val="100000"/>
              </a:lnSpc>
              <a:buNone/>
            </a:pPr>
            <a:r>
              <a:rPr lang="en-US" altLang="en-US" sz="3200" dirty="0"/>
              <a:t>How do we standardize cerebral blood flow? </a:t>
            </a:r>
            <a:br>
              <a:rPr lang="en-US" altLang="en-US" sz="3200" dirty="0"/>
            </a:br>
            <a:r>
              <a:rPr lang="en-US" altLang="en-US" sz="3200" dirty="0"/>
              <a:t>E.g., for the angular </a:t>
            </a:r>
            <a:r>
              <a:rPr lang="en-US" altLang="en-US" sz="3200" dirty="0" err="1"/>
              <a:t>gyrii</a:t>
            </a:r>
            <a:r>
              <a:rPr lang="en-US" altLang="en-US" sz="3200" dirty="0"/>
              <a:t> (one on each side)</a:t>
            </a:r>
            <a:br>
              <a:rPr lang="en-US" altLang="en-US" sz="3200" dirty="0"/>
            </a:br>
            <a:endParaRPr lang="en-US" altLang="en-US" sz="3200" dirty="0"/>
          </a:p>
          <a:p>
            <a:pPr lvl="1">
              <a:defRPr/>
            </a:pPr>
            <a:r>
              <a:rPr lang="en-US" sz="2800" dirty="0"/>
              <a:t>Do we want to?</a:t>
            </a:r>
          </a:p>
          <a:p>
            <a:pPr lvl="1">
              <a:defRPr/>
            </a:pPr>
            <a:r>
              <a:rPr lang="en-US" sz="2800" dirty="0"/>
              <a:t>What if simvastatin uniformly increases cerebral blood flow regardless of region.  Is there anything wrong with that?</a:t>
            </a:r>
          </a:p>
          <a:p>
            <a:pPr marL="0" lvl="1" indent="0">
              <a:buNone/>
              <a:defRPr/>
            </a:pPr>
            <a:r>
              <a:rPr lang="en-US" sz="2800" dirty="0"/>
              <a:t/>
            </a:r>
            <a:br>
              <a:rPr lang="en-US" sz="2800" dirty="0"/>
            </a:br>
            <a:r>
              <a:rPr lang="en-US" sz="2800" dirty="0"/>
              <a:t>(end digression)</a:t>
            </a:r>
          </a:p>
        </p:txBody>
      </p:sp>
      <p:sp>
        <p:nvSpPr>
          <p:cNvPr id="22532" name="Slide Number Placeholder 3">
            <a:extLst>
              <a:ext uri="{FF2B5EF4-FFF2-40B4-BE49-F238E27FC236}">
                <a16:creationId xmlns:a16="http://schemas.microsoft.com/office/drawing/2014/main" id="{4A75B291-E2D8-4BA6-8264-2C69A31D80DA}"/>
              </a:ext>
            </a:extLst>
          </p:cNvPr>
          <p:cNvSpPr>
            <a:spLocks noGrp="1"/>
          </p:cNvSpPr>
          <p:nvPr>
            <p:ph type="sldNum" sz="quarter" idx="12"/>
          </p:nvPr>
        </p:nvSpPr>
        <p:spPr>
          <a:noFill/>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2"/>
                </a:solidFill>
                <a:latin typeface="Times New Roman" panose="02020603050405020304" pitchFamily="18" charset="0"/>
              </a:defRPr>
            </a:lvl9pPr>
          </a:lstStyle>
          <a:p>
            <a:fld id="{A0292159-0FEE-4D67-B6F6-6C4D3431073A}" type="slidenum">
              <a:rPr lang="en-US" altLang="en-US" sz="1400">
                <a:solidFill>
                  <a:schemeClr val="tx1"/>
                </a:solidFill>
                <a:latin typeface="Arial" panose="020B0604020202020204" pitchFamily="34" charset="0"/>
              </a:rPr>
              <a:pPr/>
              <a:t>58</a:t>
            </a:fld>
            <a:endParaRPr lang="en-US" altLang="en-US" sz="1400">
              <a:solidFill>
                <a:schemeClr val="tx1"/>
              </a:solidFill>
              <a:latin typeface="Arial" panose="020B0604020202020204" pitchFamily="34" charset="0"/>
            </a:endParaRPr>
          </a:p>
        </p:txBody>
      </p:sp>
    </p:spTree>
    <p:extLst>
      <p:ext uri="{BB962C8B-B14F-4D97-AF65-F5344CB8AC3E}">
        <p14:creationId xmlns:p14="http://schemas.microsoft.com/office/powerpoint/2010/main" val="11120197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F47642-CECD-4BD8-9C20-B4BDDD836324}"/>
              </a:ext>
            </a:extLst>
          </p:cNvPr>
          <p:cNvSpPr>
            <a:spLocks noGrp="1"/>
          </p:cNvSpPr>
          <p:nvPr>
            <p:ph type="title"/>
          </p:nvPr>
        </p:nvSpPr>
        <p:spPr/>
        <p:txBody>
          <a:bodyPr/>
          <a:lstStyle/>
          <a:p>
            <a:r>
              <a:rPr lang="en-US" dirty="0"/>
              <a:t>Case study: SHARP Statistical Analysis Plan</a:t>
            </a:r>
          </a:p>
        </p:txBody>
      </p:sp>
      <p:sp>
        <p:nvSpPr>
          <p:cNvPr id="21507" name="Rectangle 3">
            <a:extLst>
              <a:ext uri="{FF2B5EF4-FFF2-40B4-BE49-F238E27FC236}">
                <a16:creationId xmlns:a16="http://schemas.microsoft.com/office/drawing/2014/main" id="{25AF35E9-1B00-47AA-BA5F-02FF1F26FD35}"/>
              </a:ext>
            </a:extLst>
          </p:cNvPr>
          <p:cNvSpPr>
            <a:spLocks noGrp="1" noChangeArrowheads="1"/>
          </p:cNvSpPr>
          <p:nvPr>
            <p:ph idx="1"/>
          </p:nvPr>
        </p:nvSpPr>
        <p:spPr>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2075" tIns="46038" rIns="92075" bIns="46038" rtlCol="0">
            <a:normAutofit/>
          </a:bodyPr>
          <a:lstStyle/>
          <a:p>
            <a:pPr>
              <a:lnSpc>
                <a:spcPct val="80000"/>
              </a:lnSpc>
              <a:buFontTx/>
              <a:buNone/>
            </a:pPr>
            <a:r>
              <a:rPr lang="en-US" altLang="en-US" i="1" dirty="0"/>
              <a:t>Sub-sub-</a:t>
            </a:r>
            <a:r>
              <a:rPr lang="en-US" altLang="en-US" dirty="0"/>
              <a:t>categories are:</a:t>
            </a:r>
          </a:p>
          <a:p>
            <a:pPr marL="914400" lvl="1" indent="-457200">
              <a:lnSpc>
                <a:spcPct val="80000"/>
              </a:lnSpc>
              <a:buFont typeface="+mj-lt"/>
              <a:buAutoNum type="arabicPeriod"/>
            </a:pPr>
            <a:r>
              <a:rPr lang="en-US" altLang="en-US" dirty="0"/>
              <a:t>For CSF</a:t>
            </a:r>
            <a:r>
              <a:rPr lang="en-US" altLang="en-US" b="1" dirty="0"/>
              <a:t>:</a:t>
            </a:r>
          </a:p>
          <a:p>
            <a:pPr marL="1371600" lvl="2" indent="-457200">
              <a:lnSpc>
                <a:spcPct val="80000"/>
              </a:lnSpc>
              <a:buFont typeface="+mj-lt"/>
              <a:buAutoNum type="alphaLcPeriod"/>
            </a:pPr>
            <a:r>
              <a:rPr lang="en-US" altLang="en-US" dirty="0"/>
              <a:t>For some proteins, choice of assay </a:t>
            </a:r>
            <a:r>
              <a:rPr lang="mr-IN" altLang="en-US" dirty="0"/>
              <a:t>–</a:t>
            </a:r>
            <a:r>
              <a:rPr lang="en-US" altLang="en-US" dirty="0"/>
              <a:t> MSD Triplex vs. </a:t>
            </a:r>
            <a:r>
              <a:rPr lang="en-US" altLang="en-US" dirty="0" err="1"/>
              <a:t>xMAP</a:t>
            </a:r>
            <a:r>
              <a:rPr lang="en-US" altLang="en-US" dirty="0"/>
              <a:t>.</a:t>
            </a:r>
          </a:p>
          <a:p>
            <a:pPr marL="914400" lvl="1" indent="-457200">
              <a:lnSpc>
                <a:spcPct val="80000"/>
              </a:lnSpc>
              <a:buFont typeface="+mj-lt"/>
              <a:buAutoNum type="arabicPeriod"/>
            </a:pPr>
            <a:r>
              <a:rPr lang="en-US" altLang="en-US" dirty="0"/>
              <a:t>For cerebral blood flow:</a:t>
            </a:r>
          </a:p>
          <a:p>
            <a:pPr marL="1371600" lvl="2" indent="-457200">
              <a:lnSpc>
                <a:spcPct val="80000"/>
              </a:lnSpc>
              <a:buFont typeface="+mj-lt"/>
              <a:buAutoNum type="alphaLcPeriod"/>
            </a:pPr>
            <a:r>
              <a:rPr lang="en-US" altLang="en-US" dirty="0"/>
              <a:t>Standardized vs. un-standardized.</a:t>
            </a:r>
          </a:p>
          <a:p>
            <a:pPr marL="914400" lvl="1" indent="-457200">
              <a:lnSpc>
                <a:spcPct val="80000"/>
              </a:lnSpc>
              <a:buFont typeface="+mj-lt"/>
              <a:buAutoNum type="arabicPeriod"/>
            </a:pPr>
            <a:r>
              <a:rPr lang="en-US" altLang="en-US" dirty="0"/>
              <a:t>For cognitive outcomes:</a:t>
            </a:r>
          </a:p>
          <a:p>
            <a:pPr marL="1371600" lvl="2" indent="-457200">
              <a:lnSpc>
                <a:spcPct val="80000"/>
              </a:lnSpc>
              <a:buFont typeface="+mj-lt"/>
              <a:buAutoNum type="alphaLcPeriod"/>
            </a:pPr>
            <a:r>
              <a:rPr lang="en-US" altLang="en-US" dirty="0"/>
              <a:t>Each domain can be evaluated using a choice of many instruments</a:t>
            </a:r>
          </a:p>
          <a:p>
            <a:pPr marL="1371600" lvl="2" indent="-457200">
              <a:lnSpc>
                <a:spcPct val="80000"/>
              </a:lnSpc>
              <a:buFont typeface="+mj-lt"/>
              <a:buAutoNum type="alphaLcPeriod"/>
            </a:pPr>
            <a:r>
              <a:rPr lang="en-US" altLang="en-US" dirty="0"/>
              <a:t>In turn, each instrument can incorporate many individual questions or tasks (</a:t>
            </a:r>
            <a:r>
              <a:rPr lang="en-US" altLang="en-US" i="1" dirty="0"/>
              <a:t>sub-sub-sub </a:t>
            </a:r>
            <a:r>
              <a:rPr lang="en-US" altLang="en-US" dirty="0"/>
              <a:t>categories?)</a:t>
            </a:r>
            <a:endParaRPr lang="en-US" altLang="en-US" sz="2400" b="1" dirty="0"/>
          </a:p>
          <a:p>
            <a:pPr>
              <a:lnSpc>
                <a:spcPct val="80000"/>
              </a:lnSpc>
              <a:buFont typeface="Times New Roman" panose="02020603050405020304" pitchFamily="18" charset="0"/>
              <a:buAutoNum type="arabicPeriod"/>
            </a:pPr>
            <a:endParaRPr lang="en-US" altLang="en-US" dirty="0"/>
          </a:p>
        </p:txBody>
      </p:sp>
      <p:sp>
        <p:nvSpPr>
          <p:cNvPr id="21506" name="Rectangle 29">
            <a:extLst>
              <a:ext uri="{FF2B5EF4-FFF2-40B4-BE49-F238E27FC236}">
                <a16:creationId xmlns:a16="http://schemas.microsoft.com/office/drawing/2014/main" id="{48BAD28F-B83D-4FFF-818F-6D18612AA25D}"/>
              </a:ext>
            </a:extLst>
          </p:cNvPr>
          <p:cNvSpPr>
            <a:spLocks noGrp="1" noChangeArrowheads="1"/>
          </p:cNvSpPr>
          <p:nvPr>
            <p:ph type="sldNum" sz="quarter" idx="12"/>
          </p:nvPr>
        </p:nvSpPr>
        <p:spPr>
          <a:noFill/>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2"/>
                </a:solidFill>
                <a:latin typeface="Times New Roman" panose="02020603050405020304" pitchFamily="18" charset="0"/>
              </a:defRPr>
            </a:lvl9pPr>
          </a:lstStyle>
          <a:p>
            <a:fld id="{63B54214-4F20-407D-BE72-873A2DADF102}" type="slidenum">
              <a:rPr lang="en-US" altLang="en-US" sz="1400">
                <a:solidFill>
                  <a:srgbClr val="000000"/>
                </a:solidFill>
                <a:latin typeface="Arial" panose="020B0604020202020204" pitchFamily="34" charset="0"/>
              </a:rPr>
              <a:pPr/>
              <a:t>59</a:t>
            </a:fld>
            <a:endParaRPr lang="en-US" altLang="en-US" sz="1400">
              <a:solidFill>
                <a:srgbClr val="000000"/>
              </a:solidFill>
              <a:latin typeface="Arial" panose="020B0604020202020204" pitchFamily="34" charset="0"/>
            </a:endParaRPr>
          </a:p>
        </p:txBody>
      </p:sp>
    </p:spTree>
    <p:extLst>
      <p:ext uri="{BB962C8B-B14F-4D97-AF65-F5344CB8AC3E}">
        <p14:creationId xmlns:p14="http://schemas.microsoft.com/office/powerpoint/2010/main" val="175473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F47642-CECD-4BD8-9C20-B4BDDD836324}"/>
              </a:ext>
            </a:extLst>
          </p:cNvPr>
          <p:cNvSpPr>
            <a:spLocks noGrp="1"/>
          </p:cNvSpPr>
          <p:nvPr>
            <p:ph type="title"/>
          </p:nvPr>
        </p:nvSpPr>
        <p:spPr/>
        <p:txBody>
          <a:bodyPr/>
          <a:lstStyle/>
          <a:p>
            <a:r>
              <a:rPr lang="en-US" dirty="0"/>
              <a:t>Case study: SHARP Statistical Analysis Plan</a:t>
            </a:r>
          </a:p>
        </p:txBody>
      </p:sp>
      <p:sp>
        <p:nvSpPr>
          <p:cNvPr id="21507" name="Rectangle 3">
            <a:extLst>
              <a:ext uri="{FF2B5EF4-FFF2-40B4-BE49-F238E27FC236}">
                <a16:creationId xmlns:a16="http://schemas.microsoft.com/office/drawing/2014/main" id="{25AF35E9-1B00-47AA-BA5F-02FF1F26FD35}"/>
              </a:ext>
            </a:extLst>
          </p:cNvPr>
          <p:cNvSpPr>
            <a:spLocks noGrp="1" noChangeArrowheads="1"/>
          </p:cNvSpPr>
          <p:nvPr>
            <p:ph idx="1"/>
          </p:nvPr>
        </p:nvSpPr>
        <p:spPr>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2075" tIns="46038" rIns="92075" bIns="46038" rtlCol="0">
            <a:normAutofit/>
          </a:bodyPr>
          <a:lstStyle/>
          <a:p>
            <a:pPr marL="0" indent="0">
              <a:lnSpc>
                <a:spcPct val="80000"/>
              </a:lnSpc>
              <a:buNone/>
            </a:pPr>
            <a:r>
              <a:rPr lang="en-US" altLang="en-US" dirty="0"/>
              <a:t>Main points:</a:t>
            </a:r>
          </a:p>
          <a:p>
            <a:pPr lvl="1">
              <a:lnSpc>
                <a:spcPct val="80000"/>
              </a:lnSpc>
            </a:pPr>
            <a:r>
              <a:rPr lang="en-US" altLang="en-US" dirty="0"/>
              <a:t>The boundary between a surrogate and a clinically meaningful outcome may be vague</a:t>
            </a:r>
          </a:p>
          <a:p>
            <a:pPr marL="1835150" lvl="2" indent="-342900">
              <a:lnSpc>
                <a:spcPct val="80000"/>
              </a:lnSpc>
            </a:pPr>
            <a:r>
              <a:rPr lang="en-US" altLang="en-US" dirty="0"/>
              <a:t>On which side do cognitive tests in SHARP fall?</a:t>
            </a:r>
          </a:p>
          <a:p>
            <a:pPr marL="1835150" lvl="2" indent="-342900">
              <a:lnSpc>
                <a:spcPct val="80000"/>
              </a:lnSpc>
            </a:pPr>
            <a:r>
              <a:rPr lang="en-US" altLang="en-US" dirty="0"/>
              <a:t>Is blood flow strictly a surrogate?</a:t>
            </a:r>
          </a:p>
          <a:p>
            <a:pPr lvl="1">
              <a:lnSpc>
                <a:spcPct val="80000"/>
              </a:lnSpc>
            </a:pPr>
            <a:r>
              <a:rPr lang="en-US" altLang="en-US" dirty="0"/>
              <a:t>Especially for early-phase trials there may be a profusion of outcomes in a variety of general rubrics (here: CSF protein markers; cerebral blood flow; and cognitive measures).</a:t>
            </a:r>
          </a:p>
          <a:p>
            <a:pPr lvl="1">
              <a:lnSpc>
                <a:spcPct val="80000"/>
              </a:lnSpc>
            </a:pPr>
            <a:r>
              <a:rPr lang="en-US" altLang="en-US" dirty="0"/>
              <a:t>Even within endpoints there may be a choice of using one or more measurement times; a choice of assays, and choice of standardization.</a:t>
            </a:r>
          </a:p>
          <a:p>
            <a:pPr>
              <a:lnSpc>
                <a:spcPct val="80000"/>
              </a:lnSpc>
              <a:buFont typeface="Times New Roman" panose="02020603050405020304" pitchFamily="18" charset="0"/>
              <a:buAutoNum type="arabicPeriod"/>
            </a:pPr>
            <a:endParaRPr lang="en-US" altLang="en-US" dirty="0"/>
          </a:p>
        </p:txBody>
      </p:sp>
      <p:sp>
        <p:nvSpPr>
          <p:cNvPr id="21506" name="Rectangle 29">
            <a:extLst>
              <a:ext uri="{FF2B5EF4-FFF2-40B4-BE49-F238E27FC236}">
                <a16:creationId xmlns:a16="http://schemas.microsoft.com/office/drawing/2014/main" id="{48BAD28F-B83D-4FFF-818F-6D18612AA25D}"/>
              </a:ext>
            </a:extLst>
          </p:cNvPr>
          <p:cNvSpPr>
            <a:spLocks noGrp="1" noChangeArrowheads="1"/>
          </p:cNvSpPr>
          <p:nvPr>
            <p:ph type="sldNum" sz="quarter" idx="12"/>
          </p:nvPr>
        </p:nvSpPr>
        <p:spPr>
          <a:noFill/>
        </p:spPr>
        <p:txBody>
          <a:bodyPr/>
          <a:lstStyle>
            <a:lvl1pPr>
              <a:defRPr sz="2400">
                <a:solidFill>
                  <a:schemeClr val="tx2"/>
                </a:solidFill>
                <a:latin typeface="Times New Roman" panose="02020603050405020304" pitchFamily="18" charset="0"/>
              </a:defRPr>
            </a:lvl1pPr>
            <a:lvl2pPr marL="742950" indent="-285750">
              <a:defRPr sz="2400">
                <a:solidFill>
                  <a:schemeClr val="tx2"/>
                </a:solidFill>
                <a:latin typeface="Times New Roman" panose="02020603050405020304" pitchFamily="18" charset="0"/>
              </a:defRPr>
            </a:lvl2pPr>
            <a:lvl3pPr marL="1143000" indent="-228600">
              <a:defRPr sz="2400">
                <a:solidFill>
                  <a:schemeClr val="tx2"/>
                </a:solidFill>
                <a:latin typeface="Times New Roman" panose="02020603050405020304" pitchFamily="18" charset="0"/>
              </a:defRPr>
            </a:lvl3pPr>
            <a:lvl4pPr marL="1600200" indent="-228600">
              <a:defRPr sz="2400">
                <a:solidFill>
                  <a:schemeClr val="tx2"/>
                </a:solidFill>
                <a:latin typeface="Times New Roman" panose="02020603050405020304" pitchFamily="18" charset="0"/>
              </a:defRPr>
            </a:lvl4pPr>
            <a:lvl5pPr marL="2057400" indent="-228600">
              <a:defRPr sz="2400">
                <a:solidFill>
                  <a:schemeClr val="tx2"/>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2"/>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2"/>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2"/>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2"/>
                </a:solidFill>
                <a:latin typeface="Times New Roman" panose="02020603050405020304" pitchFamily="18" charset="0"/>
              </a:defRPr>
            </a:lvl9pPr>
          </a:lstStyle>
          <a:p>
            <a:fld id="{63B54214-4F20-407D-BE72-873A2DADF102}" type="slidenum">
              <a:rPr lang="en-US" altLang="en-US" sz="1400">
                <a:solidFill>
                  <a:srgbClr val="000000"/>
                </a:solidFill>
                <a:latin typeface="Arial" panose="020B0604020202020204" pitchFamily="34" charset="0"/>
              </a:rPr>
              <a:pPr/>
              <a:t>60</a:t>
            </a:fld>
            <a:endParaRPr lang="en-US" altLang="en-US" sz="1400">
              <a:solidFill>
                <a:srgbClr val="000000"/>
              </a:solidFill>
              <a:latin typeface="Arial" panose="020B0604020202020204" pitchFamily="34" charset="0"/>
            </a:endParaRPr>
          </a:p>
        </p:txBody>
      </p:sp>
    </p:spTree>
    <p:extLst>
      <p:ext uri="{BB962C8B-B14F-4D97-AF65-F5344CB8AC3E}">
        <p14:creationId xmlns:p14="http://schemas.microsoft.com/office/powerpoint/2010/main" val="23349295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45867-A2EB-4169-9F62-78338399D811}"/>
              </a:ext>
            </a:extLst>
          </p:cNvPr>
          <p:cNvSpPr>
            <a:spLocks noGrp="1"/>
          </p:cNvSpPr>
          <p:nvPr>
            <p:ph type="title"/>
          </p:nvPr>
        </p:nvSpPr>
        <p:spPr>
          <a:xfrm>
            <a:off x="268857" y="1283972"/>
            <a:ext cx="10515600" cy="1325563"/>
          </a:xfrm>
        </p:spPr>
        <p:txBody>
          <a:bodyPr/>
          <a:lstStyle/>
          <a:p>
            <a:r>
              <a:rPr lang="en-US" dirty="0"/>
              <a:t>Summary/Conclusions</a:t>
            </a:r>
          </a:p>
        </p:txBody>
      </p:sp>
      <p:sp>
        <p:nvSpPr>
          <p:cNvPr id="6" name="Content Placeholder 5"/>
          <p:cNvSpPr>
            <a:spLocks noGrp="1"/>
          </p:cNvSpPr>
          <p:nvPr>
            <p:ph idx="1"/>
          </p:nvPr>
        </p:nvSpPr>
        <p:spPr>
          <a:xfrm>
            <a:off x="441385" y="2311879"/>
            <a:ext cx="10515600" cy="4044471"/>
          </a:xfrm>
        </p:spPr>
        <p:txBody>
          <a:bodyPr/>
          <a:lstStyle/>
          <a:p>
            <a:r>
              <a:rPr lang="en-US" dirty="0"/>
              <a:t>p&lt;0.05 does not automatically mean the analysis or conclusions are correct!</a:t>
            </a:r>
          </a:p>
          <a:p>
            <a:r>
              <a:rPr lang="en-US" dirty="0"/>
              <a:t>There are </a:t>
            </a:r>
            <a:r>
              <a:rPr lang="en-US" b="1" i="1" dirty="0"/>
              <a:t>many factors </a:t>
            </a:r>
            <a:r>
              <a:rPr lang="en-US" dirty="0"/>
              <a:t>to consider that contribute to completion of a high quality research project.</a:t>
            </a:r>
          </a:p>
          <a:p>
            <a:r>
              <a:rPr lang="en-US" dirty="0"/>
              <a:t>Consulting with one of your local statisticians </a:t>
            </a:r>
            <a:r>
              <a:rPr lang="en-US" b="1" i="1" dirty="0"/>
              <a:t>throughout your research process </a:t>
            </a:r>
            <a:r>
              <a:rPr lang="en-US" dirty="0"/>
              <a:t>could easily make your life earlier in both the short and the long run. </a:t>
            </a:r>
          </a:p>
          <a:p>
            <a:r>
              <a:rPr lang="en-US" dirty="0"/>
              <a:t>Please, start early in your collaborations (i.e., </a:t>
            </a:r>
            <a:r>
              <a:rPr lang="en-US" b="1" i="1" dirty="0"/>
              <a:t>long before </a:t>
            </a:r>
            <a:r>
              <a:rPr lang="en-US" dirty="0"/>
              <a:t>your abstract is due or your manuscript is “ready” to submit)</a:t>
            </a:r>
          </a:p>
        </p:txBody>
      </p:sp>
      <p:sp>
        <p:nvSpPr>
          <p:cNvPr id="4" name="Date Placeholder 3">
            <a:extLst>
              <a:ext uri="{FF2B5EF4-FFF2-40B4-BE49-F238E27FC236}">
                <a16:creationId xmlns:a16="http://schemas.microsoft.com/office/drawing/2014/main" id="{ED3B1A3C-955F-47A8-86CB-D67863B39438}"/>
              </a:ext>
            </a:extLst>
          </p:cNvPr>
          <p:cNvSpPr>
            <a:spLocks noGrp="1"/>
          </p:cNvSpPr>
          <p:nvPr>
            <p:ph type="dt" sz="half" idx="10"/>
          </p:nvPr>
        </p:nvSpPr>
        <p:spPr/>
        <p:txBody>
          <a:bodyPr/>
          <a:lstStyle/>
          <a:p>
            <a:r>
              <a:rPr lang="en-US" dirty="0">
                <a:solidFill>
                  <a:schemeClr val="bg1"/>
                </a:solidFill>
              </a:rPr>
              <a:t>11/5/2018</a:t>
            </a:r>
          </a:p>
        </p:txBody>
      </p:sp>
      <p:sp>
        <p:nvSpPr>
          <p:cNvPr id="5" name="Footer Placeholder 4">
            <a:extLst>
              <a:ext uri="{FF2B5EF4-FFF2-40B4-BE49-F238E27FC236}">
                <a16:creationId xmlns:a16="http://schemas.microsoft.com/office/drawing/2014/main" id="{F44AE0DF-1FD2-4C3E-B3AE-A61DEA75F36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0383593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45867-A2EB-4169-9F62-78338399D811}"/>
              </a:ext>
            </a:extLst>
          </p:cNvPr>
          <p:cNvSpPr>
            <a:spLocks noGrp="1"/>
          </p:cNvSpPr>
          <p:nvPr>
            <p:ph type="title"/>
          </p:nvPr>
        </p:nvSpPr>
        <p:spPr>
          <a:xfrm>
            <a:off x="569343" y="1232214"/>
            <a:ext cx="10515600" cy="1325563"/>
          </a:xfrm>
        </p:spPr>
        <p:txBody>
          <a:bodyPr/>
          <a:lstStyle/>
          <a:p>
            <a:r>
              <a:rPr lang="en-US" dirty="0"/>
              <a:t>Misc. Resources</a:t>
            </a:r>
          </a:p>
        </p:txBody>
      </p:sp>
      <p:sp>
        <p:nvSpPr>
          <p:cNvPr id="6" name="Content Placeholder 5"/>
          <p:cNvSpPr>
            <a:spLocks noGrp="1"/>
          </p:cNvSpPr>
          <p:nvPr>
            <p:ph idx="1"/>
          </p:nvPr>
        </p:nvSpPr>
        <p:spPr>
          <a:xfrm>
            <a:off x="569343" y="2260121"/>
            <a:ext cx="11007305" cy="4096229"/>
          </a:xfrm>
        </p:spPr>
        <p:txBody>
          <a:bodyPr>
            <a:normAutofit/>
          </a:bodyPr>
          <a:lstStyle/>
          <a:p>
            <a:r>
              <a:rPr lang="en-US" dirty="0"/>
              <a:t>For researchers in the </a:t>
            </a:r>
            <a:r>
              <a:rPr lang="en-US" dirty="0" smtClean="0"/>
              <a:t>ADRC requesting consultative services:</a:t>
            </a:r>
          </a:p>
          <a:p>
            <a:endParaRPr lang="en-US" dirty="0"/>
          </a:p>
          <a:p>
            <a:r>
              <a:rPr lang="en-US" dirty="0">
                <a:hlinkClick r:id="rId2"/>
              </a:rPr>
              <a:t>https://redcap.ictr.wisc.edu/surveys/?</a:t>
            </a:r>
            <a:r>
              <a:rPr lang="en-US" dirty="0" smtClean="0">
                <a:hlinkClick r:id="rId2"/>
              </a:rPr>
              <a:t>s=NpdS3Ve9gR</a:t>
            </a:r>
            <a:r>
              <a:rPr lang="en-US" dirty="0" smtClean="0"/>
              <a:t> </a:t>
            </a:r>
          </a:p>
          <a:p>
            <a:endParaRPr lang="en-US" dirty="0"/>
          </a:p>
        </p:txBody>
      </p:sp>
      <p:sp>
        <p:nvSpPr>
          <p:cNvPr id="4" name="Date Placeholder 3">
            <a:extLst>
              <a:ext uri="{FF2B5EF4-FFF2-40B4-BE49-F238E27FC236}">
                <a16:creationId xmlns:a16="http://schemas.microsoft.com/office/drawing/2014/main" id="{ED3B1A3C-955F-47A8-86CB-D67863B39438}"/>
              </a:ext>
            </a:extLst>
          </p:cNvPr>
          <p:cNvSpPr>
            <a:spLocks noGrp="1"/>
          </p:cNvSpPr>
          <p:nvPr>
            <p:ph type="dt" sz="half" idx="10"/>
          </p:nvPr>
        </p:nvSpPr>
        <p:spPr/>
        <p:txBody>
          <a:bodyPr/>
          <a:lstStyle/>
          <a:p>
            <a:r>
              <a:rPr lang="en-US" dirty="0">
                <a:solidFill>
                  <a:schemeClr val="bg1"/>
                </a:solidFill>
              </a:rPr>
              <a:t>11/5/2018</a:t>
            </a:r>
          </a:p>
        </p:txBody>
      </p:sp>
      <p:sp>
        <p:nvSpPr>
          <p:cNvPr id="5" name="Footer Placeholder 4">
            <a:extLst>
              <a:ext uri="{FF2B5EF4-FFF2-40B4-BE49-F238E27FC236}">
                <a16:creationId xmlns:a16="http://schemas.microsoft.com/office/drawing/2014/main" id="{F44AE0DF-1FD2-4C3E-B3AE-A61DEA75F36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3046502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45867-A2EB-4169-9F62-78338399D811}"/>
              </a:ext>
            </a:extLst>
          </p:cNvPr>
          <p:cNvSpPr>
            <a:spLocks noGrp="1"/>
          </p:cNvSpPr>
          <p:nvPr>
            <p:ph type="title"/>
          </p:nvPr>
        </p:nvSpPr>
        <p:spPr>
          <a:xfrm>
            <a:off x="569343" y="1232214"/>
            <a:ext cx="10515600" cy="1325563"/>
          </a:xfrm>
        </p:spPr>
        <p:txBody>
          <a:bodyPr/>
          <a:lstStyle/>
          <a:p>
            <a:r>
              <a:rPr lang="en-US" dirty="0"/>
              <a:t>Misc. Resources</a:t>
            </a:r>
          </a:p>
        </p:txBody>
      </p:sp>
      <p:sp>
        <p:nvSpPr>
          <p:cNvPr id="6" name="Content Placeholder 5"/>
          <p:cNvSpPr>
            <a:spLocks noGrp="1"/>
          </p:cNvSpPr>
          <p:nvPr>
            <p:ph idx="1"/>
          </p:nvPr>
        </p:nvSpPr>
        <p:spPr>
          <a:xfrm>
            <a:off x="569343" y="2260121"/>
            <a:ext cx="11007305" cy="4096229"/>
          </a:xfrm>
        </p:spPr>
        <p:txBody>
          <a:bodyPr>
            <a:normAutofit/>
          </a:bodyPr>
          <a:lstStyle/>
          <a:p>
            <a:r>
              <a:rPr lang="en-US" dirty="0"/>
              <a:t>For researchers in the SMPH not associated with the ADRC:  </a:t>
            </a:r>
            <a:r>
              <a:rPr lang="en-US" dirty="0">
                <a:hlinkClick r:id="rId2"/>
              </a:rPr>
              <a:t>https://ictr.wisc.edu/consults/biostatistics-2/</a:t>
            </a:r>
            <a:endParaRPr lang="en-US" dirty="0"/>
          </a:p>
          <a:p>
            <a:pPr marL="0" indent="0">
              <a:lnSpc>
                <a:spcPct val="100000"/>
              </a:lnSpc>
              <a:spcBef>
                <a:spcPts val="0"/>
              </a:spcBef>
              <a:buNone/>
            </a:pPr>
            <a:r>
              <a:rPr lang="en-US" dirty="0"/>
              <a:t>The Clinical Trials Accelerator is a service will support investigators who are new to developing clinical trials.  Anticipated ICTR resources available to investigators include protocol and budget development, regulatory &amp; compliance consultations, IND/IDE assistance, biostatistics consultations, data management solutions and targeted recruitment support. Where appropriate, junior faculty will work with a Clinical Trial Coach to launch and conduct their study (ctaccelerator@lists.wisc.edu).</a:t>
            </a:r>
          </a:p>
        </p:txBody>
      </p:sp>
      <p:sp>
        <p:nvSpPr>
          <p:cNvPr id="4" name="Date Placeholder 3">
            <a:extLst>
              <a:ext uri="{FF2B5EF4-FFF2-40B4-BE49-F238E27FC236}">
                <a16:creationId xmlns:a16="http://schemas.microsoft.com/office/drawing/2014/main" id="{ED3B1A3C-955F-47A8-86CB-D67863B39438}"/>
              </a:ext>
            </a:extLst>
          </p:cNvPr>
          <p:cNvSpPr>
            <a:spLocks noGrp="1"/>
          </p:cNvSpPr>
          <p:nvPr>
            <p:ph type="dt" sz="half" idx="10"/>
          </p:nvPr>
        </p:nvSpPr>
        <p:spPr/>
        <p:txBody>
          <a:bodyPr/>
          <a:lstStyle/>
          <a:p>
            <a:r>
              <a:rPr lang="en-US" dirty="0">
                <a:solidFill>
                  <a:schemeClr val="bg1"/>
                </a:solidFill>
              </a:rPr>
              <a:t>11/5/2018</a:t>
            </a:r>
          </a:p>
        </p:txBody>
      </p:sp>
      <p:sp>
        <p:nvSpPr>
          <p:cNvPr id="5" name="Footer Placeholder 4">
            <a:extLst>
              <a:ext uri="{FF2B5EF4-FFF2-40B4-BE49-F238E27FC236}">
                <a16:creationId xmlns:a16="http://schemas.microsoft.com/office/drawing/2014/main" id="{F44AE0DF-1FD2-4C3E-B3AE-A61DEA75F36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1964824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E2E44-929A-4068-B4E8-90074113E5B9}"/>
              </a:ext>
            </a:extLst>
          </p:cNvPr>
          <p:cNvSpPr>
            <a:spLocks noGrp="1"/>
          </p:cNvSpPr>
          <p:nvPr>
            <p:ph type="title"/>
          </p:nvPr>
        </p:nvSpPr>
        <p:spPr/>
        <p:txBody>
          <a:bodyPr/>
          <a:lstStyle/>
          <a:p>
            <a:r>
              <a:rPr lang="en-US" dirty="0">
                <a:cs typeface="Calibri Light"/>
              </a:rPr>
              <a:t>Additional Resources</a:t>
            </a:r>
            <a:endParaRPr lang="en-US" dirty="0"/>
          </a:p>
        </p:txBody>
      </p:sp>
      <p:sp>
        <p:nvSpPr>
          <p:cNvPr id="3" name="Content Placeholder 2">
            <a:extLst>
              <a:ext uri="{FF2B5EF4-FFF2-40B4-BE49-F238E27FC236}">
                <a16:creationId xmlns:a16="http://schemas.microsoft.com/office/drawing/2014/main" id="{FA48F28A-40D8-4278-B133-407570DCC4F1}"/>
              </a:ext>
            </a:extLst>
          </p:cNvPr>
          <p:cNvSpPr>
            <a:spLocks noGrp="1"/>
          </p:cNvSpPr>
          <p:nvPr>
            <p:ph idx="1"/>
          </p:nvPr>
        </p:nvSpPr>
        <p:spPr/>
        <p:txBody>
          <a:bodyPr vert="horz" lIns="91440" tIns="45720" rIns="91440" bIns="45720" rtlCol="0" anchor="t">
            <a:normAutofit/>
          </a:bodyPr>
          <a:lstStyle/>
          <a:p>
            <a:r>
              <a:rPr lang="en-US" dirty="0">
                <a:cs typeface="Calibri"/>
              </a:rPr>
              <a:t>“The Analysis Factor” … loads of clear explanations of statistical concepts, free webinars, and other info:  </a:t>
            </a:r>
            <a:r>
              <a:rPr lang="en-US" dirty="0">
                <a:cs typeface="Calibri"/>
                <a:hlinkClick r:id="rId2"/>
              </a:rPr>
              <a:t>https://www.theanalysisfactor.com/</a:t>
            </a:r>
            <a:r>
              <a:rPr lang="en-US" dirty="0">
                <a:cs typeface="Calibri"/>
              </a:rPr>
              <a:t> </a:t>
            </a:r>
            <a:endParaRPr lang="en-US">
              <a:cs typeface="Calibri"/>
            </a:endParaRPr>
          </a:p>
          <a:p>
            <a:pPr marL="0"/>
            <a:r>
              <a:rPr lang="en-US">
                <a:cs typeface="Calibri"/>
              </a:rPr>
              <a:t>UCLA Institute for Digital Research and Education (“IDRE”)…lots of </a:t>
            </a:r>
            <a:r>
              <a:rPr lang="en-US" dirty="0">
                <a:cs typeface="Calibri"/>
              </a:rPr>
              <a:t>advice related to a variety of stats packages:   </a:t>
            </a:r>
            <a:r>
              <a:rPr lang="en-US" dirty="0">
                <a:cs typeface="Calibri"/>
                <a:hlinkClick r:id="rId3"/>
              </a:rPr>
              <a:t>https://idre.ucla.edu/</a:t>
            </a:r>
            <a:r>
              <a:rPr lang="en-US" dirty="0">
                <a:cs typeface="Calibri"/>
              </a:rPr>
              <a:t> </a:t>
            </a:r>
            <a:endParaRPr lang="en-US"/>
          </a:p>
          <a:p>
            <a:pPr marL="0"/>
            <a:r>
              <a:rPr lang="en-US" dirty="0">
                <a:cs typeface="Calibri"/>
              </a:rPr>
              <a:t>Penn State... Great online stats materials: </a:t>
            </a:r>
            <a:r>
              <a:rPr lang="en-US" dirty="0">
                <a:cs typeface="Calibri"/>
                <a:hlinkClick r:id="rId4"/>
              </a:rPr>
              <a:t>https://newonlinecourses.science.psu.edu/statprogram/</a:t>
            </a:r>
            <a:r>
              <a:rPr lang="en-US" dirty="0">
                <a:cs typeface="Calibri"/>
              </a:rPr>
              <a:t> </a:t>
            </a:r>
            <a:endParaRPr lang="en-US"/>
          </a:p>
          <a:p>
            <a:endParaRPr lang="en-US" dirty="0">
              <a:cs typeface="Calibri"/>
            </a:endParaRPr>
          </a:p>
        </p:txBody>
      </p:sp>
      <p:sp>
        <p:nvSpPr>
          <p:cNvPr id="4" name="Date Placeholder 3">
            <a:extLst>
              <a:ext uri="{FF2B5EF4-FFF2-40B4-BE49-F238E27FC236}">
                <a16:creationId xmlns:a16="http://schemas.microsoft.com/office/drawing/2014/main" id="{6684AB49-E9B9-4C6B-B452-5C2AD451836E}"/>
              </a:ext>
            </a:extLst>
          </p:cNvPr>
          <p:cNvSpPr>
            <a:spLocks noGrp="1"/>
          </p:cNvSpPr>
          <p:nvPr>
            <p:ph type="dt" sz="half" idx="10"/>
          </p:nvPr>
        </p:nvSpPr>
        <p:spPr/>
        <p:txBody>
          <a:bodyPr/>
          <a:lstStyle/>
          <a:p>
            <a:r>
              <a:rPr lang="en-US" dirty="0"/>
              <a:t>11/5/2018</a:t>
            </a:r>
          </a:p>
        </p:txBody>
      </p:sp>
      <p:sp>
        <p:nvSpPr>
          <p:cNvPr id="5" name="Footer Placeholder 4">
            <a:extLst>
              <a:ext uri="{FF2B5EF4-FFF2-40B4-BE49-F238E27FC236}">
                <a16:creationId xmlns:a16="http://schemas.microsoft.com/office/drawing/2014/main" id="{CB14890E-46A4-430E-A762-6E16FD3A47A5}"/>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413430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E2E44-929A-4068-B4E8-90074113E5B9}"/>
              </a:ext>
            </a:extLst>
          </p:cNvPr>
          <p:cNvSpPr>
            <a:spLocks noGrp="1"/>
          </p:cNvSpPr>
          <p:nvPr>
            <p:ph type="title"/>
          </p:nvPr>
        </p:nvSpPr>
        <p:spPr/>
        <p:txBody>
          <a:bodyPr/>
          <a:lstStyle/>
          <a:p>
            <a:r>
              <a:rPr lang="en-US" dirty="0">
                <a:cs typeface="Calibri Light"/>
              </a:rPr>
              <a:t>Additional Resources (Derek's list earlier)</a:t>
            </a:r>
            <a:endParaRPr lang="en-US" dirty="0"/>
          </a:p>
        </p:txBody>
      </p:sp>
      <p:sp>
        <p:nvSpPr>
          <p:cNvPr id="3" name="Content Placeholder 2">
            <a:extLst>
              <a:ext uri="{FF2B5EF4-FFF2-40B4-BE49-F238E27FC236}">
                <a16:creationId xmlns:a16="http://schemas.microsoft.com/office/drawing/2014/main" id="{FA48F28A-40D8-4278-B133-407570DCC4F1}"/>
              </a:ext>
            </a:extLst>
          </p:cNvPr>
          <p:cNvSpPr>
            <a:spLocks noGrp="1"/>
          </p:cNvSpPr>
          <p:nvPr>
            <p:ph idx="1"/>
          </p:nvPr>
        </p:nvSpPr>
        <p:spPr/>
        <p:txBody>
          <a:bodyPr vert="horz" lIns="91440" tIns="45720" rIns="91440" bIns="45720" rtlCol="0" anchor="t">
            <a:normAutofit fontScale="62500" lnSpcReduction="20000"/>
          </a:bodyPr>
          <a:lstStyle/>
          <a:p>
            <a:pPr marL="0" indent="0">
              <a:lnSpc>
                <a:spcPct val="120000"/>
              </a:lnSpc>
              <a:spcBef>
                <a:spcPts val="0"/>
              </a:spcBef>
              <a:buNone/>
            </a:pPr>
            <a:r>
              <a:rPr lang="en-US" sz="4500" dirty="0">
                <a:cs typeface="Calibri"/>
              </a:rPr>
              <a:t>Karl Broman’s website: kbroman.org/pages/tutorials.html</a:t>
            </a:r>
          </a:p>
          <a:p>
            <a:pPr marL="0" indent="0">
              <a:lnSpc>
                <a:spcPct val="120000"/>
              </a:lnSpc>
              <a:spcBef>
                <a:spcPts val="0"/>
              </a:spcBef>
              <a:buNone/>
            </a:pPr>
            <a:r>
              <a:rPr lang="en-US" sz="4500" dirty="0">
                <a:cs typeface="Calibri"/>
              </a:rPr>
              <a:t>(Dr. Broman is a UW Madison BMI professor, and advocate / practitioner of reproducible research</a:t>
            </a:r>
          </a:p>
          <a:p>
            <a:pPr marL="0" indent="0">
              <a:lnSpc>
                <a:spcPct val="120000"/>
              </a:lnSpc>
              <a:spcBef>
                <a:spcPts val="0"/>
              </a:spcBef>
              <a:buNone/>
            </a:pPr>
            <a:endParaRPr lang="en-US" sz="4500" dirty="0">
              <a:cs typeface="Calibri"/>
            </a:endParaRPr>
          </a:p>
          <a:p>
            <a:pPr marL="0" indent="0">
              <a:lnSpc>
                <a:spcPct val="120000"/>
              </a:lnSpc>
              <a:spcBef>
                <a:spcPts val="0"/>
              </a:spcBef>
              <a:buNone/>
            </a:pPr>
            <a:r>
              <a:rPr lang="en-US" sz="4500" dirty="0">
                <a:cs typeface="Calibri"/>
              </a:rPr>
              <a:t>UW Madison Software and Data Carpentry short courses: take place twice a year and last two days each. (Google phrase like "UW Data Carpentry" is your best resource for finding upcoming courses (or looking at past ones))</a:t>
            </a:r>
            <a:endParaRPr lang="en-US" sz="9500" dirty="0">
              <a:cs typeface="Calibri"/>
            </a:endParaRPr>
          </a:p>
          <a:p>
            <a:pPr marL="0"/>
            <a:endParaRPr lang="en-US" dirty="0">
              <a:cs typeface="Calibri"/>
            </a:endParaRPr>
          </a:p>
          <a:p>
            <a:endParaRPr lang="en-US" dirty="0">
              <a:cs typeface="Calibri"/>
            </a:endParaRPr>
          </a:p>
        </p:txBody>
      </p:sp>
      <p:sp>
        <p:nvSpPr>
          <p:cNvPr id="4" name="Date Placeholder 3">
            <a:extLst>
              <a:ext uri="{FF2B5EF4-FFF2-40B4-BE49-F238E27FC236}">
                <a16:creationId xmlns:a16="http://schemas.microsoft.com/office/drawing/2014/main" id="{6684AB49-E9B9-4C6B-B452-5C2AD451836E}"/>
              </a:ext>
            </a:extLst>
          </p:cNvPr>
          <p:cNvSpPr>
            <a:spLocks noGrp="1"/>
          </p:cNvSpPr>
          <p:nvPr>
            <p:ph type="dt" sz="half" idx="10"/>
          </p:nvPr>
        </p:nvSpPr>
        <p:spPr/>
        <p:txBody>
          <a:bodyPr/>
          <a:lstStyle/>
          <a:p>
            <a:r>
              <a:rPr lang="en-US" dirty="0"/>
              <a:t>11/5/2018</a:t>
            </a:r>
          </a:p>
        </p:txBody>
      </p:sp>
      <p:sp>
        <p:nvSpPr>
          <p:cNvPr id="5" name="Footer Placeholder 4">
            <a:extLst>
              <a:ext uri="{FF2B5EF4-FFF2-40B4-BE49-F238E27FC236}">
                <a16:creationId xmlns:a16="http://schemas.microsoft.com/office/drawing/2014/main" id="{CB14890E-46A4-430E-A762-6E16FD3A47A5}"/>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8216131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E2E44-929A-4068-B4E8-90074113E5B9}"/>
              </a:ext>
            </a:extLst>
          </p:cNvPr>
          <p:cNvSpPr>
            <a:spLocks noGrp="1"/>
          </p:cNvSpPr>
          <p:nvPr>
            <p:ph type="title"/>
          </p:nvPr>
        </p:nvSpPr>
        <p:spPr/>
        <p:txBody>
          <a:bodyPr/>
          <a:lstStyle/>
          <a:p>
            <a:r>
              <a:rPr lang="en-US" dirty="0">
                <a:cs typeface="Calibri Light"/>
              </a:rPr>
              <a:t>Additional </a:t>
            </a:r>
            <a:r>
              <a:rPr lang="en-US" dirty="0" smtClean="0">
                <a:cs typeface="Calibri Light"/>
              </a:rPr>
              <a:t>Resources related to SAPs</a:t>
            </a:r>
            <a:endParaRPr lang="en-US" dirty="0"/>
          </a:p>
        </p:txBody>
      </p:sp>
      <p:sp>
        <p:nvSpPr>
          <p:cNvPr id="3" name="Content Placeholder 2">
            <a:extLst>
              <a:ext uri="{FF2B5EF4-FFF2-40B4-BE49-F238E27FC236}">
                <a16:creationId xmlns:a16="http://schemas.microsoft.com/office/drawing/2014/main" id="{FA48F28A-40D8-4278-B133-407570DCC4F1}"/>
              </a:ext>
            </a:extLst>
          </p:cNvPr>
          <p:cNvSpPr>
            <a:spLocks noGrp="1"/>
          </p:cNvSpPr>
          <p:nvPr>
            <p:ph idx="1"/>
          </p:nvPr>
        </p:nvSpPr>
        <p:spPr/>
        <p:txBody>
          <a:bodyPr vert="horz" lIns="91440" tIns="45720" rIns="91440" bIns="45720" rtlCol="0" anchor="t">
            <a:normAutofit/>
          </a:bodyPr>
          <a:lstStyle/>
          <a:p>
            <a:pPr marL="0" indent="0">
              <a:lnSpc>
                <a:spcPct val="120000"/>
              </a:lnSpc>
              <a:spcBef>
                <a:spcPts val="0"/>
              </a:spcBef>
              <a:buNone/>
            </a:pPr>
            <a:endParaRPr lang="en-US" sz="4500" dirty="0">
              <a:cs typeface="Calibri"/>
            </a:endParaRPr>
          </a:p>
          <a:p>
            <a:pPr marL="0"/>
            <a:r>
              <a:rPr lang="en-US" dirty="0" smtClean="0">
                <a:cs typeface="Calibri"/>
              </a:rPr>
              <a:t>Derek provided an example SAP and the article corresponding to it</a:t>
            </a:r>
          </a:p>
          <a:p>
            <a:pPr marL="0"/>
            <a:r>
              <a:rPr lang="en-US" dirty="0" smtClean="0">
                <a:cs typeface="Calibri"/>
              </a:rPr>
              <a:t>Rebecca added a couple SAP articles. </a:t>
            </a:r>
          </a:p>
          <a:p>
            <a:pPr marL="0"/>
            <a:r>
              <a:rPr lang="en-US" dirty="0" smtClean="0">
                <a:cs typeface="Calibri"/>
              </a:rPr>
              <a:t>(Sam will send these along with the </a:t>
            </a:r>
            <a:r>
              <a:rPr lang="en-US" smtClean="0">
                <a:cs typeface="Calibri"/>
              </a:rPr>
              <a:t>slide presentation)</a:t>
            </a:r>
            <a:endParaRPr lang="en-US" dirty="0">
              <a:cs typeface="Calibri"/>
            </a:endParaRPr>
          </a:p>
          <a:p>
            <a:endParaRPr lang="en-US" dirty="0">
              <a:cs typeface="Calibri"/>
            </a:endParaRPr>
          </a:p>
        </p:txBody>
      </p:sp>
      <p:sp>
        <p:nvSpPr>
          <p:cNvPr id="4" name="Date Placeholder 3">
            <a:extLst>
              <a:ext uri="{FF2B5EF4-FFF2-40B4-BE49-F238E27FC236}">
                <a16:creationId xmlns:a16="http://schemas.microsoft.com/office/drawing/2014/main" id="{6684AB49-E9B9-4C6B-B452-5C2AD451836E}"/>
              </a:ext>
            </a:extLst>
          </p:cNvPr>
          <p:cNvSpPr>
            <a:spLocks noGrp="1"/>
          </p:cNvSpPr>
          <p:nvPr>
            <p:ph type="dt" sz="half" idx="10"/>
          </p:nvPr>
        </p:nvSpPr>
        <p:spPr/>
        <p:txBody>
          <a:bodyPr/>
          <a:lstStyle/>
          <a:p>
            <a:r>
              <a:rPr lang="en-US" dirty="0"/>
              <a:t>11/5/2018</a:t>
            </a:r>
          </a:p>
        </p:txBody>
      </p:sp>
      <p:sp>
        <p:nvSpPr>
          <p:cNvPr id="5" name="Footer Placeholder 4">
            <a:extLst>
              <a:ext uri="{FF2B5EF4-FFF2-40B4-BE49-F238E27FC236}">
                <a16:creationId xmlns:a16="http://schemas.microsoft.com/office/drawing/2014/main" id="{CB14890E-46A4-430E-A762-6E16FD3A47A5}"/>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4198084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5A3F1-2B37-415E-B145-0FADF4691DB9}"/>
              </a:ext>
            </a:extLst>
          </p:cNvPr>
          <p:cNvSpPr>
            <a:spLocks noGrp="1"/>
          </p:cNvSpPr>
          <p:nvPr>
            <p:ph type="title"/>
          </p:nvPr>
        </p:nvSpPr>
        <p:spPr/>
        <p:txBody>
          <a:bodyPr/>
          <a:lstStyle/>
          <a:p>
            <a:pPr algn="ctr"/>
            <a:r>
              <a:rPr lang="en-US" dirty="0">
                <a:cs typeface="Calibri Light"/>
              </a:rPr>
              <a:t>Thank you!</a:t>
            </a:r>
          </a:p>
        </p:txBody>
      </p:sp>
      <p:pic>
        <p:nvPicPr>
          <p:cNvPr id="6" name="Picture 6">
            <a:extLst>
              <a:ext uri="{FF2B5EF4-FFF2-40B4-BE49-F238E27FC236}">
                <a16:creationId xmlns:a16="http://schemas.microsoft.com/office/drawing/2014/main" id="{6422900D-DA2E-4B3A-A189-69526661589D}"/>
              </a:ext>
            </a:extLst>
          </p:cNvPr>
          <p:cNvPicPr>
            <a:picLocks noGrp="1" noChangeAspect="1"/>
          </p:cNvPicPr>
          <p:nvPr>
            <p:ph idx="1"/>
          </p:nvPr>
        </p:nvPicPr>
        <p:blipFill>
          <a:blip r:embed="rId2"/>
          <a:stretch>
            <a:fillRect/>
          </a:stretch>
        </p:blipFill>
        <p:spPr>
          <a:xfrm>
            <a:off x="3262312" y="2600373"/>
            <a:ext cx="5667375" cy="3495675"/>
          </a:xfrm>
          <a:prstGeom prst="rect">
            <a:avLst/>
          </a:prstGeom>
        </p:spPr>
      </p:pic>
      <p:sp>
        <p:nvSpPr>
          <p:cNvPr id="4" name="Date Placeholder 3">
            <a:extLst>
              <a:ext uri="{FF2B5EF4-FFF2-40B4-BE49-F238E27FC236}">
                <a16:creationId xmlns:a16="http://schemas.microsoft.com/office/drawing/2014/main" id="{231172EB-D088-46DB-B6E5-8E1C4358A7EF}"/>
              </a:ext>
            </a:extLst>
          </p:cNvPr>
          <p:cNvSpPr>
            <a:spLocks noGrp="1"/>
          </p:cNvSpPr>
          <p:nvPr>
            <p:ph type="dt" sz="half" idx="10"/>
          </p:nvPr>
        </p:nvSpPr>
        <p:spPr/>
        <p:txBody>
          <a:bodyPr/>
          <a:lstStyle/>
          <a:p>
            <a:r>
              <a:rPr lang="en-US" dirty="0"/>
              <a:t>11/5/2018</a:t>
            </a:r>
          </a:p>
        </p:txBody>
      </p:sp>
      <p:sp>
        <p:nvSpPr>
          <p:cNvPr id="5" name="Footer Placeholder 4">
            <a:extLst>
              <a:ext uri="{FF2B5EF4-FFF2-40B4-BE49-F238E27FC236}">
                <a16:creationId xmlns:a16="http://schemas.microsoft.com/office/drawing/2014/main" id="{59DED9D2-B8FB-4746-B437-4BED31533E09}"/>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9022755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TM16401371[[fn=Atlas]]</Template>
  <TotalTime>2071</TotalTime>
  <Words>3938</Words>
  <Application>Microsoft Office PowerPoint</Application>
  <PresentationFormat>Widescreen</PresentationFormat>
  <Paragraphs>586</Paragraphs>
  <Slides>67</Slides>
  <Notes>23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67</vt:i4>
      </vt:variant>
    </vt:vector>
  </HeadingPairs>
  <TitlesOfParts>
    <vt:vector size="79" baseType="lpstr">
      <vt:lpstr>Arial Unicode MS</vt:lpstr>
      <vt:lpstr>Arial</vt:lpstr>
      <vt:lpstr>Calibri</vt:lpstr>
      <vt:lpstr>Calibri Light</vt:lpstr>
      <vt:lpstr>Cambria Math</vt:lpstr>
      <vt:lpstr>Courier New</vt:lpstr>
      <vt:lpstr>DengXian</vt:lpstr>
      <vt:lpstr>Mangal</vt:lpstr>
      <vt:lpstr>Symbol</vt:lpstr>
      <vt:lpstr>Times New Roman</vt:lpstr>
      <vt:lpstr>Wingdings</vt:lpstr>
      <vt:lpstr>Office Theme</vt:lpstr>
      <vt:lpstr>Things to consider before  analyzing your data: Thoughts from your local statistics team</vt:lpstr>
      <vt:lpstr>Outline </vt:lpstr>
      <vt:lpstr>Context of our presentation</vt:lpstr>
      <vt:lpstr>Context (continued)</vt:lpstr>
      <vt:lpstr>Research ethics and quality</vt:lpstr>
      <vt:lpstr>PowerPoint Presentation</vt:lpstr>
      <vt:lpstr>PowerPoint Presentation</vt:lpstr>
      <vt:lpstr>PowerPoint Presentation</vt:lpstr>
      <vt:lpstr>Good scientific practices lead to research that is…</vt:lpstr>
      <vt:lpstr>Good scientific practices avoid…</vt:lpstr>
      <vt:lpstr>PowerPoint Presentation</vt:lpstr>
      <vt:lpstr>PowerPoint Presentation</vt:lpstr>
      <vt:lpstr>PowerPoint Presentation</vt:lpstr>
      <vt:lpstr>Keeping reproducibility in mind!</vt:lpstr>
      <vt:lpstr>Reproducible Research</vt:lpstr>
      <vt:lpstr>The digital domain (aka, “Where’d my lab book go?!”)</vt:lpstr>
      <vt:lpstr>File structure example</vt:lpstr>
      <vt:lpstr>Statistical analysis plan (SAP) structure example</vt:lpstr>
      <vt:lpstr>Statistical analysis plan (SAP) structure example</vt:lpstr>
      <vt:lpstr>Statistical analysis plan (SAP) structure example</vt:lpstr>
      <vt:lpstr>Statistical analysis plan (SAP) structure example</vt:lpstr>
      <vt:lpstr>Statistical analysis plan (SAP) structure example</vt:lpstr>
      <vt:lpstr>Script structure example</vt:lpstr>
      <vt:lpstr>Suggested Do’s and Don’ts</vt:lpstr>
      <vt:lpstr>Additional resources on reproducible research</vt:lpstr>
      <vt:lpstr>Multiple comparisons</vt:lpstr>
      <vt:lpstr>Multiple comparisons</vt:lpstr>
      <vt:lpstr>Multiple comparisons: Why it matters</vt:lpstr>
      <vt:lpstr>Multiple comparisons: Basic terminology</vt:lpstr>
      <vt:lpstr>Multiple comparisons: Some options</vt:lpstr>
      <vt:lpstr>Multiple comparisons: FWER (single-step)</vt:lpstr>
      <vt:lpstr>Multiple comparisons: FWER (sequential)</vt:lpstr>
      <vt:lpstr>Multiple comparisons: FDR procedures</vt:lpstr>
      <vt:lpstr>Multiple comparisons:  Comparing sequential procedures</vt:lpstr>
      <vt:lpstr>Multiple comparisons: The bottom line</vt:lpstr>
      <vt:lpstr>Three practices to avoid</vt:lpstr>
      <vt:lpstr>To Avoid: Fishing P-Values</vt:lpstr>
      <vt:lpstr>How To Avoid: Fishing P-Values</vt:lpstr>
      <vt:lpstr>To Avoid:  Copying a Statistical Method without Understanding</vt:lpstr>
      <vt:lpstr>To Avoid:  Copying a Statistical Method without Understanding</vt:lpstr>
      <vt:lpstr>How To Avoid:  Copying a Statistical Method without Understanding</vt:lpstr>
      <vt:lpstr>How To Avoid:  Copying a Statistical Method without Understanding</vt:lpstr>
      <vt:lpstr>How To Avoid:  Copying a Statistical Method without Understanding</vt:lpstr>
      <vt:lpstr>To Avoid:  Underestimating Data Management</vt:lpstr>
      <vt:lpstr>How To Avoid:  Underestimating Data Management</vt:lpstr>
      <vt:lpstr>How To Avoid:  Underestimating Data Management</vt:lpstr>
      <vt:lpstr>How To Avoid:  Underestimating Data Management</vt:lpstr>
      <vt:lpstr>How To Avoid:  Underestimating Data Management</vt:lpstr>
      <vt:lpstr>How To Avoid:  Underestimating Data Management</vt:lpstr>
      <vt:lpstr>Case study: SHARP (Statins in Healthy, At Risk Adults: Impact on Amyloid and Regional Perfusion)</vt:lpstr>
      <vt:lpstr>Case study: SHARP</vt:lpstr>
      <vt:lpstr>Case study: SHARP protocol</vt:lpstr>
      <vt:lpstr>Case study: SHARP protocol</vt:lpstr>
      <vt:lpstr>Case study: SHARP protocol</vt:lpstr>
      <vt:lpstr>Case study: SHARP Statistical Analysis Plan</vt:lpstr>
      <vt:lpstr>Case study: SHARP Statistical Analysis Plan</vt:lpstr>
      <vt:lpstr>Case study: Digression</vt:lpstr>
      <vt:lpstr>Case study: Digression</vt:lpstr>
      <vt:lpstr>Case study: SHARP Statistical Analysis Plan</vt:lpstr>
      <vt:lpstr>Case study: SHARP Statistical Analysis Plan</vt:lpstr>
      <vt:lpstr>Summary/Conclusions</vt:lpstr>
      <vt:lpstr>Misc. Resources</vt:lpstr>
      <vt:lpstr>Misc. Resources</vt:lpstr>
      <vt:lpstr>Additional Resources</vt:lpstr>
      <vt:lpstr>Additional Resources (Derek's list earlier)</vt:lpstr>
      <vt:lpstr>Additional Resources related to SAPs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Erin Jonaitis</dc:creator>
  <cp:lastModifiedBy>Rebecca L Koscik</cp:lastModifiedBy>
  <cp:revision>143</cp:revision>
  <dcterms:created xsi:type="dcterms:W3CDTF">2018-10-31T14:08:20Z</dcterms:created>
  <dcterms:modified xsi:type="dcterms:W3CDTF">2018-12-17T21:38:21Z</dcterms:modified>
</cp:coreProperties>
</file>