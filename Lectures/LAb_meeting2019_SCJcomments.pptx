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72" r:id="rId4"/>
    <p:sldId id="27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81"/>
  </p:normalViewPr>
  <p:slideViewPr>
    <p:cSldViewPr snapToGrid="0" snapToObjects="1" showGuides="1">
      <p:cViewPr varScale="1">
        <p:scale>
          <a:sx n="206" d="100"/>
          <a:sy n="206" d="100"/>
        </p:scale>
        <p:origin x="24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55C7D-2373-3542-AB9A-8C50A4761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D508C-964C-2142-8C9C-7EA29E483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F5A21-24F7-BA43-BD9B-67609C63D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316E-1E29-AD4A-B3B2-6AADB99935E0}" type="datetimeFigureOut">
              <a:rPr lang="en-US" smtClean="0"/>
              <a:t>3/25/19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9E757-7DDF-2946-B5D6-93F98BA2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9DEBC-363D-E549-B0C4-0CCBD459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5518-0A60-7643-A213-CAA9D98FA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98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37169-1DAE-1C40-A5B7-8DE5C67AA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9C07E-7532-7D4D-80A6-DFB81F9C7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01F5D-C1A2-5949-B373-97C7C56B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316E-1E29-AD4A-B3B2-6AADB99935E0}" type="datetimeFigureOut">
              <a:rPr lang="en-US" smtClean="0"/>
              <a:t>3/25/19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77BA9-2819-374F-8285-5EA5A0044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94C75-4595-1047-B129-DEDFF8A8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5518-0A60-7643-A213-CAA9D98FA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52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4E6C-9D8F-924A-A567-FC5782084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EF47D-46A9-9447-83E6-742068570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8C8A9-2E9E-D44B-A2A8-D0F72CE7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316E-1E29-AD4A-B3B2-6AADB99935E0}" type="datetimeFigureOut">
              <a:rPr lang="en-US" smtClean="0"/>
              <a:t>3/25/19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8B988-B552-3B4D-A6E9-796AB3C0D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7D4ED-D58E-4444-9C71-FC0E2479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5518-0A60-7643-A213-CAA9D98FA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6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D3D01-1A27-9A47-B11B-D6F0FFBC0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677A5-1094-1B4E-A570-F940418F0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3529A-FBAD-FB4C-8D1C-49E2243B6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7A735-A82C-C54C-AFC5-425402901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316E-1E29-AD4A-B3B2-6AADB99935E0}" type="datetimeFigureOut">
              <a:rPr lang="en-US" smtClean="0"/>
              <a:t>3/25/19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C9F7C-2AE4-8D4D-8755-8222CF824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F82A9-3A62-9345-BC9C-4A9896597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5518-0A60-7643-A213-CAA9D98FA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75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1B83A-835D-984F-AEFF-202E19038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E0E26-7B58-7B49-9F98-889B8FCA6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CCAEB-AFB2-1543-96BA-20E695C39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75677-3ECC-5E49-9AF3-19851DF79A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44A0D-0539-9249-ABF4-55F0B99CD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4CC3D-B906-2949-A513-D26D7D334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316E-1E29-AD4A-B3B2-6AADB99935E0}" type="datetimeFigureOut">
              <a:rPr lang="en-US" smtClean="0"/>
              <a:t>3/25/19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CCA2D5-B1EE-BD45-8C10-580EFE0D2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DE9F9F-65E4-B447-8310-5812136E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5518-0A60-7643-A213-CAA9D98FA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82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1EE21-AFD8-4445-878A-0641E9E54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4C901C-50A9-E54C-8DA5-F8184FF2B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316E-1E29-AD4A-B3B2-6AADB99935E0}" type="datetimeFigureOut">
              <a:rPr lang="en-US" smtClean="0"/>
              <a:t>3/25/19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1CBBA-652A-8C4B-9C35-10A287C2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D3404-D24B-8841-A1A0-A3E3C8446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5518-0A60-7643-A213-CAA9D98FA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60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DB5B7-8DD9-254E-9823-5D6C56673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316E-1E29-AD4A-B3B2-6AADB99935E0}" type="datetimeFigureOut">
              <a:rPr lang="en-US" smtClean="0"/>
              <a:t>3/25/19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C166E8-8352-A348-895F-282B9CF73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CAB84-4DCA-5B45-B0CA-9EDF0340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5518-0A60-7643-A213-CAA9D98FA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73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2F18C-73AF-BA4E-A521-FE02D25F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EA903-691F-6345-8F3F-F96299897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EC7B82-1FCE-C548-8063-0D78834B0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A7F70-5EC3-D746-85B1-64511BE92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316E-1E29-AD4A-B3B2-6AADB99935E0}" type="datetimeFigureOut">
              <a:rPr lang="en-US" smtClean="0"/>
              <a:t>3/25/19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B3D88-475A-704A-83ED-1B3E575F7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6AB14-F34B-134A-9E96-B5C35F85A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5518-0A60-7643-A213-CAA9D98FA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14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329BC-99BD-8745-9E96-53A61FE9E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6B0231-E454-A245-8601-DC5B3C23A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CC450-5DCA-5840-A061-CA516E07C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558C3-3996-0045-A710-B3B3020C7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316E-1E29-AD4A-B3B2-6AADB99935E0}" type="datetimeFigureOut">
              <a:rPr lang="en-US" smtClean="0"/>
              <a:t>3/25/19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B99A6-B5D6-FF44-BAE1-49DF33DD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A001B-6C0B-374D-8327-6C1E8EB2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5518-0A60-7643-A213-CAA9D98FA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0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7A4F8-DA24-DA4A-B978-FD9942B93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62529-2D8D-FD41-93F0-35CCD172A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343AF-7EF6-A745-ACEF-376A228FA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316E-1E29-AD4A-B3B2-6AADB99935E0}" type="datetimeFigureOut">
              <a:rPr lang="en-US" smtClean="0"/>
              <a:t>3/25/19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7CEF6-5D54-6145-9F44-7B221D7BA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B3BA8-3079-FA45-B5E6-B4F4E9DB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5518-0A60-7643-A213-CAA9D98FA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875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65A5B0-31D3-B148-AC43-E521FFE15D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BE37F-BEAC-9645-82BA-AFFA1860C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7A3E4-CF1B-EF4A-B5D4-234A672D9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316E-1E29-AD4A-B3B2-6AADB99935E0}" type="datetimeFigureOut">
              <a:rPr lang="en-US" smtClean="0"/>
              <a:t>3/25/19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648BD-8AAA-5A4F-9EA2-AACFCDECF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8F202-4656-BE4D-9416-453D44D10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5518-0A60-7643-A213-CAA9D98FA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65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8813B0-F087-FD48-A6ED-B70E4D9E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F1789-3BA5-724E-A406-FF4B5F302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359F-1D11-AD46-8730-D53585785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B316E-1E29-AD4A-B3B2-6AADB99935E0}" type="datetimeFigureOut">
              <a:rPr lang="en-US" smtClean="0"/>
              <a:t>3/25/19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7D73C-4A5F-5F4C-A81B-3296FF397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F015D-AEB9-8F4C-99DB-9DCB84D0B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C5518-0A60-7643-A213-CAA9D98FA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49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78D6AA-5E6F-5145-9D43-758B177F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Publications—General Comments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9E220B-FA4D-D945-9517-2B319115E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6380"/>
            <a:ext cx="10515600" cy="499872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Are you mindful of what has already been published from our group and framing the project in appropriate context? Are you extending/taking the concept further?</a:t>
            </a:r>
          </a:p>
          <a:p>
            <a:r>
              <a:rPr lang="en-US" dirty="0"/>
              <a:t>Are you involving the key players early enough in the process so that they can contribute and earn their authorship?</a:t>
            </a:r>
          </a:p>
          <a:p>
            <a:pPr lvl="2"/>
            <a:r>
              <a:rPr lang="en-US" dirty="0"/>
              <a:t>The fully formed manuscript should not be the first time a coauthor encounters the project.  Especially for outside collaborators. Involve them early. Senior outside collaborators should have a prominent place in author order and given a chance to contribute to the approach and interpretation</a:t>
            </a:r>
          </a:p>
          <a:p>
            <a:r>
              <a:rPr lang="en-US" b="1" dirty="0"/>
              <a:t>Do you have a statistical analysis plan that you adhere to that was formed prior to your analysis?</a:t>
            </a:r>
          </a:p>
          <a:p>
            <a:r>
              <a:rPr lang="en-US" dirty="0"/>
              <a:t>Are you publishing a real effect?  Try to break it</a:t>
            </a:r>
          </a:p>
          <a:p>
            <a:pPr lvl="2"/>
            <a:r>
              <a:rPr lang="en-US" dirty="0"/>
              <a:t>Are the constructs of interest accurately reflected in the operationalized variables?</a:t>
            </a:r>
          </a:p>
          <a:p>
            <a:pPr lvl="2"/>
            <a:r>
              <a:rPr lang="en-US" dirty="0"/>
              <a:t>Is there a way you can include a </a:t>
            </a:r>
            <a:r>
              <a:rPr lang="en-US" b="1" dirty="0"/>
              <a:t>replication</a:t>
            </a:r>
            <a:r>
              <a:rPr lang="en-US" dirty="0"/>
              <a:t>? E.g. an effect found in WRAP might be replicable in IMPACT and/or other cohort; or hold out a subsample for replication.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Conduct sturdy replicable work that reflects a quest for truth</a:t>
            </a:r>
          </a:p>
        </p:txBody>
      </p:sp>
    </p:spTree>
    <p:extLst>
      <p:ext uri="{BB962C8B-B14F-4D97-AF65-F5344CB8AC3E}">
        <p14:creationId xmlns:p14="http://schemas.microsoft.com/office/powerpoint/2010/main" val="2207116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810E4-9DC9-5544-BFC5-A90F04543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527" y="28229"/>
            <a:ext cx="11253537" cy="1325563"/>
          </a:xfrm>
        </p:spPr>
        <p:txBody>
          <a:bodyPr/>
          <a:lstStyle/>
          <a:p>
            <a:r>
              <a:rPr lang="en-US" dirty="0"/>
              <a:t>The formal aims of Core G in the new ADRC grant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C3AADF-970A-4949-B48B-4BE2B10A2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134"/>
            <a:ext cx="10515600" cy="523308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Aim 1:  AD Biomarkers (A,T)</a:t>
            </a:r>
          </a:p>
          <a:p>
            <a:pPr lvl="1"/>
            <a:r>
              <a:rPr lang="en-US" dirty="0"/>
              <a:t>CSF: Program wide standardized collection/analysis of CSF for linked studies</a:t>
            </a:r>
          </a:p>
          <a:p>
            <a:pPr lvl="1"/>
            <a:r>
              <a:rPr lang="en-US" dirty="0"/>
              <a:t>PET: Standard collection/analysis of tau and amyloid PET</a:t>
            </a:r>
          </a:p>
          <a:p>
            <a:pPr lvl="2"/>
            <a:r>
              <a:rPr lang="en-US" dirty="0"/>
              <a:t>MK6240 and </a:t>
            </a:r>
            <a:r>
              <a:rPr lang="en-US" dirty="0" err="1"/>
              <a:t>PiB</a:t>
            </a:r>
            <a:r>
              <a:rPr lang="en-US" dirty="0"/>
              <a:t> are the current ‘core’ tracers</a:t>
            </a:r>
          </a:p>
          <a:p>
            <a:r>
              <a:rPr lang="en-US" dirty="0"/>
              <a:t>Aim 2: Biomarkers of concomitant features (vascular, atrophy, inflammation, etc.)</a:t>
            </a:r>
          </a:p>
          <a:p>
            <a:pPr lvl="1"/>
            <a:r>
              <a:rPr lang="en-US" dirty="0"/>
              <a:t>Standard MRI protocol</a:t>
            </a:r>
          </a:p>
          <a:p>
            <a:pPr lvl="1"/>
            <a:r>
              <a:rPr lang="en-US" dirty="0"/>
              <a:t>Ancillary CSF assays</a:t>
            </a:r>
          </a:p>
          <a:p>
            <a:r>
              <a:rPr lang="en-US" dirty="0"/>
              <a:t>Aim 3: Biomarker Interpretation</a:t>
            </a:r>
          </a:p>
          <a:p>
            <a:pPr lvl="1"/>
            <a:r>
              <a:rPr lang="en-US" dirty="0"/>
              <a:t>A, T, N, V and others</a:t>
            </a:r>
          </a:p>
          <a:p>
            <a:pPr lvl="1"/>
            <a:r>
              <a:rPr lang="en-US" dirty="0"/>
              <a:t>QC and local norms/ranges for what is normal and not normal</a:t>
            </a:r>
          </a:p>
          <a:p>
            <a:r>
              <a:rPr lang="en-US" dirty="0"/>
              <a:t>Aim 4: Investigator support: Infrastructure and consultation: PANDA, image management, basic analyses for linked studies; pre/post award; PET monitoring service</a:t>
            </a:r>
          </a:p>
          <a:p>
            <a:r>
              <a:rPr lang="en-US" dirty="0"/>
              <a:t>Aim 5: Share data:  UP, XNAT</a:t>
            </a:r>
          </a:p>
          <a:p>
            <a:r>
              <a:rPr lang="en-US" dirty="0"/>
              <a:t>Aim 6:  Evaluate and adopt new useful biomarkers (</a:t>
            </a:r>
            <a:r>
              <a:rPr lang="en-US" dirty="0" err="1"/>
              <a:t>e.g.UCB</a:t>
            </a:r>
            <a:r>
              <a:rPr lang="en-US" dirty="0"/>
              <a:t>-J PET; novel CSF markers)</a:t>
            </a:r>
          </a:p>
        </p:txBody>
      </p:sp>
    </p:spTree>
    <p:extLst>
      <p:ext uri="{BB962C8B-B14F-4D97-AF65-F5344CB8AC3E}">
        <p14:creationId xmlns:p14="http://schemas.microsoft.com/office/powerpoint/2010/main" val="232459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B719B-07BC-424C-992F-D1B0206F1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G:  A shift in scope to a more sustainable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D92C8-D7BE-7E41-96F4-EE9D82635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1840" y="1825625"/>
            <a:ext cx="10403840" cy="4351338"/>
          </a:xfrm>
        </p:spPr>
        <p:txBody>
          <a:bodyPr>
            <a:normAutofit/>
          </a:bodyPr>
          <a:lstStyle/>
          <a:p>
            <a:r>
              <a:rPr lang="en-US" dirty="0"/>
              <a:t>The labs and core are evolving</a:t>
            </a:r>
          </a:p>
          <a:p>
            <a:pPr lvl="1"/>
            <a:r>
              <a:rPr lang="en-US" dirty="0"/>
              <a:t>Field is rapidly changing</a:t>
            </a:r>
          </a:p>
          <a:p>
            <a:pPr lvl="1"/>
            <a:r>
              <a:rPr lang="en-US" dirty="0"/>
              <a:t>Investigator growth in labs/funding; scientific differentiation</a:t>
            </a:r>
          </a:p>
          <a:p>
            <a:r>
              <a:rPr lang="en-US" dirty="0"/>
              <a:t>Finite Core G resources and staff</a:t>
            </a:r>
          </a:p>
          <a:p>
            <a:r>
              <a:rPr lang="en-US" dirty="0"/>
              <a:t>Scale the core to the direction and volume of anticipated growth</a:t>
            </a:r>
          </a:p>
          <a:p>
            <a:r>
              <a:rPr lang="en-US" dirty="0"/>
              <a:t>Pare down activities that are less relevant to the core</a:t>
            </a:r>
          </a:p>
          <a:p>
            <a:r>
              <a:rPr lang="en-US" dirty="0"/>
              <a:t>Only commit to what is sustainable and realistic</a:t>
            </a:r>
          </a:p>
          <a:p>
            <a:r>
              <a:rPr lang="en-US" sz="3600" b="1" dirty="0"/>
              <a:t>Focus on fulfilling the Aims of the Core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928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7095DF-96B3-E441-B765-D2DAB8AF8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few changes in lab to core G interactions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BF2CD-E809-944B-A696-672C62499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Core G Imaging lab moving upstairs to K6/4 wing</a:t>
            </a:r>
          </a:p>
          <a:p>
            <a:r>
              <a:rPr lang="en-US" dirty="0"/>
              <a:t>Hardware support for non-core G computers </a:t>
            </a:r>
          </a:p>
          <a:p>
            <a:pPr lvl="1"/>
            <a:r>
              <a:rPr lang="en-US" dirty="0"/>
              <a:t>will be supported at a distance by the core. Individual labs will designate a person to work with core G to install things.  Why is Core G meddling with lab computers?  Because they access a secure file system. This will take time to phase in.</a:t>
            </a:r>
          </a:p>
          <a:p>
            <a:r>
              <a:rPr lang="en-US" dirty="0"/>
              <a:t>Who to go to for analytic questions that are not directly related to Core G aims?  </a:t>
            </a:r>
          </a:p>
          <a:p>
            <a:pPr lvl="1"/>
            <a:r>
              <a:rPr lang="en-US" dirty="0"/>
              <a:t>Check with your PI</a:t>
            </a:r>
          </a:p>
          <a:p>
            <a:pPr lvl="1"/>
            <a:r>
              <a:rPr lang="en-US" dirty="0"/>
              <a:t>Knowledge base</a:t>
            </a:r>
          </a:p>
          <a:p>
            <a:pPr lvl="1"/>
            <a:r>
              <a:rPr lang="en-US" dirty="0"/>
              <a:t>A soon to be implemented searchable list-serve that we hope everyone will </a:t>
            </a:r>
            <a:r>
              <a:rPr lang="en-US"/>
              <a:t>contribute to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72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539</Words>
  <Application>Microsoft Macintosh PowerPoint</Application>
  <PresentationFormat>Widescreen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Publications—General Comments</vt:lpstr>
      <vt:lpstr>The formal aims of Core G in the new ADRC grant</vt:lpstr>
      <vt:lpstr>Core G:  A shift in scope to a more sustainable model</vt:lpstr>
      <vt:lpstr>A few changes in lab to core G interactions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Publication plan General points</dc:title>
  <dc:creator>STERLING C JOHNSON</dc:creator>
  <cp:lastModifiedBy>SCJ-from the MEZ</cp:lastModifiedBy>
  <cp:revision>10</cp:revision>
  <dcterms:created xsi:type="dcterms:W3CDTF">2019-01-26T14:05:46Z</dcterms:created>
  <dcterms:modified xsi:type="dcterms:W3CDTF">2019-03-25T18:37:19Z</dcterms:modified>
</cp:coreProperties>
</file>